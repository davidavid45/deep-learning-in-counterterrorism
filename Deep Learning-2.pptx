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Montserrat SemiBold"/>
      <p:regular r:id="rId32"/>
      <p:bold r:id="rId33"/>
      <p:italic r:id="rId34"/>
      <p:boldItalic r:id="rId35"/>
    </p:embeddedFont>
    <p:embeddedFont>
      <p:font typeface="Roboto"/>
      <p:regular r:id="rId36"/>
      <p:bold r:id="rId37"/>
      <p:italic r:id="rId38"/>
      <p:boldItalic r:id="rId39"/>
    </p:embeddedFont>
    <p:embeddedFont>
      <p:font typeface="Montserra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6.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font" Target="fonts/Montserrat-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MontserratSemiBold-bold.fntdata"/><Relationship Id="rId10" Type="http://schemas.openxmlformats.org/officeDocument/2006/relationships/slide" Target="slides/slide6.xml"/><Relationship Id="rId32" Type="http://schemas.openxmlformats.org/officeDocument/2006/relationships/font" Target="fonts/MontserratSemiBold-regular.fntdata"/><Relationship Id="rId13" Type="http://schemas.openxmlformats.org/officeDocument/2006/relationships/slide" Target="slides/slide9.xml"/><Relationship Id="rId35" Type="http://schemas.openxmlformats.org/officeDocument/2006/relationships/font" Target="fonts/MontserratSemiBold-boldItalic.fntdata"/><Relationship Id="rId12" Type="http://schemas.openxmlformats.org/officeDocument/2006/relationships/slide" Target="slides/slide8.xml"/><Relationship Id="rId34" Type="http://schemas.openxmlformats.org/officeDocument/2006/relationships/font" Target="fonts/MontserratSemiBold-italic.fntdata"/><Relationship Id="rId15" Type="http://schemas.openxmlformats.org/officeDocument/2006/relationships/slide" Target="slides/slide11.xml"/><Relationship Id="rId37" Type="http://schemas.openxmlformats.org/officeDocument/2006/relationships/font" Target="fonts/Roboto-bold.fntdata"/><Relationship Id="rId14" Type="http://schemas.openxmlformats.org/officeDocument/2006/relationships/slide" Target="slides/slide10.xml"/><Relationship Id="rId36" Type="http://schemas.openxmlformats.org/officeDocument/2006/relationships/font" Target="fonts/Roboto-regular.fntdata"/><Relationship Id="rId17" Type="http://schemas.openxmlformats.org/officeDocument/2006/relationships/slide" Target="slides/slide13.xml"/><Relationship Id="rId39" Type="http://schemas.openxmlformats.org/officeDocument/2006/relationships/font" Target="fonts/Roboto-boldItalic.fntdata"/><Relationship Id="rId16" Type="http://schemas.openxmlformats.org/officeDocument/2006/relationships/slide" Target="slides/slide12.xml"/><Relationship Id="rId38" Type="http://schemas.openxmlformats.org/officeDocument/2006/relationships/font" Target="fonts/Roboto-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900"/>
          </a:p>
          <a:p>
            <a:pPr indent="0" lvl="0" marL="0" rtl="0" algn="l">
              <a:lnSpc>
                <a:spcPct val="115000"/>
              </a:lnSpc>
              <a:spcBef>
                <a:spcPts val="1200"/>
              </a:spcBef>
              <a:spcAft>
                <a:spcPts val="1200"/>
              </a:spcAft>
              <a:buNone/>
            </a:pPr>
            <a:r>
              <a:t/>
            </a:r>
            <a:endParaRPr/>
          </a:p>
        </p:txBody>
      </p:sp>
      <p:sp>
        <p:nvSpPr>
          <p:cNvPr id="175" name="Google Shape;17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just">
              <a:lnSpc>
                <a:spcPct val="98181"/>
              </a:lnSpc>
              <a:spcBef>
                <a:spcPts val="0"/>
              </a:spcBef>
              <a:spcAft>
                <a:spcPts val="0"/>
              </a:spcAft>
              <a:buNone/>
            </a:pPr>
            <a:r>
              <a:rPr lang="en-US"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t/>
            </a:r>
            <a:endParaRPr/>
          </a:p>
        </p:txBody>
      </p:sp>
      <p:sp>
        <p:nvSpPr>
          <p:cNvPr id="198" name="Google Shape;1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cf20292dbf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cf20292dbf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g2cf20292dbf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cf20292dbf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cf20292dbf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g2cf20292dbf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cf20292dbf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cf20292dbf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2cf20292dbf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98181"/>
              </a:lnSpc>
              <a:spcBef>
                <a:spcPts val="0"/>
              </a:spcBef>
              <a:spcAft>
                <a:spcPts val="0"/>
              </a:spcAft>
              <a:buClr>
                <a:schemeClr val="dk1"/>
              </a:buClr>
              <a:buSzPts val="1100"/>
              <a:buFont typeface="Arial"/>
              <a:buNone/>
            </a:pPr>
            <a:r>
              <a:rPr lang="en-US" sz="900"/>
              <a:t>Here's a look at the dataset. when we used this dataset, we dropped the first four columns to ensure the models flexibility. This comprehensive view is crucial for accurate predictions.</a:t>
            </a:r>
            <a:endParaRPr sz="900"/>
          </a:p>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368" name="Google Shape;36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cf20292dbf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2cf20292dbf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375" name="Google Shape;375;g2cf20292dbf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cf20292dbf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g2cf20292dbf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381" name="Google Shape;381;g2cf20292dbf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cf20292dbf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g2cf20292dbf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387" name="Google Shape;387;g2cf20292dbf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cf20292dbf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cf20292dbf_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393" name="Google Shape;393;g2cf20292dbf_0_1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cf20292dbf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2cf20292dbf_0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399" name="Google Shape;399;g2cf20292dbf_0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9d2436ef81_3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404" name="Google Shape;404;g29d2436ef81_3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8181"/>
              </a:lnSpc>
              <a:spcBef>
                <a:spcPts val="400"/>
              </a:spcBef>
              <a:spcAft>
                <a:spcPts val="400"/>
              </a:spcAft>
              <a:buClr>
                <a:schemeClr val="dk1"/>
              </a:buClr>
              <a:buSzPts val="1100"/>
              <a:buFont typeface="Arial"/>
              <a:buNone/>
            </a:pPr>
            <a:r>
              <a:t/>
            </a:r>
            <a:endParaRPr/>
          </a:p>
        </p:txBody>
      </p:sp>
      <p:sp>
        <p:nvSpPr>
          <p:cNvPr id="489" name="Google Shape;4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cf20292dbf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2cf20292dbf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8181"/>
              </a:lnSpc>
              <a:spcBef>
                <a:spcPts val="400"/>
              </a:spcBef>
              <a:spcAft>
                <a:spcPts val="400"/>
              </a:spcAft>
              <a:buClr>
                <a:schemeClr val="dk1"/>
              </a:buClr>
              <a:buSzPts val="1100"/>
              <a:buFont typeface="Arial"/>
              <a:buNone/>
            </a:pPr>
            <a:r>
              <a:t/>
            </a:r>
            <a:endParaRPr/>
          </a:p>
        </p:txBody>
      </p:sp>
      <p:sp>
        <p:nvSpPr>
          <p:cNvPr id="506" name="Google Shape;506;g2cf20292dbf_0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9d9d22fb8e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g29d9d22fb8e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900"/>
              </a:spcBef>
              <a:spcAft>
                <a:spcPts val="0"/>
              </a:spcAft>
              <a:buClr>
                <a:schemeClr val="dk1"/>
              </a:buClr>
              <a:buSzPts val="1100"/>
              <a:buFont typeface="Arial"/>
              <a:buNone/>
            </a:pPr>
            <a:r>
              <a:rPr lang="en-US" sz="900">
                <a:latin typeface="Times New Roman"/>
                <a:ea typeface="Times New Roman"/>
                <a:cs typeface="Times New Roman"/>
                <a:sym typeface="Times New Roman"/>
              </a:rPr>
              <a:t>Next, the Random Forest Model exhibits an accuracy of 48.61% with a MAE of 0.86, signifying its accuracy in predictions. The model stands out for its sensitivity in identifying non-scorers and balancing class imbalances. The feature importance plot underscores 'goal_per_game' as the dominant predictor. This model's predictive power shines through in successfully identifying Mohamed Salah as the top scorer.</a:t>
            </a:r>
            <a:endParaRPr sz="900">
              <a:latin typeface="Times New Roman"/>
              <a:ea typeface="Times New Roman"/>
              <a:cs typeface="Times New Roman"/>
              <a:sym typeface="Times New Roman"/>
            </a:endParaRPr>
          </a:p>
          <a:p>
            <a:pPr indent="0" lvl="0" marL="0" rtl="0" algn="l">
              <a:spcBef>
                <a:spcPts val="900"/>
              </a:spcBef>
              <a:spcAft>
                <a:spcPts val="0"/>
              </a:spcAft>
              <a:buNone/>
            </a:pPr>
            <a:r>
              <a:t/>
            </a:r>
            <a:endParaRPr/>
          </a:p>
        </p:txBody>
      </p:sp>
      <p:sp>
        <p:nvSpPr>
          <p:cNvPr id="524" name="Google Shape;524;g29d9d22fb8e_2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9d2436ef81_3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g29d2436ef81_3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536" name="Google Shape;536;g29d2436ef81_3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2cf20292dbf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g2cf20292dbf_0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542" name="Google Shape;542;g2cf20292dbf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9d9d22fb8e_2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29d9d22fb8e_2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900"/>
              </a:spcBef>
              <a:spcAft>
                <a:spcPts val="0"/>
              </a:spcAft>
              <a:buClr>
                <a:schemeClr val="dk1"/>
              </a:buClr>
              <a:buSzPts val="1100"/>
              <a:buFont typeface="Arial"/>
              <a:buNone/>
            </a:pPr>
            <a:r>
              <a:rPr lang="en-US" sz="900">
                <a:latin typeface="Times New Roman"/>
                <a:ea typeface="Times New Roman"/>
                <a:cs typeface="Times New Roman"/>
                <a:sym typeface="Times New Roman"/>
              </a:rPr>
              <a:t>Our Boosting Model, a Gradient Boosting Machine, holds a solid ground with an accuracy of 55.75% and a MAE of 0.795, showing its ability to make close predictions. It's engineered with a nine hundred trees and depth of 5, finely tuned to pick out 'goal_per_game', 'shots' as important features. Notably, it spotlighted Mohamed Salah as the top goal scorer, which is a testament to the model's effectiveness.</a:t>
            </a:r>
            <a:endParaRPr sz="900">
              <a:latin typeface="Times New Roman"/>
              <a:ea typeface="Times New Roman"/>
              <a:cs typeface="Times New Roman"/>
              <a:sym typeface="Times New Roman"/>
            </a:endParaRPr>
          </a:p>
          <a:p>
            <a:pPr indent="0" lvl="0" marL="0" rtl="0" algn="just">
              <a:lnSpc>
                <a:spcPct val="98181"/>
              </a:lnSpc>
              <a:spcBef>
                <a:spcPts val="900"/>
              </a:spcBef>
              <a:spcAft>
                <a:spcPts val="0"/>
              </a:spcAft>
              <a:buNone/>
            </a:pPr>
            <a:r>
              <a:rPr lang="en-US" sz="900">
                <a:latin typeface="Arial"/>
                <a:ea typeface="Arial"/>
                <a:cs typeface="Arial"/>
                <a:sym typeface="Arial"/>
              </a:rPr>
              <a:t> </a:t>
            </a:r>
            <a:endParaRPr sz="1100">
              <a:latin typeface="Arial"/>
              <a:ea typeface="Arial"/>
              <a:cs typeface="Arial"/>
              <a:sym typeface="Arial"/>
            </a:endParaRPr>
          </a:p>
        </p:txBody>
      </p:sp>
      <p:sp>
        <p:nvSpPr>
          <p:cNvPr id="548" name="Google Shape;548;g29d9d22fb8e_2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cf20292dbf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g2cf20292dbf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900"/>
              </a:spcBef>
              <a:spcAft>
                <a:spcPts val="0"/>
              </a:spcAft>
              <a:buClr>
                <a:schemeClr val="dk1"/>
              </a:buClr>
              <a:buSzPts val="1100"/>
              <a:buFont typeface="Arial"/>
              <a:buNone/>
            </a:pPr>
            <a:r>
              <a:rPr lang="en-US" sz="900">
                <a:latin typeface="Times New Roman"/>
                <a:ea typeface="Times New Roman"/>
                <a:cs typeface="Times New Roman"/>
                <a:sym typeface="Times New Roman"/>
              </a:rPr>
              <a:t>Our Boosting Model, a Gradient Boosting Machine, holds a solid ground with an accuracy of 55.75% and a MAE of 0.795, showing its ability to make close predictions. It's engineered with a nine hundred trees and depth of 5, finely tuned to pick out 'goal_per_game', 'shots' as important features. Notably, it spotlighted Mohamed Salah as the top goal scorer, which is a testament to the model's effectiveness.</a:t>
            </a:r>
            <a:endParaRPr sz="900">
              <a:latin typeface="Times New Roman"/>
              <a:ea typeface="Times New Roman"/>
              <a:cs typeface="Times New Roman"/>
              <a:sym typeface="Times New Roman"/>
            </a:endParaRPr>
          </a:p>
          <a:p>
            <a:pPr indent="0" lvl="0" marL="0" rtl="0" algn="just">
              <a:lnSpc>
                <a:spcPct val="98181"/>
              </a:lnSpc>
              <a:spcBef>
                <a:spcPts val="900"/>
              </a:spcBef>
              <a:spcAft>
                <a:spcPts val="0"/>
              </a:spcAft>
              <a:buNone/>
            </a:pPr>
            <a:r>
              <a:rPr lang="en-US" sz="900">
                <a:latin typeface="Arial"/>
                <a:ea typeface="Arial"/>
                <a:cs typeface="Arial"/>
                <a:sym typeface="Arial"/>
              </a:rPr>
              <a:t> </a:t>
            </a:r>
            <a:endParaRPr sz="1100">
              <a:latin typeface="Arial"/>
              <a:ea typeface="Arial"/>
              <a:cs typeface="Arial"/>
              <a:sym typeface="Arial"/>
            </a:endParaRPr>
          </a:p>
        </p:txBody>
      </p:sp>
      <p:sp>
        <p:nvSpPr>
          <p:cNvPr id="555" name="Google Shape;555;g2cf20292dbf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cf20292dbf_0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2cf20292dbf_0_1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562" name="Google Shape;562;g2cf20292dbf_0_1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cf20292dbf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2cf20292dbf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8181"/>
              </a:lnSpc>
              <a:spcBef>
                <a:spcPts val="400"/>
              </a:spcBef>
              <a:spcAft>
                <a:spcPts val="400"/>
              </a:spcAft>
              <a:buClr>
                <a:schemeClr val="dk1"/>
              </a:buClr>
              <a:buSzPts val="1100"/>
              <a:buFont typeface="Arial"/>
              <a:buNone/>
            </a:pPr>
            <a:r>
              <a:t/>
            </a:r>
            <a:endParaRPr/>
          </a:p>
        </p:txBody>
      </p:sp>
      <p:sp>
        <p:nvSpPr>
          <p:cNvPr id="568" name="Google Shape;568;g2cf20292dbf_0_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cf20292dbf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2cf20292dbf_0_1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585" name="Google Shape;585;g2cf20292dbf_0_1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cf20292dbf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g2cf20292dbf_0_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98181"/>
              </a:lnSpc>
              <a:spcBef>
                <a:spcPts val="0"/>
              </a:spcBef>
              <a:spcAft>
                <a:spcPts val="0"/>
              </a:spcAft>
              <a:buClr>
                <a:schemeClr val="dk1"/>
              </a:buClr>
              <a:buSzPts val="1100"/>
              <a:buFont typeface="Arial"/>
              <a:buNone/>
            </a:pPr>
            <a:r>
              <a:rPr lang="en-US" sz="900">
                <a:latin typeface="Times New Roman"/>
                <a:ea typeface="Times New Roman"/>
                <a:cs typeface="Times New Roman"/>
                <a:sym typeface="Times New Roman"/>
              </a:rPr>
              <a:t>These scatter plots compare our models' predicted goals against actual goals. Model 1's plot shows potential, but Models 2 and 3 demonstrate greater accuracy, as seen in the close clustering around the best-fit line, with Salah's prediction being particularly accurate.</a:t>
            </a:r>
            <a:endParaRPr sz="900">
              <a:latin typeface="Times New Roman"/>
              <a:ea typeface="Times New Roman"/>
              <a:cs typeface="Times New Roman"/>
              <a:sym typeface="Times New Roman"/>
            </a:endParaRPr>
          </a:p>
          <a:p>
            <a:pPr indent="0" lvl="0" marL="0" rtl="0" algn="just">
              <a:lnSpc>
                <a:spcPct val="98181"/>
              </a:lnSpc>
              <a:spcBef>
                <a:spcPts val="0"/>
              </a:spcBef>
              <a:spcAft>
                <a:spcPts val="0"/>
              </a:spcAft>
              <a:buClr>
                <a:schemeClr val="dk1"/>
              </a:buClr>
              <a:buSzPts val="1100"/>
              <a:buFont typeface="Arial"/>
              <a:buNone/>
            </a:pPr>
            <a:r>
              <a:rPr lang="en-US" sz="900">
                <a:latin typeface="Arial"/>
                <a:ea typeface="Arial"/>
                <a:cs typeface="Arial"/>
                <a:sym typeface="Arial"/>
              </a:rPr>
              <a:t> </a:t>
            </a:r>
            <a:endParaRPr sz="900">
              <a:latin typeface="Arial"/>
              <a:ea typeface="Arial"/>
              <a:cs typeface="Arial"/>
              <a:sym typeface="Arial"/>
            </a:endParaRPr>
          </a:p>
          <a:p>
            <a:pPr indent="0" lvl="0" marL="0" rtl="0" algn="l">
              <a:spcBef>
                <a:spcPts val="900"/>
              </a:spcBef>
              <a:spcAft>
                <a:spcPts val="0"/>
              </a:spcAft>
              <a:buNone/>
            </a:pPr>
            <a:r>
              <a:t/>
            </a:r>
            <a:endParaRPr/>
          </a:p>
        </p:txBody>
      </p:sp>
      <p:sp>
        <p:nvSpPr>
          <p:cNvPr id="591" name="Google Shape;591;g2cf20292dbf_0_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9d9d22fb8e_2_2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75000"/>
              </a:lnSpc>
              <a:spcBef>
                <a:spcPts val="1500"/>
              </a:spcBef>
              <a:spcAft>
                <a:spcPts val="0"/>
              </a:spcAft>
              <a:buClr>
                <a:schemeClr val="dk1"/>
              </a:buClr>
              <a:buSzPts val="1100"/>
              <a:buFont typeface="Arial"/>
              <a:buNone/>
            </a:pPr>
            <a:r>
              <a:rPr lang="en-US" sz="1050">
                <a:latin typeface="Roboto"/>
                <a:ea typeface="Roboto"/>
                <a:cs typeface="Roboto"/>
                <a:sym typeface="Roboto"/>
              </a:rPr>
              <a:t>Here, we're discussing the limitations and future directions for football performance prediction models. Key challenges include data constraints, model bias, overfitting risks, and the dynamic nature of football. To improve, we must expand datasets, address biases, and adapt models for dynamic scenarios. Shifting focus to early-career potential, incorporating more data, and collaborating with sports scientists offer promising avenues. In conclusion, overcoming these challenges and adopting interdisciplinary approaches will enhance the accuracy and applicability of our models. Thank you."</a:t>
            </a:r>
            <a:endParaRPr sz="1050">
              <a:latin typeface="Roboto"/>
              <a:ea typeface="Roboto"/>
              <a:cs typeface="Roboto"/>
              <a:sym typeface="Roboto"/>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596" name="Google Shape;596;g29d9d22fb8e_2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9d9d22fb8e_3_1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we wrap up our presentation, we reflect on our key findings. The Boosting Model emerged as the leader in predictive accuracy, setting a benchmark for future analyses. This speaks to the potential of machine learning in transforming football strategy, with data-driven insights paving the way for smarter decision-making</a:t>
            </a:r>
            <a:endParaRPr/>
          </a:p>
          <a:p>
            <a:pPr indent="0" lvl="0" marL="0" rtl="0" algn="l">
              <a:spcBef>
                <a:spcPts val="0"/>
              </a:spcBef>
              <a:spcAft>
                <a:spcPts val="0"/>
              </a:spcAft>
              <a:buNone/>
            </a:pPr>
            <a:r>
              <a:rPr lang="en-US"/>
              <a:t>To stay ahead in the fast-evolving field of sports analytics, we must embrace new technologies and methodologies that can further enhance our predictive capabilities.</a:t>
            </a:r>
            <a:endParaRPr/>
          </a:p>
          <a:p>
            <a:pPr indent="0" lvl="0" marL="0" rtl="0" algn="l">
              <a:spcBef>
                <a:spcPts val="0"/>
              </a:spcBef>
              <a:spcAft>
                <a:spcPts val="0"/>
              </a:spcAft>
              <a:buNone/>
            </a:pPr>
            <a:r>
              <a:rPr lang="en-US"/>
              <a:t>We are at the cusp of a new era in sports analytics, where the integration of advanced models like the Boosting Model can lead to unprecedented success on the football field. Let's continue to push the boundaries and aim for the podium of analytical excellence in sports.</a:t>
            </a:r>
            <a:endParaRPr/>
          </a:p>
          <a:p>
            <a:pPr indent="0" lvl="0" marL="0" rtl="0" algn="l">
              <a:spcBef>
                <a:spcPts val="0"/>
              </a:spcBef>
              <a:spcAft>
                <a:spcPts val="0"/>
              </a:spcAft>
              <a:buNone/>
            </a:pPr>
            <a:r>
              <a:t/>
            </a:r>
            <a:endParaRPr/>
          </a:p>
        </p:txBody>
      </p:sp>
      <p:sp>
        <p:nvSpPr>
          <p:cNvPr id="604" name="Google Shape;604;g29d9d22fb8e_3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5" name="Shape 15"/>
        <p:cNvGrpSpPr/>
        <p:nvPr/>
      </p:nvGrpSpPr>
      <p:grpSpPr>
        <a:xfrm>
          <a:off x="0" y="0"/>
          <a:ext cx="0" cy="0"/>
          <a:chOff x="0" y="0"/>
          <a:chExt cx="0" cy="0"/>
        </a:xfrm>
      </p:grpSpPr>
      <p:sp>
        <p:nvSpPr>
          <p:cNvPr id="16" name="Google Shape;16;p2"/>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2"/>
          <p:cNvSpPr txBox="1"/>
          <p:nvPr>
            <p:ph type="ctrTitle"/>
          </p:nvPr>
        </p:nvSpPr>
        <p:spPr>
          <a:xfrm>
            <a:off x="638670" y="961118"/>
            <a:ext cx="10452117" cy="216431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6600"/>
              <a:buFont typeface="Montserrat SemiBold"/>
              <a:buNone/>
              <a:defRPr b="0" i="0" sz="6600">
                <a:solidFill>
                  <a:schemeClr val="lt1"/>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bg>
      <p:bgPr>
        <a:solidFill>
          <a:srgbClr val="F2F2F2"/>
        </a:solidFill>
      </p:bgPr>
    </p:bg>
    <p:spTree>
      <p:nvGrpSpPr>
        <p:cNvPr id="18"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빈 화면">
  <p:cSld name="1_빈 화면">
    <p:bg>
      <p:bgPr>
        <a:solidFill>
          <a:srgbClr val="E0E5FD"/>
        </a:solidFill>
      </p:bgPr>
    </p:bg>
    <p:spTree>
      <p:nvGrpSpPr>
        <p:cNvPr id="19" name="Shape 19"/>
        <p:cNvGrpSpPr/>
        <p:nvPr/>
      </p:nvGrpSpPr>
      <p:grpSpPr>
        <a:xfrm>
          <a:off x="0" y="0"/>
          <a:ext cx="0" cy="0"/>
          <a:chOff x="0" y="0"/>
          <a:chExt cx="0" cy="0"/>
        </a:xfrm>
      </p:grpSpPr>
      <p:sp>
        <p:nvSpPr>
          <p:cNvPr id="20" name="Google Shape;20;p4"/>
          <p:cNvSpPr txBox="1"/>
          <p:nvPr>
            <p:ph type="ctrTitle"/>
          </p:nvPr>
        </p:nvSpPr>
        <p:spPr>
          <a:xfrm>
            <a:off x="7712316" y="2153333"/>
            <a:ext cx="4194761" cy="1864501"/>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dk1"/>
              </a:buClr>
              <a:buSzPts val="5400"/>
              <a:buFont typeface="Montserrat SemiBold"/>
              <a:buNone/>
              <a:defRPr b="0" i="0" sz="5400">
                <a:solidFill>
                  <a:schemeClr val="dk1"/>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49803"/>
          </a:schemeClr>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ontserrat SemiBold"/>
              <a:buNone/>
              <a:defRPr b="0" i="0" sz="4400" u="none" cap="none" strike="noStrike">
                <a:solidFill>
                  <a:schemeClr val="dk1"/>
                </a:solidFill>
                <a:latin typeface="Montserrat SemiBold"/>
                <a:ea typeface="Montserrat SemiBold"/>
                <a:cs typeface="Montserrat SemiBold"/>
                <a:sym typeface="Montserrat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grpSp>
        <p:nvGrpSpPr>
          <p:cNvPr id="25" name="Google Shape;25;p5"/>
          <p:cNvGrpSpPr/>
          <p:nvPr/>
        </p:nvGrpSpPr>
        <p:grpSpPr>
          <a:xfrm>
            <a:off x="8789844" y="1984723"/>
            <a:ext cx="2113833" cy="799274"/>
            <a:chOff x="2275343" y="2357621"/>
            <a:chExt cx="1716280" cy="648952"/>
          </a:xfrm>
        </p:grpSpPr>
        <p:sp>
          <p:nvSpPr>
            <p:cNvPr id="26" name="Google Shape;26;p5"/>
            <p:cNvSpPr/>
            <p:nvPr/>
          </p:nvSpPr>
          <p:spPr>
            <a:xfrm>
              <a:off x="3832086" y="2847036"/>
              <a:ext cx="159537" cy="15953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5"/>
            <p:cNvSpPr/>
            <p:nvPr/>
          </p:nvSpPr>
          <p:spPr>
            <a:xfrm>
              <a:off x="3180468" y="2562741"/>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5"/>
            <p:cNvSpPr/>
            <p:nvPr/>
          </p:nvSpPr>
          <p:spPr>
            <a:xfrm>
              <a:off x="3271631" y="2562741"/>
              <a:ext cx="35815"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5"/>
            <p:cNvSpPr/>
            <p:nvPr/>
          </p:nvSpPr>
          <p:spPr>
            <a:xfrm>
              <a:off x="3359540" y="2562741"/>
              <a:ext cx="35815"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5"/>
            <p:cNvSpPr/>
            <p:nvPr/>
          </p:nvSpPr>
          <p:spPr>
            <a:xfrm>
              <a:off x="3180468" y="2494367"/>
              <a:ext cx="35815"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5"/>
            <p:cNvSpPr/>
            <p:nvPr/>
          </p:nvSpPr>
          <p:spPr>
            <a:xfrm>
              <a:off x="3268377" y="2494367"/>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5"/>
            <p:cNvSpPr/>
            <p:nvPr/>
          </p:nvSpPr>
          <p:spPr>
            <a:xfrm>
              <a:off x="2275343" y="2530182"/>
              <a:ext cx="159537" cy="15953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5"/>
            <p:cNvSpPr/>
            <p:nvPr/>
          </p:nvSpPr>
          <p:spPr>
            <a:xfrm>
              <a:off x="2753953" y="2562740"/>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5"/>
            <p:cNvSpPr/>
            <p:nvPr/>
          </p:nvSpPr>
          <p:spPr>
            <a:xfrm>
              <a:off x="2845117" y="2562740"/>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5"/>
            <p:cNvSpPr/>
            <p:nvPr/>
          </p:nvSpPr>
          <p:spPr>
            <a:xfrm>
              <a:off x="2933023" y="2562740"/>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5"/>
            <p:cNvSpPr/>
            <p:nvPr/>
          </p:nvSpPr>
          <p:spPr>
            <a:xfrm>
              <a:off x="2666044" y="2494367"/>
              <a:ext cx="35815"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5"/>
            <p:cNvSpPr/>
            <p:nvPr/>
          </p:nvSpPr>
          <p:spPr>
            <a:xfrm>
              <a:off x="2753953" y="2494367"/>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5"/>
            <p:cNvSpPr/>
            <p:nvPr/>
          </p:nvSpPr>
          <p:spPr>
            <a:xfrm>
              <a:off x="2845117" y="2494367"/>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5"/>
            <p:cNvSpPr/>
            <p:nvPr/>
          </p:nvSpPr>
          <p:spPr>
            <a:xfrm>
              <a:off x="3089304" y="2494367"/>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5"/>
            <p:cNvSpPr/>
            <p:nvPr/>
          </p:nvSpPr>
          <p:spPr>
            <a:xfrm>
              <a:off x="2666044" y="2425995"/>
              <a:ext cx="35815"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5"/>
            <p:cNvSpPr/>
            <p:nvPr/>
          </p:nvSpPr>
          <p:spPr>
            <a:xfrm>
              <a:off x="2753953" y="2425995"/>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5"/>
            <p:cNvSpPr/>
            <p:nvPr/>
          </p:nvSpPr>
          <p:spPr>
            <a:xfrm>
              <a:off x="2845117" y="2425995"/>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5"/>
            <p:cNvSpPr/>
            <p:nvPr/>
          </p:nvSpPr>
          <p:spPr>
            <a:xfrm>
              <a:off x="2933023" y="2425995"/>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5"/>
            <p:cNvSpPr/>
            <p:nvPr/>
          </p:nvSpPr>
          <p:spPr>
            <a:xfrm>
              <a:off x="3024187" y="2425995"/>
              <a:ext cx="35815"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5"/>
            <p:cNvSpPr/>
            <p:nvPr/>
          </p:nvSpPr>
          <p:spPr>
            <a:xfrm>
              <a:off x="2666044" y="2357621"/>
              <a:ext cx="35815"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5"/>
            <p:cNvSpPr/>
            <p:nvPr/>
          </p:nvSpPr>
          <p:spPr>
            <a:xfrm>
              <a:off x="2753953" y="2357621"/>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5"/>
            <p:cNvSpPr/>
            <p:nvPr/>
          </p:nvSpPr>
          <p:spPr>
            <a:xfrm>
              <a:off x="2933023" y="2357621"/>
              <a:ext cx="39070" cy="3257"/>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 name="Google Shape;48;p5"/>
          <p:cNvGrpSpPr/>
          <p:nvPr/>
        </p:nvGrpSpPr>
        <p:grpSpPr>
          <a:xfrm>
            <a:off x="6211997" y="5094351"/>
            <a:ext cx="2286957" cy="882688"/>
            <a:chOff x="4818159" y="5750211"/>
            <a:chExt cx="1855831" cy="716288"/>
          </a:xfrm>
        </p:grpSpPr>
        <p:sp>
          <p:nvSpPr>
            <p:cNvPr id="49" name="Google Shape;49;p5"/>
            <p:cNvSpPr/>
            <p:nvPr/>
          </p:nvSpPr>
          <p:spPr>
            <a:xfrm>
              <a:off x="5957704" y="6124634"/>
              <a:ext cx="81397" cy="81397"/>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5"/>
            <p:cNvSpPr/>
            <p:nvPr/>
          </p:nvSpPr>
          <p:spPr>
            <a:xfrm>
              <a:off x="6153055" y="6365567"/>
              <a:ext cx="81397" cy="81397"/>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5"/>
            <p:cNvSpPr/>
            <p:nvPr/>
          </p:nvSpPr>
          <p:spPr>
            <a:xfrm>
              <a:off x="6299567" y="6365567"/>
              <a:ext cx="81397" cy="81397"/>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5"/>
            <p:cNvSpPr/>
            <p:nvPr/>
          </p:nvSpPr>
          <p:spPr>
            <a:xfrm>
              <a:off x="6420034" y="6043237"/>
              <a:ext cx="81397" cy="81397"/>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5"/>
            <p:cNvSpPr/>
            <p:nvPr/>
          </p:nvSpPr>
          <p:spPr>
            <a:xfrm>
              <a:off x="6507941" y="6127889"/>
              <a:ext cx="81397" cy="81397"/>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5"/>
            <p:cNvSpPr/>
            <p:nvPr/>
          </p:nvSpPr>
          <p:spPr>
            <a:xfrm>
              <a:off x="6504686" y="5750211"/>
              <a:ext cx="81397" cy="81397"/>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5"/>
            <p:cNvSpPr/>
            <p:nvPr/>
          </p:nvSpPr>
          <p:spPr>
            <a:xfrm>
              <a:off x="6592593" y="5834863"/>
              <a:ext cx="81397" cy="81397"/>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6" name="Google Shape;56;p5"/>
            <p:cNvGrpSpPr/>
            <p:nvPr/>
          </p:nvGrpSpPr>
          <p:grpSpPr>
            <a:xfrm>
              <a:off x="4818159" y="5773003"/>
              <a:ext cx="1129779" cy="693496"/>
              <a:chOff x="4818159" y="5773003"/>
              <a:chExt cx="1129779" cy="693496"/>
            </a:xfrm>
          </p:grpSpPr>
          <p:sp>
            <p:nvSpPr>
              <p:cNvPr id="57" name="Google Shape;57;p5"/>
              <p:cNvSpPr/>
              <p:nvPr/>
            </p:nvSpPr>
            <p:spPr>
              <a:xfrm>
                <a:off x="5866541" y="6209286"/>
                <a:ext cx="81397" cy="84652"/>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5"/>
              <p:cNvSpPr/>
              <p:nvPr/>
            </p:nvSpPr>
            <p:spPr>
              <a:xfrm>
                <a:off x="5638632" y="5812073"/>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5"/>
              <p:cNvSpPr/>
              <p:nvPr/>
            </p:nvSpPr>
            <p:spPr>
              <a:xfrm>
                <a:off x="5540956" y="5926027"/>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5"/>
              <p:cNvSpPr/>
              <p:nvPr/>
            </p:nvSpPr>
            <p:spPr>
              <a:xfrm>
                <a:off x="5453047" y="6010679"/>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5"/>
              <p:cNvSpPr/>
              <p:nvPr/>
            </p:nvSpPr>
            <p:spPr>
              <a:xfrm>
                <a:off x="5257697" y="5773003"/>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5"/>
              <p:cNvSpPr/>
              <p:nvPr/>
            </p:nvSpPr>
            <p:spPr>
              <a:xfrm>
                <a:off x="5111185" y="5773003"/>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5"/>
              <p:cNvSpPr/>
              <p:nvPr/>
            </p:nvSpPr>
            <p:spPr>
              <a:xfrm>
                <a:off x="4990717" y="6092076"/>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5"/>
              <p:cNvSpPr/>
              <p:nvPr/>
            </p:nvSpPr>
            <p:spPr>
              <a:xfrm>
                <a:off x="5772120" y="6323240"/>
                <a:ext cx="81397" cy="84652"/>
              </a:xfrm>
              <a:prstGeom prst="rect">
                <a:avLst/>
              </a:prstGeom>
              <a:solidFill>
                <a:srgbClr val="2E4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5"/>
              <p:cNvSpPr/>
              <p:nvPr/>
            </p:nvSpPr>
            <p:spPr>
              <a:xfrm>
                <a:off x="4902811" y="6007424"/>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5"/>
              <p:cNvSpPr/>
              <p:nvPr/>
            </p:nvSpPr>
            <p:spPr>
              <a:xfrm>
                <a:off x="4906065" y="6385102"/>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5"/>
              <p:cNvSpPr/>
              <p:nvPr/>
            </p:nvSpPr>
            <p:spPr>
              <a:xfrm>
                <a:off x="4818159" y="6300450"/>
                <a:ext cx="81397" cy="81397"/>
              </a:xfrm>
              <a:prstGeom prst="rect">
                <a:avLst/>
              </a:prstGeom>
              <a:solidFill>
                <a:srgbClr val="94ACD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68" name="Google Shape;68;p5"/>
          <p:cNvSpPr txBox="1"/>
          <p:nvPr>
            <p:ph type="ctrTitle"/>
          </p:nvPr>
        </p:nvSpPr>
        <p:spPr>
          <a:xfrm>
            <a:off x="156925" y="278100"/>
            <a:ext cx="11860800" cy="2164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5940"/>
              <a:buFont typeface="Montserrat SemiBold"/>
              <a:buNone/>
            </a:pPr>
            <a:r>
              <a:rPr lang="en-US" sz="5300">
                <a:solidFill>
                  <a:srgbClr val="ECECEC"/>
                </a:solidFill>
                <a:latin typeface="Calibri"/>
                <a:ea typeface="Calibri"/>
                <a:cs typeface="Calibri"/>
                <a:sym typeface="Calibri"/>
              </a:rPr>
              <a:t>Predicting The Unpredictable</a:t>
            </a:r>
            <a:endParaRPr sz="5300">
              <a:solidFill>
                <a:srgbClr val="F2F2F2"/>
              </a:solidFill>
              <a:latin typeface="Calibri"/>
              <a:ea typeface="Calibri"/>
              <a:cs typeface="Calibri"/>
              <a:sym typeface="Calibri"/>
            </a:endParaRPr>
          </a:p>
          <a:p>
            <a:pPr indent="-567690" lvl="0" marL="457200" rtl="0" algn="ctr">
              <a:spcBef>
                <a:spcPts val="0"/>
              </a:spcBef>
              <a:spcAft>
                <a:spcPts val="0"/>
              </a:spcAft>
              <a:buClr>
                <a:srgbClr val="F2F2F2"/>
              </a:buClr>
              <a:buSzPts val="5340"/>
              <a:buFont typeface="Calibri"/>
              <a:buChar char="-"/>
            </a:pPr>
            <a:r>
              <a:rPr lang="en-US" sz="3740">
                <a:solidFill>
                  <a:srgbClr val="F2F2F2"/>
                </a:solidFill>
                <a:latin typeface="Calibri"/>
                <a:ea typeface="Calibri"/>
                <a:cs typeface="Calibri"/>
                <a:sym typeface="Calibri"/>
              </a:rPr>
              <a:t>L</a:t>
            </a:r>
            <a:r>
              <a:rPr lang="en-US" sz="3700">
                <a:solidFill>
                  <a:srgbClr val="ECECEC"/>
                </a:solidFill>
                <a:latin typeface="Calibri"/>
                <a:ea typeface="Calibri"/>
                <a:cs typeface="Calibri"/>
                <a:sym typeface="Calibri"/>
              </a:rPr>
              <a:t>everaging Deep Learning for Terrorism Trend Analysis</a:t>
            </a:r>
            <a:r>
              <a:rPr lang="en-US" sz="5300">
                <a:solidFill>
                  <a:srgbClr val="F2F2F2"/>
                </a:solidFill>
                <a:latin typeface="Calibri"/>
                <a:ea typeface="Calibri"/>
                <a:cs typeface="Calibri"/>
                <a:sym typeface="Calibri"/>
              </a:rPr>
              <a:t> </a:t>
            </a:r>
            <a:r>
              <a:rPr lang="en-US" sz="5340">
                <a:solidFill>
                  <a:srgbClr val="F2F2F2"/>
                </a:solidFill>
                <a:latin typeface="Calibri"/>
                <a:ea typeface="Calibri"/>
                <a:cs typeface="Calibri"/>
                <a:sym typeface="Calibri"/>
              </a:rPr>
              <a:t>-</a:t>
            </a:r>
            <a:endParaRPr sz="5340">
              <a:solidFill>
                <a:srgbClr val="F2F2F2"/>
              </a:solidFill>
              <a:latin typeface="Calibri"/>
              <a:ea typeface="Calibri"/>
              <a:cs typeface="Calibri"/>
              <a:sym typeface="Calibri"/>
            </a:endParaRPr>
          </a:p>
        </p:txBody>
      </p:sp>
      <p:grpSp>
        <p:nvGrpSpPr>
          <p:cNvPr id="69" name="Google Shape;69;p5"/>
          <p:cNvGrpSpPr/>
          <p:nvPr/>
        </p:nvGrpSpPr>
        <p:grpSpPr>
          <a:xfrm>
            <a:off x="4389475" y="2479544"/>
            <a:ext cx="2485401" cy="3986252"/>
            <a:chOff x="4529665" y="2383233"/>
            <a:chExt cx="2485401" cy="3986252"/>
          </a:xfrm>
        </p:grpSpPr>
        <p:sp>
          <p:nvSpPr>
            <p:cNvPr id="70" name="Google Shape;70;p5"/>
            <p:cNvSpPr/>
            <p:nvPr/>
          </p:nvSpPr>
          <p:spPr>
            <a:xfrm>
              <a:off x="5370139" y="5677093"/>
              <a:ext cx="808456" cy="692392"/>
            </a:xfrm>
            <a:custGeom>
              <a:rect b="b" l="l" r="r" t="t"/>
              <a:pathLst>
                <a:path extrusionOk="0" h="436" w="509">
                  <a:moveTo>
                    <a:pt x="0" y="218"/>
                  </a:moveTo>
                  <a:cubicBezTo>
                    <a:pt x="0" y="97"/>
                    <a:pt x="98" y="0"/>
                    <a:pt x="218" y="0"/>
                  </a:cubicBezTo>
                  <a:lnTo>
                    <a:pt x="290" y="0"/>
                  </a:lnTo>
                  <a:cubicBezTo>
                    <a:pt x="411" y="0"/>
                    <a:pt x="509" y="97"/>
                    <a:pt x="509" y="218"/>
                  </a:cubicBezTo>
                  <a:cubicBezTo>
                    <a:pt x="509" y="338"/>
                    <a:pt x="411" y="436"/>
                    <a:pt x="290" y="436"/>
                  </a:cubicBezTo>
                  <a:lnTo>
                    <a:pt x="218" y="436"/>
                  </a:lnTo>
                  <a:cubicBezTo>
                    <a:pt x="98" y="436"/>
                    <a:pt x="0" y="338"/>
                    <a:pt x="0" y="218"/>
                  </a:cubicBezTo>
                  <a:close/>
                </a:path>
              </a:pathLst>
            </a:custGeom>
            <a:solidFill>
              <a:srgbClr val="1F295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5"/>
            <p:cNvSpPr/>
            <p:nvPr/>
          </p:nvSpPr>
          <p:spPr>
            <a:xfrm>
              <a:off x="5586261" y="4112208"/>
              <a:ext cx="356202" cy="216122"/>
            </a:xfrm>
            <a:custGeom>
              <a:rect b="b" l="l" r="r" t="t"/>
              <a:pathLst>
                <a:path extrusionOk="0" h="54" w="89">
                  <a:moveTo>
                    <a:pt x="0" y="54"/>
                  </a:moveTo>
                  <a:lnTo>
                    <a:pt x="89" y="54"/>
                  </a:lnTo>
                  <a:lnTo>
                    <a:pt x="78" y="0"/>
                  </a:lnTo>
                  <a:lnTo>
                    <a:pt x="13" y="0"/>
                  </a:lnTo>
                  <a:lnTo>
                    <a:pt x="0" y="54"/>
                  </a:lnTo>
                  <a:close/>
                </a:path>
              </a:pathLst>
            </a:cu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5"/>
            <p:cNvSpPr/>
            <p:nvPr/>
          </p:nvSpPr>
          <p:spPr>
            <a:xfrm>
              <a:off x="5598267" y="4196257"/>
              <a:ext cx="332189" cy="44026"/>
            </a:xfrm>
            <a:custGeom>
              <a:rect b="b" l="l" r="r" t="t"/>
              <a:pathLst>
                <a:path extrusionOk="0" h="30" w="208">
                  <a:moveTo>
                    <a:pt x="0" y="15"/>
                  </a:moveTo>
                  <a:cubicBezTo>
                    <a:pt x="0" y="7"/>
                    <a:pt x="7" y="0"/>
                    <a:pt x="15" y="0"/>
                  </a:cubicBezTo>
                  <a:lnTo>
                    <a:pt x="193" y="0"/>
                  </a:lnTo>
                  <a:cubicBezTo>
                    <a:pt x="202" y="0"/>
                    <a:pt x="208" y="7"/>
                    <a:pt x="208" y="15"/>
                  </a:cubicBezTo>
                  <a:cubicBezTo>
                    <a:pt x="208" y="23"/>
                    <a:pt x="202" y="30"/>
                    <a:pt x="193" y="30"/>
                  </a:cubicBezTo>
                  <a:lnTo>
                    <a:pt x="15" y="30"/>
                  </a:lnTo>
                  <a:cubicBezTo>
                    <a:pt x="7" y="30"/>
                    <a:pt x="0" y="23"/>
                    <a:pt x="0" y="15"/>
                  </a:cubicBez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5"/>
            <p:cNvSpPr/>
            <p:nvPr/>
          </p:nvSpPr>
          <p:spPr>
            <a:xfrm>
              <a:off x="4981919" y="4272299"/>
              <a:ext cx="1596902" cy="1845042"/>
            </a:xfrm>
            <a:custGeom>
              <a:rect b="b" l="l" r="r" t="t"/>
              <a:pathLst>
                <a:path extrusionOk="0" h="1163" w="1007">
                  <a:moveTo>
                    <a:pt x="750" y="18"/>
                  </a:moveTo>
                  <a:cubicBezTo>
                    <a:pt x="893" y="23"/>
                    <a:pt x="1007" y="142"/>
                    <a:pt x="1005" y="285"/>
                  </a:cubicBezTo>
                  <a:cubicBezTo>
                    <a:pt x="1004" y="419"/>
                    <a:pt x="1002" y="585"/>
                    <a:pt x="1001" y="737"/>
                  </a:cubicBezTo>
                  <a:cubicBezTo>
                    <a:pt x="1000" y="851"/>
                    <a:pt x="953" y="960"/>
                    <a:pt x="872" y="1039"/>
                  </a:cubicBezTo>
                  <a:cubicBezTo>
                    <a:pt x="790" y="1119"/>
                    <a:pt x="680" y="1163"/>
                    <a:pt x="566" y="1161"/>
                  </a:cubicBezTo>
                  <a:cubicBezTo>
                    <a:pt x="510" y="1160"/>
                    <a:pt x="453" y="1159"/>
                    <a:pt x="397" y="1158"/>
                  </a:cubicBezTo>
                  <a:cubicBezTo>
                    <a:pt x="290" y="1157"/>
                    <a:pt x="188" y="1112"/>
                    <a:pt x="114" y="1035"/>
                  </a:cubicBezTo>
                  <a:cubicBezTo>
                    <a:pt x="40" y="958"/>
                    <a:pt x="0" y="854"/>
                    <a:pt x="3" y="747"/>
                  </a:cubicBezTo>
                  <a:cubicBezTo>
                    <a:pt x="7" y="587"/>
                    <a:pt x="11" y="407"/>
                    <a:pt x="15" y="263"/>
                  </a:cubicBezTo>
                  <a:cubicBezTo>
                    <a:pt x="17" y="192"/>
                    <a:pt x="47" y="124"/>
                    <a:pt x="99" y="75"/>
                  </a:cubicBezTo>
                  <a:cubicBezTo>
                    <a:pt x="151" y="26"/>
                    <a:pt x="220" y="0"/>
                    <a:pt x="291" y="3"/>
                  </a:cubicBezTo>
                  <a:cubicBezTo>
                    <a:pt x="434" y="8"/>
                    <a:pt x="609" y="14"/>
                    <a:pt x="750"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5"/>
            <p:cNvSpPr/>
            <p:nvPr/>
          </p:nvSpPr>
          <p:spPr>
            <a:xfrm>
              <a:off x="5530230" y="4300316"/>
              <a:ext cx="1048592" cy="1817025"/>
            </a:xfrm>
            <a:custGeom>
              <a:rect b="b" l="l" r="r" t="t"/>
              <a:pathLst>
                <a:path extrusionOk="0" h="1146" w="662">
                  <a:moveTo>
                    <a:pt x="378" y="0"/>
                  </a:moveTo>
                  <a:lnTo>
                    <a:pt x="408" y="2"/>
                  </a:lnTo>
                  <a:cubicBezTo>
                    <a:pt x="550" y="6"/>
                    <a:pt x="662" y="123"/>
                    <a:pt x="660" y="265"/>
                  </a:cubicBezTo>
                  <a:cubicBezTo>
                    <a:pt x="659" y="400"/>
                    <a:pt x="657" y="570"/>
                    <a:pt x="656" y="725"/>
                  </a:cubicBezTo>
                  <a:cubicBezTo>
                    <a:pt x="655" y="838"/>
                    <a:pt x="609" y="945"/>
                    <a:pt x="528" y="1024"/>
                  </a:cubicBezTo>
                  <a:cubicBezTo>
                    <a:pt x="448" y="1102"/>
                    <a:pt x="339" y="1146"/>
                    <a:pt x="226" y="1144"/>
                  </a:cubicBezTo>
                  <a:cubicBezTo>
                    <a:pt x="167" y="1143"/>
                    <a:pt x="106" y="1142"/>
                    <a:pt x="47" y="1141"/>
                  </a:cubicBezTo>
                  <a:cubicBezTo>
                    <a:pt x="31" y="1141"/>
                    <a:pt x="15" y="1140"/>
                    <a:pt x="0" y="1138"/>
                  </a:cubicBezTo>
                  <a:lnTo>
                    <a:pt x="166" y="1140"/>
                  </a:lnTo>
                  <a:cubicBezTo>
                    <a:pt x="279" y="1142"/>
                    <a:pt x="387" y="1099"/>
                    <a:pt x="468" y="1020"/>
                  </a:cubicBezTo>
                  <a:cubicBezTo>
                    <a:pt x="549" y="941"/>
                    <a:pt x="595" y="834"/>
                    <a:pt x="596" y="721"/>
                  </a:cubicBezTo>
                  <a:cubicBezTo>
                    <a:pt x="597" y="567"/>
                    <a:pt x="599" y="397"/>
                    <a:pt x="600" y="261"/>
                  </a:cubicBezTo>
                  <a:cubicBezTo>
                    <a:pt x="601" y="130"/>
                    <a:pt x="505" y="19"/>
                    <a:pt x="378" y="0"/>
                  </a:cubicBezTo>
                </a:path>
              </a:pathLst>
            </a:custGeom>
            <a:solidFill>
              <a:srgbClr val="E4E4E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5"/>
            <p:cNvSpPr/>
            <p:nvPr/>
          </p:nvSpPr>
          <p:spPr>
            <a:xfrm>
              <a:off x="6542800" y="4560461"/>
              <a:ext cx="412234" cy="1128637"/>
            </a:xfrm>
            <a:custGeom>
              <a:rect b="b" l="l" r="r" t="t"/>
              <a:pathLst>
                <a:path extrusionOk="0" h="282" w="103">
                  <a:moveTo>
                    <a:pt x="0" y="0"/>
                  </a:moveTo>
                  <a:lnTo>
                    <a:pt x="40" y="28"/>
                  </a:lnTo>
                  <a:lnTo>
                    <a:pt x="82" y="128"/>
                  </a:lnTo>
                  <a:lnTo>
                    <a:pt x="103" y="282"/>
                  </a:lnTo>
                  <a:lnTo>
                    <a:pt x="67" y="282"/>
                  </a:lnTo>
                  <a:lnTo>
                    <a:pt x="50" y="152"/>
                  </a:lnTo>
                  <a:lnTo>
                    <a:pt x="0" y="1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5"/>
            <p:cNvSpPr/>
            <p:nvPr/>
          </p:nvSpPr>
          <p:spPr>
            <a:xfrm>
              <a:off x="4573689" y="4476415"/>
              <a:ext cx="504285" cy="1128637"/>
            </a:xfrm>
            <a:custGeom>
              <a:rect b="b" l="l" r="r" t="t"/>
              <a:pathLst>
                <a:path extrusionOk="0" h="712" w="318">
                  <a:moveTo>
                    <a:pt x="310" y="0"/>
                  </a:moveTo>
                  <a:lnTo>
                    <a:pt x="217" y="49"/>
                  </a:lnTo>
                  <a:cubicBezTo>
                    <a:pt x="138" y="121"/>
                    <a:pt x="63" y="207"/>
                    <a:pt x="16" y="285"/>
                  </a:cubicBezTo>
                  <a:cubicBezTo>
                    <a:pt x="0" y="430"/>
                    <a:pt x="15" y="568"/>
                    <a:pt x="51" y="712"/>
                  </a:cubicBezTo>
                  <a:lnTo>
                    <a:pt x="141" y="681"/>
                  </a:lnTo>
                  <a:cubicBezTo>
                    <a:pt x="116" y="565"/>
                    <a:pt x="98" y="448"/>
                    <a:pt x="85" y="332"/>
                  </a:cubicBezTo>
                  <a:lnTo>
                    <a:pt x="318" y="55"/>
                  </a:lnTo>
                  <a:lnTo>
                    <a:pt x="31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5"/>
            <p:cNvSpPr/>
            <p:nvPr/>
          </p:nvSpPr>
          <p:spPr>
            <a:xfrm>
              <a:off x="6426736" y="4544452"/>
              <a:ext cx="308175" cy="308175"/>
            </a:xfrm>
            <a:prstGeom prst="ellipse">
              <a:avLst/>
            </a:prstGeom>
            <a:solidFill>
              <a:srgbClr val="1F295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4873859" y="4460406"/>
              <a:ext cx="312176" cy="308175"/>
            </a:xfrm>
            <a:prstGeom prst="ellipse">
              <a:avLst/>
            </a:prstGeom>
            <a:solidFill>
              <a:srgbClr val="1F295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5"/>
            <p:cNvSpPr/>
            <p:nvPr/>
          </p:nvSpPr>
          <p:spPr>
            <a:xfrm>
              <a:off x="6694886" y="5044736"/>
              <a:ext cx="268153" cy="272154"/>
            </a:xfrm>
            <a:prstGeom prst="ellipse">
              <a:avLst/>
            </a:prstGeom>
            <a:solidFill>
              <a:srgbClr val="1E28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5"/>
            <p:cNvSpPr/>
            <p:nvPr/>
          </p:nvSpPr>
          <p:spPr>
            <a:xfrm>
              <a:off x="4529665" y="4856628"/>
              <a:ext cx="272154" cy="272154"/>
            </a:xfrm>
            <a:prstGeom prst="ellipse">
              <a:avLst/>
            </a:prstGeom>
            <a:solidFill>
              <a:srgbClr val="1E28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p:nvPr/>
          </p:nvSpPr>
          <p:spPr>
            <a:xfrm>
              <a:off x="6702890" y="5581038"/>
              <a:ext cx="312176" cy="308175"/>
            </a:xfrm>
            <a:custGeom>
              <a:rect b="b" l="l" r="r" t="t"/>
              <a:pathLst>
                <a:path extrusionOk="0" h="193" w="196">
                  <a:moveTo>
                    <a:pt x="124" y="193"/>
                  </a:moveTo>
                  <a:cubicBezTo>
                    <a:pt x="165" y="182"/>
                    <a:pt x="196" y="144"/>
                    <a:pt x="196" y="99"/>
                  </a:cubicBezTo>
                  <a:cubicBezTo>
                    <a:pt x="196" y="44"/>
                    <a:pt x="152" y="0"/>
                    <a:pt x="98" y="0"/>
                  </a:cubicBezTo>
                  <a:cubicBezTo>
                    <a:pt x="44" y="0"/>
                    <a:pt x="0" y="44"/>
                    <a:pt x="0" y="99"/>
                  </a:cubicBezTo>
                  <a:cubicBezTo>
                    <a:pt x="0" y="129"/>
                    <a:pt x="14" y="157"/>
                    <a:pt x="36" y="175"/>
                  </a:cubicBezTo>
                  <a:cubicBezTo>
                    <a:pt x="35" y="171"/>
                    <a:pt x="35" y="167"/>
                    <a:pt x="35" y="163"/>
                  </a:cubicBezTo>
                  <a:cubicBezTo>
                    <a:pt x="35" y="135"/>
                    <a:pt x="57" y="113"/>
                    <a:pt x="84" y="113"/>
                  </a:cubicBezTo>
                  <a:cubicBezTo>
                    <a:pt x="112" y="113"/>
                    <a:pt x="134" y="135"/>
                    <a:pt x="134" y="163"/>
                  </a:cubicBezTo>
                  <a:cubicBezTo>
                    <a:pt x="134" y="174"/>
                    <a:pt x="130" y="185"/>
                    <a:pt x="124" y="193"/>
                  </a:cubicBezTo>
                  <a:close/>
                </a:path>
              </a:pathLst>
            </a:custGeom>
            <a:solidFill>
              <a:srgbClr val="1E28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4597702" y="5404939"/>
              <a:ext cx="328185" cy="320181"/>
            </a:xfrm>
            <a:custGeom>
              <a:rect b="b" l="l" r="r" t="t"/>
              <a:pathLst>
                <a:path extrusionOk="0" h="202" w="206">
                  <a:moveTo>
                    <a:pt x="91" y="202"/>
                  </a:moveTo>
                  <a:cubicBezTo>
                    <a:pt x="48" y="197"/>
                    <a:pt x="13" y="162"/>
                    <a:pt x="7" y="117"/>
                  </a:cubicBezTo>
                  <a:cubicBezTo>
                    <a:pt x="0" y="64"/>
                    <a:pt x="38" y="14"/>
                    <a:pt x="92" y="7"/>
                  </a:cubicBezTo>
                  <a:cubicBezTo>
                    <a:pt x="145" y="0"/>
                    <a:pt x="195" y="39"/>
                    <a:pt x="202" y="92"/>
                  </a:cubicBezTo>
                  <a:cubicBezTo>
                    <a:pt x="206" y="123"/>
                    <a:pt x="195" y="152"/>
                    <a:pt x="175" y="173"/>
                  </a:cubicBezTo>
                  <a:cubicBezTo>
                    <a:pt x="176" y="169"/>
                    <a:pt x="176" y="165"/>
                    <a:pt x="175" y="161"/>
                  </a:cubicBezTo>
                  <a:cubicBezTo>
                    <a:pt x="172" y="133"/>
                    <a:pt x="147" y="114"/>
                    <a:pt x="120" y="117"/>
                  </a:cubicBezTo>
                  <a:cubicBezTo>
                    <a:pt x="92" y="121"/>
                    <a:pt x="73" y="146"/>
                    <a:pt x="77" y="173"/>
                  </a:cubicBezTo>
                  <a:cubicBezTo>
                    <a:pt x="78" y="185"/>
                    <a:pt x="84" y="195"/>
                    <a:pt x="91" y="202"/>
                  </a:cubicBezTo>
                </a:path>
              </a:pathLst>
            </a:custGeom>
            <a:solidFill>
              <a:srgbClr val="1E28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5"/>
            <p:cNvSpPr/>
            <p:nvPr/>
          </p:nvSpPr>
          <p:spPr>
            <a:xfrm>
              <a:off x="5134005" y="2887518"/>
              <a:ext cx="1252708" cy="1252708"/>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5126000" y="3411815"/>
              <a:ext cx="80045" cy="340193"/>
            </a:xfrm>
            <a:custGeom>
              <a:rect b="b" l="l" r="r" t="t"/>
              <a:pathLst>
                <a:path extrusionOk="0" h="215" w="51">
                  <a:moveTo>
                    <a:pt x="10" y="0"/>
                  </a:moveTo>
                  <a:lnTo>
                    <a:pt x="32" y="8"/>
                  </a:lnTo>
                  <a:cubicBezTo>
                    <a:pt x="29" y="77"/>
                    <a:pt x="37" y="141"/>
                    <a:pt x="51" y="203"/>
                  </a:cubicBezTo>
                  <a:lnTo>
                    <a:pt x="34" y="215"/>
                  </a:lnTo>
                  <a:cubicBezTo>
                    <a:pt x="9" y="152"/>
                    <a:pt x="0" y="81"/>
                    <a:pt x="10" y="0"/>
                  </a:cubicBez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6318673" y="3399807"/>
              <a:ext cx="80045" cy="344194"/>
            </a:xfrm>
            <a:custGeom>
              <a:rect b="b" l="l" r="r" t="t"/>
              <a:pathLst>
                <a:path extrusionOk="0" h="216" w="50">
                  <a:moveTo>
                    <a:pt x="39" y="0"/>
                  </a:moveTo>
                  <a:lnTo>
                    <a:pt x="17" y="9"/>
                  </a:lnTo>
                  <a:cubicBezTo>
                    <a:pt x="20" y="78"/>
                    <a:pt x="14" y="142"/>
                    <a:pt x="0" y="204"/>
                  </a:cubicBezTo>
                  <a:lnTo>
                    <a:pt x="17" y="216"/>
                  </a:lnTo>
                  <a:cubicBezTo>
                    <a:pt x="41" y="153"/>
                    <a:pt x="50" y="82"/>
                    <a:pt x="39" y="0"/>
                  </a:cubicBez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5"/>
            <p:cNvSpPr/>
            <p:nvPr/>
          </p:nvSpPr>
          <p:spPr>
            <a:xfrm>
              <a:off x="5382145" y="3127653"/>
              <a:ext cx="788446" cy="788446"/>
            </a:xfrm>
            <a:prstGeom prst="ellipse">
              <a:avLst/>
            </a:prstGeom>
            <a:solidFill>
              <a:srgbClr val="1515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5"/>
            <p:cNvSpPr/>
            <p:nvPr/>
          </p:nvSpPr>
          <p:spPr>
            <a:xfrm>
              <a:off x="5398154" y="3263730"/>
              <a:ext cx="760429" cy="760429"/>
            </a:xfrm>
            <a:prstGeom prst="ellipse">
              <a:avLst/>
            </a:pr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5"/>
            <p:cNvSpPr/>
            <p:nvPr/>
          </p:nvSpPr>
          <p:spPr>
            <a:xfrm>
              <a:off x="5554243" y="3291747"/>
              <a:ext cx="448253" cy="44825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5598267" y="3335770"/>
              <a:ext cx="360203" cy="360203"/>
            </a:xfrm>
            <a:prstGeom prst="ellipse">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5"/>
            <p:cNvSpPr/>
            <p:nvPr/>
          </p:nvSpPr>
          <p:spPr>
            <a:xfrm>
              <a:off x="5682316" y="3459842"/>
              <a:ext cx="152086" cy="152086"/>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p:nvPr/>
          </p:nvSpPr>
          <p:spPr>
            <a:xfrm>
              <a:off x="5093982" y="3555896"/>
              <a:ext cx="56032" cy="40023"/>
            </a:xfrm>
            <a:custGeom>
              <a:rect b="b" l="l" r="r" t="t"/>
              <a:pathLst>
                <a:path extrusionOk="0" h="10" w="14">
                  <a:moveTo>
                    <a:pt x="0" y="1"/>
                  </a:moveTo>
                  <a:lnTo>
                    <a:pt x="14" y="0"/>
                  </a:lnTo>
                  <a:lnTo>
                    <a:pt x="14" y="9"/>
                  </a:lnTo>
                  <a:lnTo>
                    <a:pt x="0" y="10"/>
                  </a:lnTo>
                  <a:lnTo>
                    <a:pt x="0" y="1"/>
                  </a:ln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5"/>
            <p:cNvSpPr/>
            <p:nvPr/>
          </p:nvSpPr>
          <p:spPr>
            <a:xfrm>
              <a:off x="4921886" y="3483855"/>
              <a:ext cx="192108" cy="192108"/>
            </a:xfrm>
            <a:custGeom>
              <a:rect b="b" l="l" r="r" t="t"/>
              <a:pathLst>
                <a:path extrusionOk="0" h="122" w="122">
                  <a:moveTo>
                    <a:pt x="64" y="2"/>
                  </a:moveTo>
                  <a:cubicBezTo>
                    <a:pt x="32" y="0"/>
                    <a:pt x="4" y="26"/>
                    <a:pt x="2" y="58"/>
                  </a:cubicBezTo>
                  <a:cubicBezTo>
                    <a:pt x="0" y="91"/>
                    <a:pt x="26" y="119"/>
                    <a:pt x="58" y="121"/>
                  </a:cubicBezTo>
                  <a:cubicBezTo>
                    <a:pt x="91" y="122"/>
                    <a:pt x="119" y="97"/>
                    <a:pt x="121" y="64"/>
                  </a:cubicBezTo>
                  <a:cubicBezTo>
                    <a:pt x="122" y="31"/>
                    <a:pt x="97" y="4"/>
                    <a:pt x="64" y="2"/>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5"/>
            <p:cNvSpPr/>
            <p:nvPr/>
          </p:nvSpPr>
          <p:spPr>
            <a:xfrm>
              <a:off x="6374705" y="3551892"/>
              <a:ext cx="60035" cy="36022"/>
            </a:xfrm>
            <a:custGeom>
              <a:rect b="b" l="l" r="r" t="t"/>
              <a:pathLst>
                <a:path extrusionOk="0" h="9" w="15">
                  <a:moveTo>
                    <a:pt x="15" y="0"/>
                  </a:moveTo>
                  <a:lnTo>
                    <a:pt x="0" y="0"/>
                  </a:lnTo>
                  <a:lnTo>
                    <a:pt x="0" y="9"/>
                  </a:lnTo>
                  <a:lnTo>
                    <a:pt x="15" y="8"/>
                  </a:lnTo>
                  <a:lnTo>
                    <a:pt x="15" y="0"/>
                  </a:ln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5"/>
            <p:cNvSpPr/>
            <p:nvPr/>
          </p:nvSpPr>
          <p:spPr>
            <a:xfrm>
              <a:off x="6410727" y="3463843"/>
              <a:ext cx="196112" cy="200113"/>
            </a:xfrm>
            <a:custGeom>
              <a:rect b="b" l="l" r="r" t="t"/>
              <a:pathLst>
                <a:path extrusionOk="0" h="126" w="125">
                  <a:moveTo>
                    <a:pt x="56" y="4"/>
                  </a:moveTo>
                  <a:cubicBezTo>
                    <a:pt x="88" y="0"/>
                    <a:pt x="118" y="24"/>
                    <a:pt x="122" y="56"/>
                  </a:cubicBezTo>
                  <a:cubicBezTo>
                    <a:pt x="125" y="89"/>
                    <a:pt x="102" y="118"/>
                    <a:pt x="69" y="122"/>
                  </a:cubicBezTo>
                  <a:cubicBezTo>
                    <a:pt x="37" y="126"/>
                    <a:pt x="7" y="102"/>
                    <a:pt x="4" y="70"/>
                  </a:cubicBezTo>
                  <a:cubicBezTo>
                    <a:pt x="0" y="37"/>
                    <a:pt x="23" y="8"/>
                    <a:pt x="56" y="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5"/>
            <p:cNvSpPr/>
            <p:nvPr/>
          </p:nvSpPr>
          <p:spPr>
            <a:xfrm>
              <a:off x="5742348" y="2511305"/>
              <a:ext cx="40023" cy="33619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5"/>
            <p:cNvSpPr/>
            <p:nvPr/>
          </p:nvSpPr>
          <p:spPr>
            <a:xfrm>
              <a:off x="5742348" y="2611363"/>
              <a:ext cx="40023" cy="116067"/>
            </a:xfrm>
            <a:prstGeom prst="rect">
              <a:avLst/>
            </a:pr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5"/>
            <p:cNvSpPr/>
            <p:nvPr/>
          </p:nvSpPr>
          <p:spPr>
            <a:xfrm>
              <a:off x="5654298" y="2831486"/>
              <a:ext cx="212121" cy="64036"/>
            </a:xfrm>
            <a:custGeom>
              <a:rect b="b" l="l" r="r" t="t"/>
              <a:pathLst>
                <a:path extrusionOk="0" h="40" w="134">
                  <a:moveTo>
                    <a:pt x="0" y="39"/>
                  </a:moveTo>
                  <a:cubicBezTo>
                    <a:pt x="45" y="32"/>
                    <a:pt x="89" y="33"/>
                    <a:pt x="134" y="40"/>
                  </a:cubicBezTo>
                  <a:cubicBezTo>
                    <a:pt x="134" y="40"/>
                    <a:pt x="116" y="19"/>
                    <a:pt x="106" y="7"/>
                  </a:cubicBezTo>
                  <a:cubicBezTo>
                    <a:pt x="102" y="3"/>
                    <a:pt x="97" y="0"/>
                    <a:pt x="91" y="0"/>
                  </a:cubicBezTo>
                  <a:lnTo>
                    <a:pt x="42" y="0"/>
                  </a:lnTo>
                  <a:cubicBezTo>
                    <a:pt x="36" y="0"/>
                    <a:pt x="31" y="3"/>
                    <a:pt x="27" y="7"/>
                  </a:cubicBezTo>
                  <a:cubicBezTo>
                    <a:pt x="18" y="18"/>
                    <a:pt x="0" y="39"/>
                    <a:pt x="0" y="39"/>
                  </a:cubicBez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5"/>
            <p:cNvSpPr/>
            <p:nvPr/>
          </p:nvSpPr>
          <p:spPr>
            <a:xfrm>
              <a:off x="5682316" y="2383233"/>
              <a:ext cx="156089" cy="160090"/>
            </a:xfrm>
            <a:prstGeom prst="ellipse">
              <a:avLst/>
            </a:pr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5"/>
            <p:cNvSpPr/>
            <p:nvPr/>
          </p:nvSpPr>
          <p:spPr>
            <a:xfrm>
              <a:off x="5286091" y="4740564"/>
              <a:ext cx="976551" cy="972550"/>
            </a:xfrm>
            <a:custGeom>
              <a:rect b="b" l="l" r="r" t="t"/>
              <a:pathLst>
                <a:path extrusionOk="0" h="613" w="614">
                  <a:moveTo>
                    <a:pt x="307" y="66"/>
                  </a:moveTo>
                  <a:cubicBezTo>
                    <a:pt x="174" y="66"/>
                    <a:pt x="66" y="174"/>
                    <a:pt x="66" y="307"/>
                  </a:cubicBezTo>
                  <a:cubicBezTo>
                    <a:pt x="66" y="440"/>
                    <a:pt x="174" y="548"/>
                    <a:pt x="307" y="548"/>
                  </a:cubicBezTo>
                  <a:cubicBezTo>
                    <a:pt x="440" y="548"/>
                    <a:pt x="548" y="440"/>
                    <a:pt x="548" y="307"/>
                  </a:cubicBezTo>
                  <a:cubicBezTo>
                    <a:pt x="548" y="174"/>
                    <a:pt x="440" y="66"/>
                    <a:pt x="307" y="66"/>
                  </a:cubicBezTo>
                  <a:close/>
                  <a:moveTo>
                    <a:pt x="307" y="0"/>
                  </a:moveTo>
                  <a:cubicBezTo>
                    <a:pt x="138" y="0"/>
                    <a:pt x="0" y="137"/>
                    <a:pt x="0" y="307"/>
                  </a:cubicBezTo>
                  <a:cubicBezTo>
                    <a:pt x="0" y="476"/>
                    <a:pt x="138" y="613"/>
                    <a:pt x="307" y="613"/>
                  </a:cubicBezTo>
                  <a:cubicBezTo>
                    <a:pt x="476" y="613"/>
                    <a:pt x="614" y="476"/>
                    <a:pt x="614" y="307"/>
                  </a:cubicBezTo>
                  <a:cubicBezTo>
                    <a:pt x="614" y="137"/>
                    <a:pt x="476" y="0"/>
                    <a:pt x="307" y="0"/>
                  </a:cubicBez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5"/>
            <p:cNvSpPr/>
            <p:nvPr/>
          </p:nvSpPr>
          <p:spPr>
            <a:xfrm>
              <a:off x="5434175" y="4888647"/>
              <a:ext cx="676383" cy="676383"/>
            </a:xfrm>
            <a:custGeom>
              <a:rect b="b" l="l" r="r" t="t"/>
              <a:pathLst>
                <a:path extrusionOk="0" h="426" w="426">
                  <a:moveTo>
                    <a:pt x="213" y="5"/>
                  </a:moveTo>
                  <a:cubicBezTo>
                    <a:pt x="98" y="5"/>
                    <a:pt x="4" y="98"/>
                    <a:pt x="4" y="213"/>
                  </a:cubicBezTo>
                  <a:cubicBezTo>
                    <a:pt x="4" y="328"/>
                    <a:pt x="98" y="421"/>
                    <a:pt x="213" y="421"/>
                  </a:cubicBezTo>
                  <a:cubicBezTo>
                    <a:pt x="328" y="421"/>
                    <a:pt x="421" y="328"/>
                    <a:pt x="421" y="213"/>
                  </a:cubicBezTo>
                  <a:cubicBezTo>
                    <a:pt x="421" y="98"/>
                    <a:pt x="328" y="5"/>
                    <a:pt x="213" y="5"/>
                  </a:cubicBezTo>
                  <a:close/>
                  <a:moveTo>
                    <a:pt x="213" y="426"/>
                  </a:moveTo>
                  <a:cubicBezTo>
                    <a:pt x="95" y="426"/>
                    <a:pt x="0" y="330"/>
                    <a:pt x="0" y="213"/>
                  </a:cubicBezTo>
                  <a:cubicBezTo>
                    <a:pt x="0" y="96"/>
                    <a:pt x="95" y="0"/>
                    <a:pt x="213" y="0"/>
                  </a:cubicBezTo>
                  <a:cubicBezTo>
                    <a:pt x="330" y="0"/>
                    <a:pt x="426" y="96"/>
                    <a:pt x="426" y="213"/>
                  </a:cubicBezTo>
                  <a:cubicBezTo>
                    <a:pt x="426" y="330"/>
                    <a:pt x="330" y="426"/>
                    <a:pt x="213" y="426"/>
                  </a:cubicBezTo>
                  <a:close/>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5"/>
            <p:cNvSpPr/>
            <p:nvPr/>
          </p:nvSpPr>
          <p:spPr>
            <a:xfrm>
              <a:off x="5566249" y="5108772"/>
              <a:ext cx="344194" cy="324184"/>
            </a:xfrm>
            <a:custGeom>
              <a:rect b="b" l="l" r="r" t="t"/>
              <a:pathLst>
                <a:path extrusionOk="0" h="204" w="218">
                  <a:moveTo>
                    <a:pt x="218" y="156"/>
                  </a:moveTo>
                  <a:cubicBezTo>
                    <a:pt x="202" y="171"/>
                    <a:pt x="183" y="181"/>
                    <a:pt x="163" y="187"/>
                  </a:cubicBezTo>
                  <a:cubicBezTo>
                    <a:pt x="95" y="204"/>
                    <a:pt x="26" y="164"/>
                    <a:pt x="8" y="96"/>
                  </a:cubicBezTo>
                  <a:cubicBezTo>
                    <a:pt x="0" y="64"/>
                    <a:pt x="5" y="29"/>
                    <a:pt x="22" y="0"/>
                  </a:cubicBezTo>
                  <a:lnTo>
                    <a:pt x="33" y="7"/>
                  </a:lnTo>
                  <a:cubicBezTo>
                    <a:pt x="18" y="33"/>
                    <a:pt x="14" y="64"/>
                    <a:pt x="21" y="93"/>
                  </a:cubicBezTo>
                  <a:cubicBezTo>
                    <a:pt x="37" y="153"/>
                    <a:pt x="99" y="190"/>
                    <a:pt x="159" y="174"/>
                  </a:cubicBezTo>
                  <a:cubicBezTo>
                    <a:pt x="178" y="169"/>
                    <a:pt x="195" y="160"/>
                    <a:pt x="209" y="147"/>
                  </a:cubicBezTo>
                  <a:lnTo>
                    <a:pt x="218" y="156"/>
                  </a:lnTo>
                  <a:close/>
                </a:path>
              </a:pathLst>
            </a:custGeom>
            <a:solidFill>
              <a:srgbClr val="6DA7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5"/>
            <p:cNvSpPr/>
            <p:nvPr/>
          </p:nvSpPr>
          <p:spPr>
            <a:xfrm>
              <a:off x="5638289" y="4992705"/>
              <a:ext cx="344194" cy="324184"/>
            </a:xfrm>
            <a:custGeom>
              <a:rect b="b" l="l" r="r" t="t"/>
              <a:pathLst>
                <a:path extrusionOk="0" h="206" w="216">
                  <a:moveTo>
                    <a:pt x="0" y="45"/>
                  </a:moveTo>
                  <a:cubicBezTo>
                    <a:pt x="16" y="31"/>
                    <a:pt x="35" y="21"/>
                    <a:pt x="56" y="16"/>
                  </a:cubicBezTo>
                  <a:cubicBezTo>
                    <a:pt x="124" y="0"/>
                    <a:pt x="192" y="42"/>
                    <a:pt x="208" y="110"/>
                  </a:cubicBezTo>
                  <a:cubicBezTo>
                    <a:pt x="216" y="143"/>
                    <a:pt x="210" y="177"/>
                    <a:pt x="192" y="206"/>
                  </a:cubicBezTo>
                  <a:lnTo>
                    <a:pt x="181" y="199"/>
                  </a:lnTo>
                  <a:cubicBezTo>
                    <a:pt x="197" y="173"/>
                    <a:pt x="202" y="143"/>
                    <a:pt x="195" y="113"/>
                  </a:cubicBezTo>
                  <a:cubicBezTo>
                    <a:pt x="181" y="52"/>
                    <a:pt x="120" y="15"/>
                    <a:pt x="59" y="29"/>
                  </a:cubicBezTo>
                  <a:cubicBezTo>
                    <a:pt x="40" y="33"/>
                    <a:pt x="23" y="42"/>
                    <a:pt x="9" y="55"/>
                  </a:cubicBezTo>
                  <a:lnTo>
                    <a:pt x="0" y="45"/>
                  </a:lnTo>
                </a:path>
              </a:pathLst>
            </a:cu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5"/>
            <p:cNvSpPr/>
            <p:nvPr/>
          </p:nvSpPr>
          <p:spPr>
            <a:xfrm>
              <a:off x="5818392" y="4992705"/>
              <a:ext cx="152086" cy="152086"/>
            </a:xfrm>
            <a:prstGeom prst="ellipse">
              <a:avLst/>
            </a:prstGeom>
            <a:solidFill>
              <a:srgbClr val="2223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5"/>
            <p:cNvSpPr/>
            <p:nvPr/>
          </p:nvSpPr>
          <p:spPr>
            <a:xfrm>
              <a:off x="5574253" y="5292876"/>
              <a:ext cx="152086" cy="152086"/>
            </a:xfrm>
            <a:prstGeom prst="ellipse">
              <a:avLst/>
            </a:prstGeom>
            <a:solidFill>
              <a:srgbClr val="6DA7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5"/>
            <p:cNvSpPr/>
            <p:nvPr/>
          </p:nvSpPr>
          <p:spPr>
            <a:xfrm>
              <a:off x="6070533" y="3467846"/>
              <a:ext cx="44026" cy="56032"/>
            </a:xfrm>
            <a:prstGeom prst="ellipse">
              <a:avLst/>
            </a:prstGeom>
            <a:solidFill>
              <a:srgbClr val="B8D8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6" name="Google Shape;106;p5"/>
          <p:cNvGrpSpPr/>
          <p:nvPr/>
        </p:nvGrpSpPr>
        <p:grpSpPr>
          <a:xfrm>
            <a:off x="7773906" y="2736049"/>
            <a:ext cx="3910205" cy="3618043"/>
            <a:chOff x="7307233" y="2767450"/>
            <a:chExt cx="3910205" cy="3618043"/>
          </a:xfrm>
        </p:grpSpPr>
        <p:sp>
          <p:nvSpPr>
            <p:cNvPr id="107" name="Google Shape;107;p5"/>
            <p:cNvSpPr/>
            <p:nvPr/>
          </p:nvSpPr>
          <p:spPr>
            <a:xfrm>
              <a:off x="10152837" y="3383798"/>
              <a:ext cx="1064601" cy="908514"/>
            </a:xfrm>
            <a:custGeom>
              <a:rect b="b" l="l" r="r" t="t"/>
              <a:pathLst>
                <a:path extrusionOk="0" h="571" w="673">
                  <a:moveTo>
                    <a:pt x="369" y="10"/>
                  </a:moveTo>
                  <a:cubicBezTo>
                    <a:pt x="232" y="17"/>
                    <a:pt x="120" y="125"/>
                    <a:pt x="107" y="261"/>
                  </a:cubicBezTo>
                  <a:cubicBezTo>
                    <a:pt x="104" y="291"/>
                    <a:pt x="106" y="320"/>
                    <a:pt x="112" y="347"/>
                  </a:cubicBezTo>
                  <a:cubicBezTo>
                    <a:pt x="116" y="368"/>
                    <a:pt x="110" y="390"/>
                    <a:pt x="95" y="406"/>
                  </a:cubicBezTo>
                  <a:lnTo>
                    <a:pt x="10" y="493"/>
                  </a:lnTo>
                  <a:cubicBezTo>
                    <a:pt x="0" y="502"/>
                    <a:pt x="9" y="517"/>
                    <a:pt x="22" y="514"/>
                  </a:cubicBezTo>
                  <a:lnTo>
                    <a:pt x="146" y="485"/>
                  </a:lnTo>
                  <a:cubicBezTo>
                    <a:pt x="166" y="481"/>
                    <a:pt x="186" y="486"/>
                    <a:pt x="202" y="499"/>
                  </a:cubicBezTo>
                  <a:cubicBezTo>
                    <a:pt x="254" y="544"/>
                    <a:pt x="322" y="571"/>
                    <a:pt x="397" y="567"/>
                  </a:cubicBezTo>
                  <a:cubicBezTo>
                    <a:pt x="538" y="561"/>
                    <a:pt x="653" y="448"/>
                    <a:pt x="662" y="307"/>
                  </a:cubicBezTo>
                  <a:cubicBezTo>
                    <a:pt x="673" y="139"/>
                    <a:pt x="536" y="0"/>
                    <a:pt x="369" y="1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5"/>
            <p:cNvSpPr/>
            <p:nvPr/>
          </p:nvSpPr>
          <p:spPr>
            <a:xfrm>
              <a:off x="10705149" y="4072186"/>
              <a:ext cx="128072" cy="16009"/>
            </a:xfrm>
            <a:custGeom>
              <a:rect b="b" l="l" r="r" t="t"/>
              <a:pathLst>
                <a:path extrusionOk="0" h="11" w="82">
                  <a:moveTo>
                    <a:pt x="77" y="11"/>
                  </a:moveTo>
                  <a:lnTo>
                    <a:pt x="5" y="11"/>
                  </a:lnTo>
                  <a:cubicBezTo>
                    <a:pt x="2" y="11"/>
                    <a:pt x="0" y="8"/>
                    <a:pt x="0" y="5"/>
                  </a:cubicBezTo>
                  <a:cubicBezTo>
                    <a:pt x="0" y="2"/>
                    <a:pt x="2" y="0"/>
                    <a:pt x="5" y="0"/>
                  </a:cubicBezTo>
                  <a:lnTo>
                    <a:pt x="77" y="0"/>
                  </a:lnTo>
                  <a:cubicBezTo>
                    <a:pt x="80" y="0"/>
                    <a:pt x="82" y="2"/>
                    <a:pt x="82" y="5"/>
                  </a:cubicBezTo>
                  <a:cubicBezTo>
                    <a:pt x="82" y="8"/>
                    <a:pt x="80" y="11"/>
                    <a:pt x="77" y="11"/>
                  </a:cubicBezTo>
                  <a:close/>
                </a:path>
              </a:pathLst>
            </a:custGeom>
            <a:solidFill>
              <a:srgbClr val="F797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5"/>
            <p:cNvSpPr/>
            <p:nvPr/>
          </p:nvSpPr>
          <p:spPr>
            <a:xfrm>
              <a:off x="10705149" y="4104204"/>
              <a:ext cx="128072" cy="76044"/>
            </a:xfrm>
            <a:custGeom>
              <a:rect b="b" l="l" r="r" t="t"/>
              <a:pathLst>
                <a:path extrusionOk="0" h="48" w="82">
                  <a:moveTo>
                    <a:pt x="41" y="48"/>
                  </a:moveTo>
                  <a:cubicBezTo>
                    <a:pt x="18" y="48"/>
                    <a:pt x="0" y="29"/>
                    <a:pt x="0" y="5"/>
                  </a:cubicBezTo>
                  <a:cubicBezTo>
                    <a:pt x="0" y="2"/>
                    <a:pt x="2" y="0"/>
                    <a:pt x="5" y="0"/>
                  </a:cubicBezTo>
                  <a:lnTo>
                    <a:pt x="77" y="0"/>
                  </a:lnTo>
                  <a:cubicBezTo>
                    <a:pt x="80" y="0"/>
                    <a:pt x="82" y="2"/>
                    <a:pt x="82" y="5"/>
                  </a:cubicBezTo>
                  <a:cubicBezTo>
                    <a:pt x="82" y="29"/>
                    <a:pt x="64" y="48"/>
                    <a:pt x="41" y="48"/>
                  </a:cubicBezTo>
                  <a:close/>
                </a:path>
              </a:pathLst>
            </a:custGeom>
            <a:solidFill>
              <a:srgbClr val="F797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5"/>
            <p:cNvSpPr/>
            <p:nvPr/>
          </p:nvSpPr>
          <p:spPr>
            <a:xfrm>
              <a:off x="10593086" y="3663956"/>
              <a:ext cx="352199" cy="388220"/>
            </a:xfrm>
            <a:custGeom>
              <a:rect b="b" l="l" r="r" t="t"/>
              <a:pathLst>
                <a:path extrusionOk="0" h="246" w="221">
                  <a:moveTo>
                    <a:pt x="187" y="33"/>
                  </a:moveTo>
                  <a:cubicBezTo>
                    <a:pt x="165" y="12"/>
                    <a:pt x="136" y="0"/>
                    <a:pt x="106" y="2"/>
                  </a:cubicBezTo>
                  <a:cubicBezTo>
                    <a:pt x="49" y="5"/>
                    <a:pt x="2" y="55"/>
                    <a:pt x="1" y="115"/>
                  </a:cubicBezTo>
                  <a:cubicBezTo>
                    <a:pt x="0" y="156"/>
                    <a:pt x="21" y="194"/>
                    <a:pt x="55" y="215"/>
                  </a:cubicBezTo>
                  <a:cubicBezTo>
                    <a:pt x="64" y="221"/>
                    <a:pt x="70" y="230"/>
                    <a:pt x="70" y="241"/>
                  </a:cubicBezTo>
                  <a:lnTo>
                    <a:pt x="71" y="245"/>
                  </a:lnTo>
                  <a:lnTo>
                    <a:pt x="74" y="246"/>
                  </a:lnTo>
                  <a:lnTo>
                    <a:pt x="148" y="246"/>
                  </a:lnTo>
                  <a:cubicBezTo>
                    <a:pt x="150" y="246"/>
                    <a:pt x="152" y="244"/>
                    <a:pt x="152" y="241"/>
                  </a:cubicBezTo>
                  <a:cubicBezTo>
                    <a:pt x="152" y="230"/>
                    <a:pt x="158" y="221"/>
                    <a:pt x="167" y="215"/>
                  </a:cubicBezTo>
                  <a:cubicBezTo>
                    <a:pt x="200" y="194"/>
                    <a:pt x="221" y="157"/>
                    <a:pt x="221" y="116"/>
                  </a:cubicBezTo>
                  <a:cubicBezTo>
                    <a:pt x="221" y="85"/>
                    <a:pt x="209" y="55"/>
                    <a:pt x="187" y="33"/>
                  </a:cubicBezTo>
                </a:path>
              </a:pathLst>
            </a:custGeom>
            <a:solidFill>
              <a:srgbClr val="BD54B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5"/>
            <p:cNvSpPr/>
            <p:nvPr/>
          </p:nvSpPr>
          <p:spPr>
            <a:xfrm>
              <a:off x="10593086" y="3663956"/>
              <a:ext cx="352199" cy="388220"/>
            </a:xfrm>
            <a:custGeom>
              <a:rect b="b" l="l" r="r" t="t"/>
              <a:pathLst>
                <a:path extrusionOk="0" h="246" w="221">
                  <a:moveTo>
                    <a:pt x="187" y="33"/>
                  </a:moveTo>
                  <a:cubicBezTo>
                    <a:pt x="165" y="12"/>
                    <a:pt x="136" y="0"/>
                    <a:pt x="106" y="2"/>
                  </a:cubicBezTo>
                  <a:cubicBezTo>
                    <a:pt x="49" y="5"/>
                    <a:pt x="2" y="55"/>
                    <a:pt x="1" y="115"/>
                  </a:cubicBezTo>
                  <a:cubicBezTo>
                    <a:pt x="0" y="156"/>
                    <a:pt x="21" y="194"/>
                    <a:pt x="55" y="215"/>
                  </a:cubicBezTo>
                  <a:cubicBezTo>
                    <a:pt x="64" y="221"/>
                    <a:pt x="70" y="230"/>
                    <a:pt x="70" y="241"/>
                  </a:cubicBezTo>
                  <a:lnTo>
                    <a:pt x="71" y="245"/>
                  </a:lnTo>
                  <a:lnTo>
                    <a:pt x="74" y="246"/>
                  </a:lnTo>
                  <a:lnTo>
                    <a:pt x="148" y="246"/>
                  </a:lnTo>
                  <a:cubicBezTo>
                    <a:pt x="150" y="246"/>
                    <a:pt x="152" y="244"/>
                    <a:pt x="152" y="241"/>
                  </a:cubicBezTo>
                  <a:cubicBezTo>
                    <a:pt x="152" y="230"/>
                    <a:pt x="158" y="221"/>
                    <a:pt x="167" y="215"/>
                  </a:cubicBezTo>
                  <a:cubicBezTo>
                    <a:pt x="200" y="194"/>
                    <a:pt x="221" y="157"/>
                    <a:pt x="221" y="116"/>
                  </a:cubicBezTo>
                  <a:cubicBezTo>
                    <a:pt x="221" y="85"/>
                    <a:pt x="209" y="55"/>
                    <a:pt x="187" y="33"/>
                  </a:cubicBezTo>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5"/>
            <p:cNvSpPr/>
            <p:nvPr/>
          </p:nvSpPr>
          <p:spPr>
            <a:xfrm>
              <a:off x="10673131" y="3804036"/>
              <a:ext cx="196112" cy="248140"/>
            </a:xfrm>
            <a:custGeom>
              <a:rect b="b" l="l" r="r" t="t"/>
              <a:pathLst>
                <a:path extrusionOk="0" h="156" w="124">
                  <a:moveTo>
                    <a:pt x="123" y="50"/>
                  </a:moveTo>
                  <a:cubicBezTo>
                    <a:pt x="122" y="45"/>
                    <a:pt x="117" y="42"/>
                    <a:pt x="112" y="42"/>
                  </a:cubicBezTo>
                  <a:cubicBezTo>
                    <a:pt x="106" y="42"/>
                    <a:pt x="99" y="47"/>
                    <a:pt x="93" y="55"/>
                  </a:cubicBezTo>
                  <a:lnTo>
                    <a:pt x="92" y="57"/>
                  </a:lnTo>
                  <a:lnTo>
                    <a:pt x="91" y="56"/>
                  </a:lnTo>
                  <a:cubicBezTo>
                    <a:pt x="85" y="54"/>
                    <a:pt x="79" y="51"/>
                    <a:pt x="74" y="47"/>
                  </a:cubicBezTo>
                  <a:cubicBezTo>
                    <a:pt x="72" y="45"/>
                    <a:pt x="69" y="43"/>
                    <a:pt x="67" y="40"/>
                  </a:cubicBezTo>
                  <a:lnTo>
                    <a:pt x="66" y="39"/>
                  </a:lnTo>
                  <a:lnTo>
                    <a:pt x="67" y="37"/>
                  </a:lnTo>
                  <a:cubicBezTo>
                    <a:pt x="73" y="28"/>
                    <a:pt x="76" y="17"/>
                    <a:pt x="74" y="9"/>
                  </a:cubicBezTo>
                  <a:cubicBezTo>
                    <a:pt x="72" y="4"/>
                    <a:pt x="67" y="0"/>
                    <a:pt x="62" y="0"/>
                  </a:cubicBezTo>
                  <a:cubicBezTo>
                    <a:pt x="57" y="0"/>
                    <a:pt x="52" y="4"/>
                    <a:pt x="50" y="9"/>
                  </a:cubicBezTo>
                  <a:cubicBezTo>
                    <a:pt x="48" y="17"/>
                    <a:pt x="51" y="28"/>
                    <a:pt x="57" y="37"/>
                  </a:cubicBezTo>
                  <a:lnTo>
                    <a:pt x="58" y="39"/>
                  </a:lnTo>
                  <a:lnTo>
                    <a:pt x="57" y="40"/>
                  </a:lnTo>
                  <a:cubicBezTo>
                    <a:pt x="55" y="43"/>
                    <a:pt x="52" y="45"/>
                    <a:pt x="50" y="47"/>
                  </a:cubicBezTo>
                  <a:cubicBezTo>
                    <a:pt x="45" y="51"/>
                    <a:pt x="39" y="54"/>
                    <a:pt x="33" y="56"/>
                  </a:cubicBezTo>
                  <a:lnTo>
                    <a:pt x="32" y="57"/>
                  </a:lnTo>
                  <a:lnTo>
                    <a:pt x="31" y="55"/>
                  </a:lnTo>
                  <a:cubicBezTo>
                    <a:pt x="25" y="47"/>
                    <a:pt x="18" y="42"/>
                    <a:pt x="12" y="42"/>
                  </a:cubicBezTo>
                  <a:cubicBezTo>
                    <a:pt x="7" y="42"/>
                    <a:pt x="2" y="45"/>
                    <a:pt x="1" y="50"/>
                  </a:cubicBezTo>
                  <a:cubicBezTo>
                    <a:pt x="0" y="54"/>
                    <a:pt x="1" y="58"/>
                    <a:pt x="5" y="60"/>
                  </a:cubicBezTo>
                  <a:cubicBezTo>
                    <a:pt x="8" y="63"/>
                    <a:pt x="13" y="64"/>
                    <a:pt x="20" y="64"/>
                  </a:cubicBezTo>
                  <a:cubicBezTo>
                    <a:pt x="22" y="64"/>
                    <a:pt x="25" y="64"/>
                    <a:pt x="28" y="64"/>
                  </a:cubicBezTo>
                  <a:lnTo>
                    <a:pt x="29" y="63"/>
                  </a:lnTo>
                  <a:lnTo>
                    <a:pt x="30" y="65"/>
                  </a:lnTo>
                  <a:cubicBezTo>
                    <a:pt x="32" y="69"/>
                    <a:pt x="34" y="74"/>
                    <a:pt x="36" y="79"/>
                  </a:cubicBezTo>
                  <a:cubicBezTo>
                    <a:pt x="43" y="101"/>
                    <a:pt x="43" y="123"/>
                    <a:pt x="42" y="145"/>
                  </a:cubicBezTo>
                  <a:cubicBezTo>
                    <a:pt x="42" y="149"/>
                    <a:pt x="42" y="152"/>
                    <a:pt x="42" y="156"/>
                  </a:cubicBezTo>
                  <a:lnTo>
                    <a:pt x="48" y="156"/>
                  </a:lnTo>
                  <a:cubicBezTo>
                    <a:pt x="48" y="152"/>
                    <a:pt x="48" y="149"/>
                    <a:pt x="48" y="145"/>
                  </a:cubicBezTo>
                  <a:cubicBezTo>
                    <a:pt x="48" y="124"/>
                    <a:pt x="49" y="101"/>
                    <a:pt x="42" y="78"/>
                  </a:cubicBezTo>
                  <a:cubicBezTo>
                    <a:pt x="40" y="73"/>
                    <a:pt x="38" y="68"/>
                    <a:pt x="36" y="64"/>
                  </a:cubicBezTo>
                  <a:lnTo>
                    <a:pt x="35" y="62"/>
                  </a:lnTo>
                  <a:lnTo>
                    <a:pt x="37" y="61"/>
                  </a:lnTo>
                  <a:cubicBezTo>
                    <a:pt x="43" y="59"/>
                    <a:pt x="48" y="56"/>
                    <a:pt x="53" y="52"/>
                  </a:cubicBezTo>
                  <a:cubicBezTo>
                    <a:pt x="56" y="50"/>
                    <a:pt x="58" y="47"/>
                    <a:pt x="61" y="45"/>
                  </a:cubicBezTo>
                  <a:lnTo>
                    <a:pt x="62" y="43"/>
                  </a:lnTo>
                  <a:lnTo>
                    <a:pt x="63" y="45"/>
                  </a:lnTo>
                  <a:cubicBezTo>
                    <a:pt x="66" y="47"/>
                    <a:pt x="68" y="50"/>
                    <a:pt x="71" y="52"/>
                  </a:cubicBezTo>
                  <a:cubicBezTo>
                    <a:pt x="76" y="56"/>
                    <a:pt x="81" y="59"/>
                    <a:pt x="87" y="61"/>
                  </a:cubicBezTo>
                  <a:lnTo>
                    <a:pt x="89" y="62"/>
                  </a:lnTo>
                  <a:lnTo>
                    <a:pt x="88" y="64"/>
                  </a:lnTo>
                  <a:cubicBezTo>
                    <a:pt x="86" y="68"/>
                    <a:pt x="84" y="73"/>
                    <a:pt x="82" y="78"/>
                  </a:cubicBezTo>
                  <a:cubicBezTo>
                    <a:pt x="75" y="101"/>
                    <a:pt x="76" y="124"/>
                    <a:pt x="76" y="145"/>
                  </a:cubicBezTo>
                  <a:cubicBezTo>
                    <a:pt x="76" y="149"/>
                    <a:pt x="76" y="152"/>
                    <a:pt x="76" y="156"/>
                  </a:cubicBezTo>
                  <a:lnTo>
                    <a:pt x="82" y="156"/>
                  </a:lnTo>
                  <a:cubicBezTo>
                    <a:pt x="82" y="152"/>
                    <a:pt x="82" y="149"/>
                    <a:pt x="82" y="145"/>
                  </a:cubicBezTo>
                  <a:cubicBezTo>
                    <a:pt x="81" y="123"/>
                    <a:pt x="81" y="101"/>
                    <a:pt x="88" y="79"/>
                  </a:cubicBezTo>
                  <a:cubicBezTo>
                    <a:pt x="90" y="74"/>
                    <a:pt x="92" y="69"/>
                    <a:pt x="94" y="65"/>
                  </a:cubicBezTo>
                  <a:lnTo>
                    <a:pt x="95" y="63"/>
                  </a:lnTo>
                  <a:lnTo>
                    <a:pt x="96" y="64"/>
                  </a:lnTo>
                  <a:cubicBezTo>
                    <a:pt x="99" y="64"/>
                    <a:pt x="102" y="64"/>
                    <a:pt x="104" y="64"/>
                  </a:cubicBezTo>
                  <a:cubicBezTo>
                    <a:pt x="110" y="64"/>
                    <a:pt x="116" y="63"/>
                    <a:pt x="119" y="60"/>
                  </a:cubicBezTo>
                  <a:cubicBezTo>
                    <a:pt x="123" y="58"/>
                    <a:pt x="124" y="54"/>
                    <a:pt x="123" y="50"/>
                  </a:cubicBezTo>
                  <a:moveTo>
                    <a:pt x="22" y="58"/>
                  </a:moveTo>
                  <a:lnTo>
                    <a:pt x="20" y="59"/>
                  </a:lnTo>
                  <a:cubicBezTo>
                    <a:pt x="15" y="59"/>
                    <a:pt x="11" y="57"/>
                    <a:pt x="8" y="56"/>
                  </a:cubicBezTo>
                  <a:cubicBezTo>
                    <a:pt x="8" y="55"/>
                    <a:pt x="6" y="54"/>
                    <a:pt x="6" y="52"/>
                  </a:cubicBezTo>
                  <a:cubicBezTo>
                    <a:pt x="7" y="49"/>
                    <a:pt x="9" y="48"/>
                    <a:pt x="12" y="48"/>
                  </a:cubicBezTo>
                  <a:cubicBezTo>
                    <a:pt x="15" y="48"/>
                    <a:pt x="20" y="51"/>
                    <a:pt x="24" y="55"/>
                  </a:cubicBezTo>
                  <a:lnTo>
                    <a:pt x="26" y="58"/>
                  </a:lnTo>
                  <a:lnTo>
                    <a:pt x="22" y="58"/>
                  </a:lnTo>
                  <a:close/>
                  <a:moveTo>
                    <a:pt x="62" y="34"/>
                  </a:moveTo>
                  <a:lnTo>
                    <a:pt x="60" y="31"/>
                  </a:lnTo>
                  <a:cubicBezTo>
                    <a:pt x="56" y="24"/>
                    <a:pt x="54" y="16"/>
                    <a:pt x="56" y="11"/>
                  </a:cubicBezTo>
                  <a:cubicBezTo>
                    <a:pt x="57" y="8"/>
                    <a:pt x="59" y="6"/>
                    <a:pt x="62" y="6"/>
                  </a:cubicBezTo>
                  <a:cubicBezTo>
                    <a:pt x="65" y="6"/>
                    <a:pt x="67" y="8"/>
                    <a:pt x="68" y="11"/>
                  </a:cubicBezTo>
                  <a:cubicBezTo>
                    <a:pt x="70" y="16"/>
                    <a:pt x="68" y="24"/>
                    <a:pt x="64" y="31"/>
                  </a:cubicBezTo>
                  <a:lnTo>
                    <a:pt x="62" y="34"/>
                  </a:lnTo>
                  <a:close/>
                  <a:moveTo>
                    <a:pt x="116" y="56"/>
                  </a:moveTo>
                  <a:cubicBezTo>
                    <a:pt x="113" y="57"/>
                    <a:pt x="109" y="59"/>
                    <a:pt x="104" y="59"/>
                  </a:cubicBezTo>
                  <a:lnTo>
                    <a:pt x="102" y="58"/>
                  </a:lnTo>
                  <a:lnTo>
                    <a:pt x="98" y="58"/>
                  </a:lnTo>
                  <a:lnTo>
                    <a:pt x="100" y="55"/>
                  </a:lnTo>
                  <a:cubicBezTo>
                    <a:pt x="104" y="51"/>
                    <a:pt x="109" y="48"/>
                    <a:pt x="112" y="48"/>
                  </a:cubicBezTo>
                  <a:cubicBezTo>
                    <a:pt x="115" y="48"/>
                    <a:pt x="117" y="49"/>
                    <a:pt x="118" y="52"/>
                  </a:cubicBezTo>
                  <a:cubicBezTo>
                    <a:pt x="118" y="54"/>
                    <a:pt x="116" y="55"/>
                    <a:pt x="116" y="56"/>
                  </a:cubicBezTo>
                </a:path>
              </a:pathLst>
            </a:custGeom>
            <a:solidFill>
              <a:srgbClr val="FCFCF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5"/>
            <p:cNvSpPr/>
            <p:nvPr/>
          </p:nvSpPr>
          <p:spPr>
            <a:xfrm>
              <a:off x="10905262" y="3599919"/>
              <a:ext cx="96054" cy="72041"/>
            </a:xfrm>
            <a:custGeom>
              <a:rect b="b" l="l" r="r" t="t"/>
              <a:pathLst>
                <a:path extrusionOk="0" h="18" w="24">
                  <a:moveTo>
                    <a:pt x="2" y="18"/>
                  </a:moveTo>
                  <a:lnTo>
                    <a:pt x="24" y="3"/>
                  </a:lnTo>
                  <a:lnTo>
                    <a:pt x="22" y="0"/>
                  </a:lnTo>
                  <a:lnTo>
                    <a:pt x="0" y="15"/>
                  </a:lnTo>
                  <a:lnTo>
                    <a:pt x="2" y="18"/>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5"/>
            <p:cNvSpPr/>
            <p:nvPr/>
          </p:nvSpPr>
          <p:spPr>
            <a:xfrm>
              <a:off x="10809208" y="3523878"/>
              <a:ext cx="24014" cy="104059"/>
            </a:xfrm>
            <a:custGeom>
              <a:rect b="b" l="l" r="r" t="t"/>
              <a:pathLst>
                <a:path extrusionOk="0" h="26" w="6">
                  <a:moveTo>
                    <a:pt x="6" y="0"/>
                  </a:moveTo>
                  <a:lnTo>
                    <a:pt x="3" y="26"/>
                  </a:lnTo>
                  <a:lnTo>
                    <a:pt x="0" y="26"/>
                  </a:lnTo>
                  <a:lnTo>
                    <a:pt x="3" y="0"/>
                  </a:lnTo>
                  <a:lnTo>
                    <a:pt x="6" y="0"/>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5"/>
            <p:cNvSpPr/>
            <p:nvPr/>
          </p:nvSpPr>
          <p:spPr>
            <a:xfrm>
              <a:off x="10665126" y="3527879"/>
              <a:ext cx="52031" cy="108062"/>
            </a:xfrm>
            <a:custGeom>
              <a:rect b="b" l="l" r="r" t="t"/>
              <a:pathLst>
                <a:path extrusionOk="0" h="27" w="13">
                  <a:moveTo>
                    <a:pt x="10" y="27"/>
                  </a:moveTo>
                  <a:lnTo>
                    <a:pt x="13" y="26"/>
                  </a:lnTo>
                  <a:lnTo>
                    <a:pt x="4" y="0"/>
                  </a:lnTo>
                  <a:lnTo>
                    <a:pt x="0" y="1"/>
                  </a:lnTo>
                  <a:lnTo>
                    <a:pt x="10" y="27"/>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5"/>
            <p:cNvSpPr/>
            <p:nvPr/>
          </p:nvSpPr>
          <p:spPr>
            <a:xfrm>
              <a:off x="10533053" y="3627937"/>
              <a:ext cx="80045" cy="72041"/>
            </a:xfrm>
            <a:custGeom>
              <a:rect b="b" l="l" r="r" t="t"/>
              <a:pathLst>
                <a:path extrusionOk="0" h="18" w="20">
                  <a:moveTo>
                    <a:pt x="18" y="18"/>
                  </a:moveTo>
                  <a:lnTo>
                    <a:pt x="20" y="16"/>
                  </a:lnTo>
                  <a:lnTo>
                    <a:pt x="2" y="0"/>
                  </a:lnTo>
                  <a:lnTo>
                    <a:pt x="0" y="3"/>
                  </a:lnTo>
                  <a:lnTo>
                    <a:pt x="18" y="18"/>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5"/>
            <p:cNvSpPr/>
            <p:nvPr/>
          </p:nvSpPr>
          <p:spPr>
            <a:xfrm>
              <a:off x="10473018" y="3776019"/>
              <a:ext cx="72041" cy="36022"/>
            </a:xfrm>
            <a:custGeom>
              <a:rect b="b" l="l" r="r" t="t"/>
              <a:pathLst>
                <a:path extrusionOk="0" h="9" w="18">
                  <a:moveTo>
                    <a:pt x="17" y="9"/>
                  </a:moveTo>
                  <a:lnTo>
                    <a:pt x="18" y="6"/>
                  </a:lnTo>
                  <a:lnTo>
                    <a:pt x="0" y="0"/>
                  </a:lnTo>
                  <a:lnTo>
                    <a:pt x="0" y="4"/>
                  </a:lnTo>
                  <a:lnTo>
                    <a:pt x="17" y="9"/>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5"/>
            <p:cNvSpPr/>
            <p:nvPr/>
          </p:nvSpPr>
          <p:spPr>
            <a:xfrm>
              <a:off x="10961294" y="3723991"/>
              <a:ext cx="88050" cy="44026"/>
            </a:xfrm>
            <a:custGeom>
              <a:rect b="b" l="l" r="r" t="t"/>
              <a:pathLst>
                <a:path extrusionOk="0" h="11" w="22">
                  <a:moveTo>
                    <a:pt x="1" y="11"/>
                  </a:moveTo>
                  <a:lnTo>
                    <a:pt x="22" y="3"/>
                  </a:lnTo>
                  <a:lnTo>
                    <a:pt x="21" y="0"/>
                  </a:lnTo>
                  <a:lnTo>
                    <a:pt x="0" y="8"/>
                  </a:lnTo>
                  <a:lnTo>
                    <a:pt x="1" y="11"/>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5"/>
            <p:cNvSpPr/>
            <p:nvPr/>
          </p:nvSpPr>
          <p:spPr>
            <a:xfrm>
              <a:off x="10977303" y="3880078"/>
              <a:ext cx="72041" cy="36022"/>
            </a:xfrm>
            <a:custGeom>
              <a:rect b="b" l="l" r="r" t="t"/>
              <a:pathLst>
                <a:path extrusionOk="0" h="9" w="18">
                  <a:moveTo>
                    <a:pt x="16" y="9"/>
                  </a:moveTo>
                  <a:lnTo>
                    <a:pt x="18" y="6"/>
                  </a:lnTo>
                  <a:lnTo>
                    <a:pt x="1" y="0"/>
                  </a:lnTo>
                  <a:lnTo>
                    <a:pt x="0" y="4"/>
                  </a:lnTo>
                  <a:lnTo>
                    <a:pt x="16" y="9"/>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5"/>
            <p:cNvSpPr/>
            <p:nvPr/>
          </p:nvSpPr>
          <p:spPr>
            <a:xfrm>
              <a:off x="10485026" y="3892086"/>
              <a:ext cx="72041" cy="48027"/>
            </a:xfrm>
            <a:custGeom>
              <a:rect b="b" l="l" r="r" t="t"/>
              <a:pathLst>
                <a:path extrusionOk="0" h="12" w="18">
                  <a:moveTo>
                    <a:pt x="2" y="12"/>
                  </a:moveTo>
                  <a:lnTo>
                    <a:pt x="18" y="3"/>
                  </a:lnTo>
                  <a:lnTo>
                    <a:pt x="17" y="0"/>
                  </a:lnTo>
                  <a:lnTo>
                    <a:pt x="0" y="9"/>
                  </a:lnTo>
                  <a:lnTo>
                    <a:pt x="2" y="12"/>
                  </a:lnTo>
                  <a:close/>
                </a:path>
              </a:pathLst>
            </a:custGeom>
            <a:solidFill>
              <a:srgbClr val="F5A4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5"/>
            <p:cNvSpPr/>
            <p:nvPr/>
          </p:nvSpPr>
          <p:spPr>
            <a:xfrm>
              <a:off x="9108249" y="4128218"/>
              <a:ext cx="1508853" cy="1777003"/>
            </a:xfrm>
            <a:custGeom>
              <a:rect b="b" l="l" r="r" t="t"/>
              <a:pathLst>
                <a:path extrusionOk="0" h="1119" w="950">
                  <a:moveTo>
                    <a:pt x="774" y="704"/>
                  </a:moveTo>
                  <a:cubicBezTo>
                    <a:pt x="688" y="640"/>
                    <a:pt x="763" y="653"/>
                    <a:pt x="767" y="527"/>
                  </a:cubicBezTo>
                  <a:cubicBezTo>
                    <a:pt x="771" y="401"/>
                    <a:pt x="692" y="377"/>
                    <a:pt x="600" y="352"/>
                  </a:cubicBezTo>
                  <a:cubicBezTo>
                    <a:pt x="509" y="326"/>
                    <a:pt x="605" y="189"/>
                    <a:pt x="561" y="109"/>
                  </a:cubicBezTo>
                  <a:cubicBezTo>
                    <a:pt x="517" y="28"/>
                    <a:pt x="421" y="45"/>
                    <a:pt x="421" y="45"/>
                  </a:cubicBezTo>
                  <a:cubicBezTo>
                    <a:pt x="421" y="45"/>
                    <a:pt x="276" y="0"/>
                    <a:pt x="207" y="42"/>
                  </a:cubicBezTo>
                  <a:cubicBezTo>
                    <a:pt x="138" y="85"/>
                    <a:pt x="89" y="178"/>
                    <a:pt x="89" y="178"/>
                  </a:cubicBezTo>
                  <a:cubicBezTo>
                    <a:pt x="89" y="178"/>
                    <a:pt x="76" y="249"/>
                    <a:pt x="131" y="312"/>
                  </a:cubicBezTo>
                  <a:cubicBezTo>
                    <a:pt x="147" y="330"/>
                    <a:pt x="0" y="551"/>
                    <a:pt x="208" y="651"/>
                  </a:cubicBezTo>
                  <a:cubicBezTo>
                    <a:pt x="239" y="666"/>
                    <a:pt x="272" y="390"/>
                    <a:pt x="322" y="398"/>
                  </a:cubicBezTo>
                  <a:cubicBezTo>
                    <a:pt x="411" y="410"/>
                    <a:pt x="310" y="617"/>
                    <a:pt x="273" y="686"/>
                  </a:cubicBezTo>
                  <a:cubicBezTo>
                    <a:pt x="235" y="755"/>
                    <a:pt x="176" y="848"/>
                    <a:pt x="320" y="840"/>
                  </a:cubicBezTo>
                  <a:cubicBezTo>
                    <a:pt x="463" y="831"/>
                    <a:pt x="312" y="979"/>
                    <a:pt x="368" y="1040"/>
                  </a:cubicBezTo>
                  <a:cubicBezTo>
                    <a:pt x="424" y="1101"/>
                    <a:pt x="648" y="1119"/>
                    <a:pt x="799" y="1014"/>
                  </a:cubicBezTo>
                  <a:cubicBezTo>
                    <a:pt x="950" y="908"/>
                    <a:pt x="860" y="768"/>
                    <a:pt x="774" y="704"/>
                  </a:cubicBezTo>
                </a:path>
              </a:pathLst>
            </a:custGeom>
            <a:solidFill>
              <a:srgbClr val="2827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5"/>
            <p:cNvSpPr/>
            <p:nvPr/>
          </p:nvSpPr>
          <p:spPr>
            <a:xfrm>
              <a:off x="8319803" y="4592479"/>
              <a:ext cx="412234" cy="844478"/>
            </a:xfrm>
            <a:custGeom>
              <a:rect b="b" l="l" r="r" t="t"/>
              <a:pathLst>
                <a:path extrusionOk="0" h="533" w="259">
                  <a:moveTo>
                    <a:pt x="73" y="533"/>
                  </a:moveTo>
                  <a:lnTo>
                    <a:pt x="248" y="519"/>
                  </a:lnTo>
                  <a:cubicBezTo>
                    <a:pt x="230" y="451"/>
                    <a:pt x="216" y="393"/>
                    <a:pt x="210" y="362"/>
                  </a:cubicBezTo>
                  <a:cubicBezTo>
                    <a:pt x="210" y="362"/>
                    <a:pt x="251" y="271"/>
                    <a:pt x="258" y="225"/>
                  </a:cubicBezTo>
                  <a:cubicBezTo>
                    <a:pt x="259" y="217"/>
                    <a:pt x="256" y="210"/>
                    <a:pt x="250" y="205"/>
                  </a:cubicBezTo>
                  <a:lnTo>
                    <a:pt x="222" y="185"/>
                  </a:lnTo>
                  <a:cubicBezTo>
                    <a:pt x="222" y="185"/>
                    <a:pt x="214" y="101"/>
                    <a:pt x="211" y="88"/>
                  </a:cubicBezTo>
                  <a:cubicBezTo>
                    <a:pt x="209" y="75"/>
                    <a:pt x="163" y="0"/>
                    <a:pt x="153" y="2"/>
                  </a:cubicBezTo>
                  <a:cubicBezTo>
                    <a:pt x="134" y="6"/>
                    <a:pt x="173" y="96"/>
                    <a:pt x="173" y="102"/>
                  </a:cubicBezTo>
                  <a:cubicBezTo>
                    <a:pt x="174" y="107"/>
                    <a:pt x="164" y="138"/>
                    <a:pt x="164" y="138"/>
                  </a:cubicBezTo>
                  <a:cubicBezTo>
                    <a:pt x="164" y="138"/>
                    <a:pt x="146" y="130"/>
                    <a:pt x="140" y="126"/>
                  </a:cubicBezTo>
                  <a:cubicBezTo>
                    <a:pt x="134" y="123"/>
                    <a:pt x="123" y="135"/>
                    <a:pt x="123" y="135"/>
                  </a:cubicBezTo>
                  <a:cubicBezTo>
                    <a:pt x="123" y="135"/>
                    <a:pt x="117" y="124"/>
                    <a:pt x="106" y="123"/>
                  </a:cubicBezTo>
                  <a:cubicBezTo>
                    <a:pt x="95" y="122"/>
                    <a:pt x="83" y="145"/>
                    <a:pt x="83" y="145"/>
                  </a:cubicBezTo>
                  <a:cubicBezTo>
                    <a:pt x="83" y="145"/>
                    <a:pt x="68" y="132"/>
                    <a:pt x="62" y="134"/>
                  </a:cubicBezTo>
                  <a:cubicBezTo>
                    <a:pt x="56" y="136"/>
                    <a:pt x="0" y="226"/>
                    <a:pt x="4" y="232"/>
                  </a:cubicBezTo>
                  <a:cubicBezTo>
                    <a:pt x="8" y="239"/>
                    <a:pt x="30" y="230"/>
                    <a:pt x="30" y="230"/>
                  </a:cubicBezTo>
                  <a:lnTo>
                    <a:pt x="21" y="266"/>
                  </a:lnTo>
                  <a:cubicBezTo>
                    <a:pt x="18" y="323"/>
                    <a:pt x="56" y="389"/>
                    <a:pt x="56" y="389"/>
                  </a:cubicBezTo>
                  <a:cubicBezTo>
                    <a:pt x="56" y="389"/>
                    <a:pt x="62" y="447"/>
                    <a:pt x="73" y="533"/>
                  </a:cubicBezTo>
                </a:path>
              </a:pathLst>
            </a:custGeom>
            <a:solidFill>
              <a:srgbClr val="F49F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5"/>
            <p:cNvSpPr/>
            <p:nvPr/>
          </p:nvSpPr>
          <p:spPr>
            <a:xfrm>
              <a:off x="8535925" y="4840619"/>
              <a:ext cx="192108" cy="188107"/>
            </a:xfrm>
            <a:custGeom>
              <a:rect b="b" l="l" r="r" t="t"/>
              <a:pathLst>
                <a:path extrusionOk="0" h="120" w="121">
                  <a:moveTo>
                    <a:pt x="117" y="52"/>
                  </a:moveTo>
                  <a:cubicBezTo>
                    <a:pt x="86" y="31"/>
                    <a:pt x="52" y="13"/>
                    <a:pt x="16" y="0"/>
                  </a:cubicBezTo>
                  <a:lnTo>
                    <a:pt x="13" y="1"/>
                  </a:lnTo>
                  <a:cubicBezTo>
                    <a:pt x="0" y="18"/>
                    <a:pt x="14" y="35"/>
                    <a:pt x="28" y="46"/>
                  </a:cubicBezTo>
                  <a:cubicBezTo>
                    <a:pt x="34" y="51"/>
                    <a:pt x="37" y="55"/>
                    <a:pt x="33" y="63"/>
                  </a:cubicBezTo>
                  <a:cubicBezTo>
                    <a:pt x="29" y="68"/>
                    <a:pt x="25" y="74"/>
                    <a:pt x="22" y="79"/>
                  </a:cubicBezTo>
                  <a:cubicBezTo>
                    <a:pt x="14" y="90"/>
                    <a:pt x="7" y="101"/>
                    <a:pt x="6" y="114"/>
                  </a:cubicBezTo>
                  <a:cubicBezTo>
                    <a:pt x="5" y="118"/>
                    <a:pt x="11" y="120"/>
                    <a:pt x="12" y="116"/>
                  </a:cubicBezTo>
                  <a:cubicBezTo>
                    <a:pt x="15" y="95"/>
                    <a:pt x="29" y="81"/>
                    <a:pt x="39" y="64"/>
                  </a:cubicBezTo>
                  <a:cubicBezTo>
                    <a:pt x="47" y="51"/>
                    <a:pt x="39" y="48"/>
                    <a:pt x="29" y="39"/>
                  </a:cubicBezTo>
                  <a:cubicBezTo>
                    <a:pt x="25" y="36"/>
                    <a:pt x="21" y="32"/>
                    <a:pt x="18" y="28"/>
                  </a:cubicBezTo>
                  <a:cubicBezTo>
                    <a:pt x="15" y="23"/>
                    <a:pt x="11" y="11"/>
                    <a:pt x="20" y="8"/>
                  </a:cubicBezTo>
                  <a:cubicBezTo>
                    <a:pt x="23" y="7"/>
                    <a:pt x="36" y="15"/>
                    <a:pt x="40" y="17"/>
                  </a:cubicBezTo>
                  <a:cubicBezTo>
                    <a:pt x="46" y="19"/>
                    <a:pt x="51" y="21"/>
                    <a:pt x="56" y="24"/>
                  </a:cubicBezTo>
                  <a:cubicBezTo>
                    <a:pt x="77" y="34"/>
                    <a:pt x="96" y="45"/>
                    <a:pt x="114" y="58"/>
                  </a:cubicBezTo>
                  <a:cubicBezTo>
                    <a:pt x="117" y="60"/>
                    <a:pt x="121" y="54"/>
                    <a:pt x="117" y="52"/>
                  </a:cubicBezTo>
                  <a:close/>
                </a:path>
              </a:pathLst>
            </a:custGeom>
            <a:solidFill>
              <a:srgbClr val="D9716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5"/>
            <p:cNvSpPr/>
            <p:nvPr/>
          </p:nvSpPr>
          <p:spPr>
            <a:xfrm>
              <a:off x="8343816" y="5052740"/>
              <a:ext cx="2633486" cy="1332753"/>
            </a:xfrm>
            <a:custGeom>
              <a:rect b="b" l="l" r="r" t="t"/>
              <a:pathLst>
                <a:path extrusionOk="0" h="841" w="1658">
                  <a:moveTo>
                    <a:pt x="905" y="14"/>
                  </a:moveTo>
                  <a:cubicBezTo>
                    <a:pt x="905" y="14"/>
                    <a:pt x="1179" y="0"/>
                    <a:pt x="1294" y="132"/>
                  </a:cubicBezTo>
                  <a:cubicBezTo>
                    <a:pt x="1409" y="265"/>
                    <a:pt x="1658" y="809"/>
                    <a:pt x="1531" y="824"/>
                  </a:cubicBezTo>
                  <a:cubicBezTo>
                    <a:pt x="1383" y="841"/>
                    <a:pt x="1051" y="822"/>
                    <a:pt x="1062" y="832"/>
                  </a:cubicBezTo>
                  <a:lnTo>
                    <a:pt x="241" y="823"/>
                  </a:lnTo>
                  <a:cubicBezTo>
                    <a:pt x="241" y="823"/>
                    <a:pt x="0" y="528"/>
                    <a:pt x="0" y="518"/>
                  </a:cubicBezTo>
                  <a:cubicBezTo>
                    <a:pt x="0" y="508"/>
                    <a:pt x="17" y="323"/>
                    <a:pt x="17" y="323"/>
                  </a:cubicBezTo>
                  <a:lnTo>
                    <a:pt x="0" y="156"/>
                  </a:lnTo>
                  <a:cubicBezTo>
                    <a:pt x="0" y="156"/>
                    <a:pt x="162" y="121"/>
                    <a:pt x="248" y="129"/>
                  </a:cubicBezTo>
                  <a:cubicBezTo>
                    <a:pt x="248" y="129"/>
                    <a:pt x="259" y="296"/>
                    <a:pt x="247" y="352"/>
                  </a:cubicBezTo>
                  <a:lnTo>
                    <a:pt x="264" y="323"/>
                  </a:lnTo>
                  <a:cubicBezTo>
                    <a:pt x="264" y="323"/>
                    <a:pt x="412" y="82"/>
                    <a:pt x="677" y="55"/>
                  </a:cubicBezTo>
                  <a:lnTo>
                    <a:pt x="690" y="95"/>
                  </a:lnTo>
                  <a:lnTo>
                    <a:pt x="812" y="67"/>
                  </a:lnTo>
                  <a:lnTo>
                    <a:pt x="861" y="45"/>
                  </a:lnTo>
                  <a:lnTo>
                    <a:pt x="905" y="14"/>
                  </a:lnTo>
                </a:path>
              </a:pathLst>
            </a:custGeom>
            <a:solidFill>
              <a:srgbClr val="F35C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5"/>
            <p:cNvSpPr/>
            <p:nvPr/>
          </p:nvSpPr>
          <p:spPr>
            <a:xfrm>
              <a:off x="10148836" y="5488985"/>
              <a:ext cx="252144" cy="520294"/>
            </a:xfrm>
            <a:custGeom>
              <a:rect b="b" l="l" r="r" t="t"/>
              <a:pathLst>
                <a:path extrusionOk="0" h="328" w="159">
                  <a:moveTo>
                    <a:pt x="0" y="3"/>
                  </a:moveTo>
                  <a:cubicBezTo>
                    <a:pt x="2" y="57"/>
                    <a:pt x="19" y="119"/>
                    <a:pt x="48" y="179"/>
                  </a:cubicBezTo>
                  <a:cubicBezTo>
                    <a:pt x="74" y="232"/>
                    <a:pt x="110" y="284"/>
                    <a:pt x="155" y="328"/>
                  </a:cubicBezTo>
                  <a:lnTo>
                    <a:pt x="159" y="328"/>
                  </a:lnTo>
                  <a:lnTo>
                    <a:pt x="159" y="324"/>
                  </a:lnTo>
                  <a:cubicBezTo>
                    <a:pt x="115" y="280"/>
                    <a:pt x="79" y="229"/>
                    <a:pt x="53" y="177"/>
                  </a:cubicBezTo>
                  <a:cubicBezTo>
                    <a:pt x="24" y="117"/>
                    <a:pt x="8" y="56"/>
                    <a:pt x="6" y="3"/>
                  </a:cubicBezTo>
                  <a:cubicBezTo>
                    <a:pt x="6" y="1"/>
                    <a:pt x="5" y="0"/>
                    <a:pt x="3" y="0"/>
                  </a:cubicBezTo>
                  <a:cubicBezTo>
                    <a:pt x="2" y="0"/>
                    <a:pt x="0" y="1"/>
                    <a:pt x="0" y="3"/>
                  </a:cubicBezTo>
                  <a:close/>
                </a:path>
              </a:pathLst>
            </a:custGeom>
            <a:solidFill>
              <a:srgbClr val="2A3F8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5"/>
            <p:cNvSpPr/>
            <p:nvPr/>
          </p:nvSpPr>
          <p:spPr>
            <a:xfrm>
              <a:off x="8956163" y="5484984"/>
              <a:ext cx="252144" cy="524297"/>
            </a:xfrm>
            <a:custGeom>
              <a:rect b="b" l="l" r="r" t="t"/>
              <a:pathLst>
                <a:path extrusionOk="0" h="329" w="158">
                  <a:moveTo>
                    <a:pt x="152" y="3"/>
                  </a:moveTo>
                  <a:cubicBezTo>
                    <a:pt x="151" y="57"/>
                    <a:pt x="134" y="118"/>
                    <a:pt x="105" y="177"/>
                  </a:cubicBezTo>
                  <a:cubicBezTo>
                    <a:pt x="79" y="230"/>
                    <a:pt x="44" y="281"/>
                    <a:pt x="0" y="325"/>
                  </a:cubicBezTo>
                  <a:lnTo>
                    <a:pt x="0" y="329"/>
                  </a:lnTo>
                  <a:lnTo>
                    <a:pt x="4" y="329"/>
                  </a:lnTo>
                  <a:cubicBezTo>
                    <a:pt x="48" y="285"/>
                    <a:pt x="84" y="233"/>
                    <a:pt x="110" y="180"/>
                  </a:cubicBezTo>
                  <a:cubicBezTo>
                    <a:pt x="140" y="120"/>
                    <a:pt x="157" y="58"/>
                    <a:pt x="158" y="3"/>
                  </a:cubicBezTo>
                  <a:cubicBezTo>
                    <a:pt x="158" y="2"/>
                    <a:pt x="157" y="0"/>
                    <a:pt x="155" y="0"/>
                  </a:cubicBezTo>
                  <a:cubicBezTo>
                    <a:pt x="154" y="0"/>
                    <a:pt x="152" y="2"/>
                    <a:pt x="152" y="3"/>
                  </a:cubicBezTo>
                  <a:close/>
                </a:path>
              </a:pathLst>
            </a:custGeom>
            <a:solidFill>
              <a:srgbClr val="2A3F8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5"/>
            <p:cNvSpPr/>
            <p:nvPr/>
          </p:nvSpPr>
          <p:spPr>
            <a:xfrm>
              <a:off x="10008756" y="6001274"/>
              <a:ext cx="588333" cy="108062"/>
            </a:xfrm>
            <a:custGeom>
              <a:rect b="b" l="l" r="r" t="t"/>
              <a:pathLst>
                <a:path extrusionOk="0" h="68" w="369">
                  <a:moveTo>
                    <a:pt x="367" y="25"/>
                  </a:moveTo>
                  <a:cubicBezTo>
                    <a:pt x="299" y="3"/>
                    <a:pt x="238" y="0"/>
                    <a:pt x="181" y="8"/>
                  </a:cubicBezTo>
                  <a:cubicBezTo>
                    <a:pt x="119" y="17"/>
                    <a:pt x="61" y="39"/>
                    <a:pt x="2" y="63"/>
                  </a:cubicBezTo>
                  <a:lnTo>
                    <a:pt x="0" y="66"/>
                  </a:lnTo>
                  <a:lnTo>
                    <a:pt x="4" y="68"/>
                  </a:lnTo>
                  <a:cubicBezTo>
                    <a:pt x="62" y="44"/>
                    <a:pt x="120" y="23"/>
                    <a:pt x="182" y="14"/>
                  </a:cubicBezTo>
                  <a:cubicBezTo>
                    <a:pt x="238" y="6"/>
                    <a:pt x="298" y="9"/>
                    <a:pt x="365" y="31"/>
                  </a:cubicBezTo>
                  <a:lnTo>
                    <a:pt x="369" y="29"/>
                  </a:lnTo>
                  <a:lnTo>
                    <a:pt x="367" y="25"/>
                  </a:lnTo>
                  <a:close/>
                </a:path>
              </a:pathLst>
            </a:custGeom>
            <a:solidFill>
              <a:srgbClr val="2A3F8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5"/>
            <p:cNvSpPr/>
            <p:nvPr/>
          </p:nvSpPr>
          <p:spPr>
            <a:xfrm>
              <a:off x="9512476" y="6009279"/>
              <a:ext cx="536303" cy="364207"/>
            </a:xfrm>
            <a:custGeom>
              <a:rect b="b" l="l" r="r" t="t"/>
              <a:pathLst>
                <a:path extrusionOk="0" h="228" w="338">
                  <a:moveTo>
                    <a:pt x="302" y="228"/>
                  </a:moveTo>
                  <a:lnTo>
                    <a:pt x="327" y="228"/>
                  </a:lnTo>
                  <a:cubicBezTo>
                    <a:pt x="327" y="228"/>
                    <a:pt x="338" y="130"/>
                    <a:pt x="315" y="60"/>
                  </a:cubicBezTo>
                  <a:lnTo>
                    <a:pt x="302" y="63"/>
                  </a:lnTo>
                  <a:cubicBezTo>
                    <a:pt x="302" y="63"/>
                    <a:pt x="255" y="0"/>
                    <a:pt x="162" y="0"/>
                  </a:cubicBezTo>
                  <a:cubicBezTo>
                    <a:pt x="86" y="0"/>
                    <a:pt x="26" y="63"/>
                    <a:pt x="7" y="85"/>
                  </a:cubicBezTo>
                  <a:cubicBezTo>
                    <a:pt x="3" y="91"/>
                    <a:pt x="0" y="98"/>
                    <a:pt x="0" y="105"/>
                  </a:cubicBezTo>
                  <a:cubicBezTo>
                    <a:pt x="0" y="128"/>
                    <a:pt x="10" y="177"/>
                    <a:pt x="90" y="195"/>
                  </a:cubicBezTo>
                  <a:cubicBezTo>
                    <a:pt x="195" y="220"/>
                    <a:pt x="302" y="228"/>
                    <a:pt x="302" y="228"/>
                  </a:cubicBezTo>
                </a:path>
              </a:pathLst>
            </a:custGeom>
            <a:solidFill>
              <a:srgbClr val="F49F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5"/>
            <p:cNvSpPr/>
            <p:nvPr/>
          </p:nvSpPr>
          <p:spPr>
            <a:xfrm>
              <a:off x="9340380" y="5056741"/>
              <a:ext cx="460261" cy="196112"/>
            </a:xfrm>
            <a:custGeom>
              <a:rect b="b" l="l" r="r" t="t"/>
              <a:pathLst>
                <a:path extrusionOk="0" h="124" w="290">
                  <a:moveTo>
                    <a:pt x="97" y="14"/>
                  </a:moveTo>
                  <a:lnTo>
                    <a:pt x="47" y="32"/>
                  </a:lnTo>
                  <a:cubicBezTo>
                    <a:pt x="47" y="32"/>
                    <a:pt x="0" y="104"/>
                    <a:pt x="78" y="113"/>
                  </a:cubicBezTo>
                  <a:cubicBezTo>
                    <a:pt x="172" y="124"/>
                    <a:pt x="245" y="88"/>
                    <a:pt x="290" y="12"/>
                  </a:cubicBezTo>
                  <a:lnTo>
                    <a:pt x="210" y="0"/>
                  </a:lnTo>
                  <a:lnTo>
                    <a:pt x="97" y="14"/>
                  </a:lnTo>
                  <a:close/>
                </a:path>
              </a:pathLst>
            </a:custGeom>
            <a:solidFill>
              <a:srgbClr val="F798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5"/>
            <p:cNvSpPr/>
            <p:nvPr/>
          </p:nvSpPr>
          <p:spPr>
            <a:xfrm>
              <a:off x="9408417" y="4720552"/>
              <a:ext cx="328185" cy="508288"/>
            </a:xfrm>
            <a:custGeom>
              <a:rect b="b" l="l" r="r" t="t"/>
              <a:pathLst>
                <a:path extrusionOk="0" h="319" w="207">
                  <a:moveTo>
                    <a:pt x="30" y="6"/>
                  </a:moveTo>
                  <a:lnTo>
                    <a:pt x="20" y="218"/>
                  </a:lnTo>
                  <a:cubicBezTo>
                    <a:pt x="0" y="287"/>
                    <a:pt x="46" y="319"/>
                    <a:pt x="88" y="307"/>
                  </a:cubicBezTo>
                  <a:cubicBezTo>
                    <a:pt x="130" y="294"/>
                    <a:pt x="207" y="219"/>
                    <a:pt x="207" y="219"/>
                  </a:cubicBezTo>
                  <a:lnTo>
                    <a:pt x="196" y="0"/>
                  </a:lnTo>
                  <a:lnTo>
                    <a:pt x="30" y="6"/>
                  </a:lnTo>
                </a:path>
              </a:pathLst>
            </a:custGeom>
            <a:solidFill>
              <a:srgbClr val="F798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5"/>
            <p:cNvSpPr/>
            <p:nvPr/>
          </p:nvSpPr>
          <p:spPr>
            <a:xfrm>
              <a:off x="9444439" y="4804600"/>
              <a:ext cx="256145" cy="232131"/>
            </a:xfrm>
            <a:custGeom>
              <a:rect b="b" l="l" r="r" t="t"/>
              <a:pathLst>
                <a:path extrusionOk="0" h="148" w="163">
                  <a:moveTo>
                    <a:pt x="0" y="120"/>
                  </a:moveTo>
                  <a:cubicBezTo>
                    <a:pt x="162" y="148"/>
                    <a:pt x="163" y="29"/>
                    <a:pt x="163" y="29"/>
                  </a:cubicBezTo>
                  <a:lnTo>
                    <a:pt x="5" y="0"/>
                  </a:lnTo>
                  <a:lnTo>
                    <a:pt x="0" y="120"/>
                  </a:lnTo>
                  <a:close/>
                </a:path>
              </a:pathLst>
            </a:custGeom>
            <a:solidFill>
              <a:srgbClr val="E6556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5"/>
            <p:cNvSpPr/>
            <p:nvPr/>
          </p:nvSpPr>
          <p:spPr>
            <a:xfrm>
              <a:off x="9348385" y="4348343"/>
              <a:ext cx="532302" cy="584330"/>
            </a:xfrm>
            <a:custGeom>
              <a:rect b="b" l="l" r="r" t="t"/>
              <a:pathLst>
                <a:path extrusionOk="0" h="368" w="335">
                  <a:moveTo>
                    <a:pt x="273" y="169"/>
                  </a:moveTo>
                  <a:cubicBezTo>
                    <a:pt x="273" y="170"/>
                    <a:pt x="269" y="174"/>
                    <a:pt x="265" y="173"/>
                  </a:cubicBezTo>
                  <a:cubicBezTo>
                    <a:pt x="262" y="173"/>
                    <a:pt x="259" y="171"/>
                    <a:pt x="256" y="167"/>
                  </a:cubicBezTo>
                  <a:cubicBezTo>
                    <a:pt x="248" y="156"/>
                    <a:pt x="249" y="110"/>
                    <a:pt x="241" y="106"/>
                  </a:cubicBezTo>
                  <a:cubicBezTo>
                    <a:pt x="232" y="103"/>
                    <a:pt x="200" y="111"/>
                    <a:pt x="135" y="66"/>
                  </a:cubicBezTo>
                  <a:cubicBezTo>
                    <a:pt x="70" y="21"/>
                    <a:pt x="74" y="0"/>
                    <a:pt x="74" y="0"/>
                  </a:cubicBezTo>
                  <a:lnTo>
                    <a:pt x="61" y="10"/>
                  </a:lnTo>
                  <a:cubicBezTo>
                    <a:pt x="48" y="20"/>
                    <a:pt x="15" y="52"/>
                    <a:pt x="15" y="52"/>
                  </a:cubicBezTo>
                  <a:cubicBezTo>
                    <a:pt x="15" y="52"/>
                    <a:pt x="0" y="130"/>
                    <a:pt x="1" y="204"/>
                  </a:cubicBezTo>
                  <a:cubicBezTo>
                    <a:pt x="1" y="215"/>
                    <a:pt x="1" y="226"/>
                    <a:pt x="2" y="237"/>
                  </a:cubicBezTo>
                  <a:cubicBezTo>
                    <a:pt x="6" y="277"/>
                    <a:pt x="10" y="308"/>
                    <a:pt x="35" y="327"/>
                  </a:cubicBezTo>
                  <a:cubicBezTo>
                    <a:pt x="58" y="344"/>
                    <a:pt x="80" y="352"/>
                    <a:pt x="99" y="356"/>
                  </a:cubicBezTo>
                  <a:cubicBezTo>
                    <a:pt x="100" y="356"/>
                    <a:pt x="158" y="368"/>
                    <a:pt x="201" y="341"/>
                  </a:cubicBezTo>
                  <a:cubicBezTo>
                    <a:pt x="245" y="314"/>
                    <a:pt x="280" y="247"/>
                    <a:pt x="280" y="247"/>
                  </a:cubicBezTo>
                  <a:cubicBezTo>
                    <a:pt x="280" y="247"/>
                    <a:pt x="311" y="246"/>
                    <a:pt x="323" y="224"/>
                  </a:cubicBezTo>
                  <a:cubicBezTo>
                    <a:pt x="328" y="215"/>
                    <a:pt x="335" y="192"/>
                    <a:pt x="314" y="168"/>
                  </a:cubicBezTo>
                  <a:cubicBezTo>
                    <a:pt x="299" y="150"/>
                    <a:pt x="282" y="154"/>
                    <a:pt x="273" y="169"/>
                  </a:cubicBezTo>
                </a:path>
              </a:pathLst>
            </a:custGeom>
            <a:solidFill>
              <a:srgbClr val="F798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5"/>
            <p:cNvSpPr/>
            <p:nvPr/>
          </p:nvSpPr>
          <p:spPr>
            <a:xfrm>
              <a:off x="9780628" y="4624498"/>
              <a:ext cx="60035" cy="92053"/>
            </a:xfrm>
            <a:custGeom>
              <a:rect b="b" l="l" r="r" t="t"/>
              <a:pathLst>
                <a:path extrusionOk="0" h="57" w="37">
                  <a:moveTo>
                    <a:pt x="31" y="1"/>
                  </a:moveTo>
                  <a:cubicBezTo>
                    <a:pt x="2" y="8"/>
                    <a:pt x="0" y="38"/>
                    <a:pt x="3" y="53"/>
                  </a:cubicBezTo>
                  <a:cubicBezTo>
                    <a:pt x="4" y="55"/>
                    <a:pt x="5" y="57"/>
                    <a:pt x="7" y="57"/>
                  </a:cubicBezTo>
                  <a:lnTo>
                    <a:pt x="8" y="57"/>
                  </a:lnTo>
                  <a:cubicBezTo>
                    <a:pt x="11" y="56"/>
                    <a:pt x="12" y="54"/>
                    <a:pt x="12" y="52"/>
                  </a:cubicBezTo>
                  <a:cubicBezTo>
                    <a:pt x="11" y="50"/>
                    <a:pt x="5" y="16"/>
                    <a:pt x="33" y="9"/>
                  </a:cubicBezTo>
                  <a:cubicBezTo>
                    <a:pt x="35" y="9"/>
                    <a:pt x="37" y="6"/>
                    <a:pt x="36" y="4"/>
                  </a:cubicBezTo>
                  <a:cubicBezTo>
                    <a:pt x="36" y="2"/>
                    <a:pt x="33" y="0"/>
                    <a:pt x="31" y="1"/>
                  </a:cubicBezTo>
                </a:path>
              </a:pathLst>
            </a:custGeom>
            <a:solidFill>
              <a:srgbClr val="E6556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5"/>
            <p:cNvSpPr/>
            <p:nvPr/>
          </p:nvSpPr>
          <p:spPr>
            <a:xfrm>
              <a:off x="9784629" y="4648511"/>
              <a:ext cx="60035" cy="36022"/>
            </a:xfrm>
            <a:custGeom>
              <a:rect b="b" l="l" r="r" t="t"/>
              <a:pathLst>
                <a:path extrusionOk="0" h="24" w="39">
                  <a:moveTo>
                    <a:pt x="2" y="16"/>
                  </a:moveTo>
                  <a:cubicBezTo>
                    <a:pt x="1" y="17"/>
                    <a:pt x="0" y="20"/>
                    <a:pt x="1" y="22"/>
                  </a:cubicBezTo>
                  <a:lnTo>
                    <a:pt x="4" y="24"/>
                  </a:lnTo>
                  <a:lnTo>
                    <a:pt x="7" y="23"/>
                  </a:lnTo>
                  <a:cubicBezTo>
                    <a:pt x="23" y="12"/>
                    <a:pt x="30" y="21"/>
                    <a:pt x="31" y="22"/>
                  </a:cubicBezTo>
                  <a:cubicBezTo>
                    <a:pt x="32" y="24"/>
                    <a:pt x="35" y="24"/>
                    <a:pt x="37" y="23"/>
                  </a:cubicBezTo>
                  <a:cubicBezTo>
                    <a:pt x="38" y="21"/>
                    <a:pt x="39" y="19"/>
                    <a:pt x="37" y="17"/>
                  </a:cubicBezTo>
                  <a:cubicBezTo>
                    <a:pt x="37" y="17"/>
                    <a:pt x="25" y="0"/>
                    <a:pt x="2" y="16"/>
                  </a:cubicBezTo>
                  <a:close/>
                </a:path>
              </a:pathLst>
            </a:custGeom>
            <a:solidFill>
              <a:srgbClr val="E6556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5"/>
            <p:cNvSpPr/>
            <p:nvPr/>
          </p:nvSpPr>
          <p:spPr>
            <a:xfrm>
              <a:off x="9444439" y="4752570"/>
              <a:ext cx="144081" cy="80045"/>
            </a:xfrm>
            <a:custGeom>
              <a:rect b="b" l="l" r="r" t="t"/>
              <a:pathLst>
                <a:path extrusionOk="0" h="52" w="92">
                  <a:moveTo>
                    <a:pt x="0" y="3"/>
                  </a:moveTo>
                  <a:lnTo>
                    <a:pt x="92" y="0"/>
                  </a:lnTo>
                  <a:cubicBezTo>
                    <a:pt x="92" y="0"/>
                    <a:pt x="49" y="52"/>
                    <a:pt x="0" y="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5"/>
            <p:cNvSpPr/>
            <p:nvPr/>
          </p:nvSpPr>
          <p:spPr>
            <a:xfrm>
              <a:off x="9452443" y="4624498"/>
              <a:ext cx="52031" cy="72041"/>
            </a:xfrm>
            <a:custGeom>
              <a:rect b="b" l="l" r="r" t="t"/>
              <a:pathLst>
                <a:path extrusionOk="0" h="44" w="33">
                  <a:moveTo>
                    <a:pt x="22" y="4"/>
                  </a:moveTo>
                  <a:lnTo>
                    <a:pt x="18" y="0"/>
                  </a:lnTo>
                  <a:cubicBezTo>
                    <a:pt x="15" y="3"/>
                    <a:pt x="0" y="21"/>
                    <a:pt x="3" y="31"/>
                  </a:cubicBezTo>
                  <a:cubicBezTo>
                    <a:pt x="3" y="33"/>
                    <a:pt x="5" y="35"/>
                    <a:pt x="7" y="36"/>
                  </a:cubicBezTo>
                  <a:cubicBezTo>
                    <a:pt x="17" y="43"/>
                    <a:pt x="33" y="44"/>
                    <a:pt x="33" y="44"/>
                  </a:cubicBezTo>
                  <a:lnTo>
                    <a:pt x="32" y="39"/>
                  </a:lnTo>
                  <a:cubicBezTo>
                    <a:pt x="32" y="39"/>
                    <a:pt x="18" y="38"/>
                    <a:pt x="8" y="32"/>
                  </a:cubicBezTo>
                  <a:lnTo>
                    <a:pt x="7" y="31"/>
                  </a:lnTo>
                  <a:cubicBezTo>
                    <a:pt x="6" y="25"/>
                    <a:pt x="15" y="12"/>
                    <a:pt x="22" y="4"/>
                  </a:cubicBezTo>
                </a:path>
              </a:pathLst>
            </a:custGeom>
            <a:solidFill>
              <a:srgbClr val="27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5"/>
            <p:cNvSpPr/>
            <p:nvPr/>
          </p:nvSpPr>
          <p:spPr>
            <a:xfrm>
              <a:off x="9380403" y="4564465"/>
              <a:ext cx="44026" cy="52031"/>
            </a:xfrm>
            <a:custGeom>
              <a:rect b="b" l="l" r="r" t="t"/>
              <a:pathLst>
                <a:path extrusionOk="0" h="34" w="26">
                  <a:moveTo>
                    <a:pt x="26" y="18"/>
                  </a:moveTo>
                  <a:cubicBezTo>
                    <a:pt x="25" y="27"/>
                    <a:pt x="19" y="34"/>
                    <a:pt x="12" y="33"/>
                  </a:cubicBezTo>
                  <a:cubicBezTo>
                    <a:pt x="5" y="33"/>
                    <a:pt x="0" y="25"/>
                    <a:pt x="0" y="16"/>
                  </a:cubicBezTo>
                  <a:cubicBezTo>
                    <a:pt x="1" y="7"/>
                    <a:pt x="7" y="0"/>
                    <a:pt x="14" y="1"/>
                  </a:cubicBezTo>
                  <a:cubicBezTo>
                    <a:pt x="21" y="2"/>
                    <a:pt x="26" y="9"/>
                    <a:pt x="26" y="18"/>
                  </a:cubicBezTo>
                  <a:close/>
                </a:path>
              </a:pathLst>
            </a:custGeom>
            <a:solidFill>
              <a:srgbClr val="2928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5"/>
            <p:cNvSpPr/>
            <p:nvPr/>
          </p:nvSpPr>
          <p:spPr>
            <a:xfrm>
              <a:off x="9560503" y="4568466"/>
              <a:ext cx="52031" cy="56032"/>
            </a:xfrm>
            <a:custGeom>
              <a:rect b="b" l="l" r="r" t="t"/>
              <a:pathLst>
                <a:path extrusionOk="0" h="34" w="34">
                  <a:moveTo>
                    <a:pt x="33" y="18"/>
                  </a:moveTo>
                  <a:cubicBezTo>
                    <a:pt x="33" y="27"/>
                    <a:pt x="25" y="34"/>
                    <a:pt x="16" y="33"/>
                  </a:cubicBezTo>
                  <a:cubicBezTo>
                    <a:pt x="7" y="32"/>
                    <a:pt x="0" y="25"/>
                    <a:pt x="1" y="16"/>
                  </a:cubicBezTo>
                  <a:cubicBezTo>
                    <a:pt x="2" y="7"/>
                    <a:pt x="10" y="0"/>
                    <a:pt x="19" y="1"/>
                  </a:cubicBezTo>
                  <a:cubicBezTo>
                    <a:pt x="27" y="2"/>
                    <a:pt x="34" y="9"/>
                    <a:pt x="33" y="18"/>
                  </a:cubicBezTo>
                  <a:close/>
                </a:path>
              </a:pathLst>
            </a:custGeom>
            <a:solidFill>
              <a:srgbClr val="2928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5"/>
            <p:cNvSpPr/>
            <p:nvPr/>
          </p:nvSpPr>
          <p:spPr>
            <a:xfrm>
              <a:off x="9548497" y="4468411"/>
              <a:ext cx="96054" cy="80045"/>
            </a:xfrm>
            <a:custGeom>
              <a:rect b="b" l="l" r="r" t="t"/>
              <a:pathLst>
                <a:path extrusionOk="0" h="50" w="60">
                  <a:moveTo>
                    <a:pt x="60" y="50"/>
                  </a:moveTo>
                  <a:lnTo>
                    <a:pt x="0" y="45"/>
                  </a:lnTo>
                  <a:cubicBezTo>
                    <a:pt x="0" y="45"/>
                    <a:pt x="32" y="0"/>
                    <a:pt x="60" y="50"/>
                  </a:cubicBezTo>
                  <a:close/>
                </a:path>
              </a:pathLst>
            </a:custGeom>
            <a:solidFill>
              <a:srgbClr val="28181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5"/>
            <p:cNvSpPr/>
            <p:nvPr/>
          </p:nvSpPr>
          <p:spPr>
            <a:xfrm>
              <a:off x="9372398" y="4464407"/>
              <a:ext cx="60035" cy="76044"/>
            </a:xfrm>
            <a:custGeom>
              <a:rect b="b" l="l" r="r" t="t"/>
              <a:pathLst>
                <a:path extrusionOk="0" h="50" w="38">
                  <a:moveTo>
                    <a:pt x="38" y="50"/>
                  </a:moveTo>
                  <a:lnTo>
                    <a:pt x="0" y="46"/>
                  </a:lnTo>
                  <a:cubicBezTo>
                    <a:pt x="0" y="46"/>
                    <a:pt x="22" y="0"/>
                    <a:pt x="38" y="50"/>
                  </a:cubicBezTo>
                  <a:close/>
                </a:path>
              </a:pathLst>
            </a:custGeom>
            <a:solidFill>
              <a:srgbClr val="28181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5"/>
            <p:cNvSpPr/>
            <p:nvPr/>
          </p:nvSpPr>
          <p:spPr>
            <a:xfrm>
              <a:off x="9332375" y="4488421"/>
              <a:ext cx="140080" cy="180103"/>
            </a:xfrm>
            <a:custGeom>
              <a:rect b="b" l="l" r="r" t="t"/>
              <a:pathLst>
                <a:path extrusionOk="0" h="113" w="88">
                  <a:moveTo>
                    <a:pt x="51" y="2"/>
                  </a:moveTo>
                  <a:cubicBezTo>
                    <a:pt x="60" y="4"/>
                    <a:pt x="69" y="8"/>
                    <a:pt x="75" y="17"/>
                  </a:cubicBezTo>
                  <a:cubicBezTo>
                    <a:pt x="84" y="28"/>
                    <a:pt x="88" y="44"/>
                    <a:pt x="86" y="61"/>
                  </a:cubicBezTo>
                  <a:cubicBezTo>
                    <a:pt x="83" y="91"/>
                    <a:pt x="61" y="113"/>
                    <a:pt x="38" y="110"/>
                  </a:cubicBezTo>
                  <a:cubicBezTo>
                    <a:pt x="35" y="110"/>
                    <a:pt x="32" y="109"/>
                    <a:pt x="30" y="108"/>
                  </a:cubicBezTo>
                  <a:cubicBezTo>
                    <a:pt x="24" y="106"/>
                    <a:pt x="18" y="101"/>
                    <a:pt x="14" y="96"/>
                  </a:cubicBezTo>
                  <a:cubicBezTo>
                    <a:pt x="5" y="84"/>
                    <a:pt x="0" y="68"/>
                    <a:pt x="3" y="51"/>
                  </a:cubicBezTo>
                  <a:cubicBezTo>
                    <a:pt x="6" y="21"/>
                    <a:pt x="28" y="0"/>
                    <a:pt x="51" y="2"/>
                  </a:cubicBezTo>
                  <a:close/>
                  <a:moveTo>
                    <a:pt x="9" y="52"/>
                  </a:moveTo>
                  <a:cubicBezTo>
                    <a:pt x="7" y="67"/>
                    <a:pt x="10" y="82"/>
                    <a:pt x="18" y="92"/>
                  </a:cubicBezTo>
                  <a:cubicBezTo>
                    <a:pt x="24" y="99"/>
                    <a:pt x="31" y="103"/>
                    <a:pt x="39" y="104"/>
                  </a:cubicBezTo>
                  <a:cubicBezTo>
                    <a:pt x="58" y="106"/>
                    <a:pt x="77" y="87"/>
                    <a:pt x="80" y="60"/>
                  </a:cubicBezTo>
                  <a:lnTo>
                    <a:pt x="83" y="61"/>
                  </a:lnTo>
                  <a:lnTo>
                    <a:pt x="80" y="60"/>
                  </a:lnTo>
                  <a:cubicBezTo>
                    <a:pt x="82" y="45"/>
                    <a:pt x="79" y="31"/>
                    <a:pt x="70" y="21"/>
                  </a:cubicBezTo>
                  <a:cubicBezTo>
                    <a:pt x="65" y="14"/>
                    <a:pt x="58" y="9"/>
                    <a:pt x="50" y="9"/>
                  </a:cubicBezTo>
                  <a:cubicBezTo>
                    <a:pt x="31" y="6"/>
                    <a:pt x="12" y="26"/>
                    <a:pt x="9" y="52"/>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5"/>
            <p:cNvSpPr/>
            <p:nvPr/>
          </p:nvSpPr>
          <p:spPr>
            <a:xfrm>
              <a:off x="9500470" y="4516438"/>
              <a:ext cx="160090" cy="180103"/>
            </a:xfrm>
            <a:custGeom>
              <a:rect b="b" l="l" r="r" t="t"/>
              <a:pathLst>
                <a:path extrusionOk="0" h="114" w="99">
                  <a:moveTo>
                    <a:pt x="56" y="3"/>
                  </a:moveTo>
                  <a:cubicBezTo>
                    <a:pt x="67" y="5"/>
                    <a:pt x="78" y="11"/>
                    <a:pt x="85" y="20"/>
                  </a:cubicBezTo>
                  <a:cubicBezTo>
                    <a:pt x="94" y="32"/>
                    <a:pt x="99" y="47"/>
                    <a:pt x="97" y="63"/>
                  </a:cubicBezTo>
                  <a:cubicBezTo>
                    <a:pt x="93" y="93"/>
                    <a:pt x="69" y="114"/>
                    <a:pt x="43" y="111"/>
                  </a:cubicBezTo>
                  <a:cubicBezTo>
                    <a:pt x="39" y="111"/>
                    <a:pt x="36" y="110"/>
                    <a:pt x="32" y="109"/>
                  </a:cubicBezTo>
                  <a:cubicBezTo>
                    <a:pt x="25" y="106"/>
                    <a:pt x="18" y="101"/>
                    <a:pt x="13" y="94"/>
                  </a:cubicBezTo>
                  <a:cubicBezTo>
                    <a:pt x="4" y="83"/>
                    <a:pt x="0" y="67"/>
                    <a:pt x="2" y="51"/>
                  </a:cubicBezTo>
                  <a:cubicBezTo>
                    <a:pt x="5" y="22"/>
                    <a:pt x="30" y="0"/>
                    <a:pt x="56" y="3"/>
                  </a:cubicBezTo>
                  <a:close/>
                  <a:moveTo>
                    <a:pt x="8" y="52"/>
                  </a:moveTo>
                  <a:cubicBezTo>
                    <a:pt x="7" y="66"/>
                    <a:pt x="10" y="80"/>
                    <a:pt x="18" y="90"/>
                  </a:cubicBezTo>
                  <a:cubicBezTo>
                    <a:pt x="25" y="98"/>
                    <a:pt x="34" y="103"/>
                    <a:pt x="43" y="105"/>
                  </a:cubicBezTo>
                  <a:cubicBezTo>
                    <a:pt x="66" y="107"/>
                    <a:pt x="87" y="88"/>
                    <a:pt x="90" y="62"/>
                  </a:cubicBezTo>
                  <a:cubicBezTo>
                    <a:pt x="92" y="48"/>
                    <a:pt x="88" y="34"/>
                    <a:pt x="80" y="24"/>
                  </a:cubicBezTo>
                  <a:cubicBezTo>
                    <a:pt x="76" y="19"/>
                    <a:pt x="70" y="14"/>
                    <a:pt x="64" y="12"/>
                  </a:cubicBezTo>
                  <a:cubicBezTo>
                    <a:pt x="61" y="11"/>
                    <a:pt x="58" y="10"/>
                    <a:pt x="55" y="10"/>
                  </a:cubicBezTo>
                  <a:cubicBezTo>
                    <a:pt x="32" y="7"/>
                    <a:pt x="11" y="26"/>
                    <a:pt x="8" y="52"/>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5"/>
            <p:cNvSpPr/>
            <p:nvPr/>
          </p:nvSpPr>
          <p:spPr>
            <a:xfrm>
              <a:off x="9648553" y="4596483"/>
              <a:ext cx="156089" cy="24014"/>
            </a:xfrm>
            <a:custGeom>
              <a:rect b="b" l="l" r="r" t="t"/>
              <a:pathLst>
                <a:path extrusionOk="0" h="15" w="97">
                  <a:moveTo>
                    <a:pt x="4" y="15"/>
                  </a:moveTo>
                  <a:lnTo>
                    <a:pt x="94" y="8"/>
                  </a:lnTo>
                  <a:cubicBezTo>
                    <a:pt x="96" y="8"/>
                    <a:pt x="97" y="6"/>
                    <a:pt x="97" y="4"/>
                  </a:cubicBezTo>
                  <a:cubicBezTo>
                    <a:pt x="97" y="2"/>
                    <a:pt x="95" y="0"/>
                    <a:pt x="93" y="0"/>
                  </a:cubicBezTo>
                  <a:lnTo>
                    <a:pt x="3" y="7"/>
                  </a:lnTo>
                  <a:cubicBezTo>
                    <a:pt x="1" y="7"/>
                    <a:pt x="0" y="9"/>
                    <a:pt x="0" y="11"/>
                  </a:cubicBezTo>
                  <a:cubicBezTo>
                    <a:pt x="0" y="13"/>
                    <a:pt x="2" y="15"/>
                    <a:pt x="4" y="15"/>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5"/>
            <p:cNvSpPr/>
            <p:nvPr/>
          </p:nvSpPr>
          <p:spPr>
            <a:xfrm>
              <a:off x="9460448" y="4564465"/>
              <a:ext cx="60035" cy="16009"/>
            </a:xfrm>
            <a:custGeom>
              <a:rect b="b" l="l" r="r" t="t"/>
              <a:pathLst>
                <a:path extrusionOk="0" h="11" w="36">
                  <a:moveTo>
                    <a:pt x="1" y="8"/>
                  </a:moveTo>
                  <a:lnTo>
                    <a:pt x="33" y="11"/>
                  </a:lnTo>
                  <a:cubicBezTo>
                    <a:pt x="34" y="11"/>
                    <a:pt x="35" y="10"/>
                    <a:pt x="35" y="8"/>
                  </a:cubicBezTo>
                  <a:cubicBezTo>
                    <a:pt x="36" y="6"/>
                    <a:pt x="36" y="4"/>
                    <a:pt x="35" y="4"/>
                  </a:cubicBezTo>
                  <a:lnTo>
                    <a:pt x="3" y="0"/>
                  </a:lnTo>
                  <a:cubicBezTo>
                    <a:pt x="2" y="0"/>
                    <a:pt x="1" y="2"/>
                    <a:pt x="1" y="4"/>
                  </a:cubicBezTo>
                  <a:cubicBezTo>
                    <a:pt x="0" y="6"/>
                    <a:pt x="0" y="8"/>
                    <a:pt x="1" y="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5"/>
            <p:cNvSpPr/>
            <p:nvPr/>
          </p:nvSpPr>
          <p:spPr>
            <a:xfrm>
              <a:off x="7835531" y="5472976"/>
              <a:ext cx="1424804" cy="896506"/>
            </a:xfrm>
            <a:custGeom>
              <a:rect b="b" l="l" r="r" t="t"/>
              <a:pathLst>
                <a:path extrusionOk="0" h="564" w="897">
                  <a:moveTo>
                    <a:pt x="745" y="68"/>
                  </a:moveTo>
                  <a:cubicBezTo>
                    <a:pt x="733" y="30"/>
                    <a:pt x="694" y="0"/>
                    <a:pt x="659" y="0"/>
                  </a:cubicBezTo>
                  <a:lnTo>
                    <a:pt x="54" y="0"/>
                  </a:lnTo>
                  <a:cubicBezTo>
                    <a:pt x="19" y="0"/>
                    <a:pt x="0" y="30"/>
                    <a:pt x="13" y="68"/>
                  </a:cubicBezTo>
                  <a:lnTo>
                    <a:pt x="153" y="497"/>
                  </a:lnTo>
                  <a:cubicBezTo>
                    <a:pt x="165" y="534"/>
                    <a:pt x="203" y="564"/>
                    <a:pt x="239" y="564"/>
                  </a:cubicBezTo>
                  <a:lnTo>
                    <a:pt x="843" y="564"/>
                  </a:lnTo>
                  <a:cubicBezTo>
                    <a:pt x="878" y="564"/>
                    <a:pt x="897" y="534"/>
                    <a:pt x="885" y="497"/>
                  </a:cubicBezTo>
                  <a:lnTo>
                    <a:pt x="745" y="68"/>
                  </a:ln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5"/>
            <p:cNvSpPr/>
            <p:nvPr/>
          </p:nvSpPr>
          <p:spPr>
            <a:xfrm>
              <a:off x="8419860" y="5837183"/>
              <a:ext cx="112063" cy="120068"/>
            </a:xfrm>
            <a:prstGeom prst="ellipse">
              <a:avLst/>
            </a:prstGeom>
            <a:solidFill>
              <a:srgbClr val="1B161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5"/>
            <p:cNvSpPr/>
            <p:nvPr/>
          </p:nvSpPr>
          <p:spPr>
            <a:xfrm>
              <a:off x="7767491" y="6029291"/>
              <a:ext cx="184104" cy="196112"/>
            </a:xfrm>
            <a:custGeom>
              <a:rect b="b" l="l" r="r" t="t"/>
              <a:pathLst>
                <a:path extrusionOk="0" h="123" w="117">
                  <a:moveTo>
                    <a:pt x="117" y="70"/>
                  </a:moveTo>
                  <a:lnTo>
                    <a:pt x="117" y="53"/>
                  </a:lnTo>
                  <a:cubicBezTo>
                    <a:pt x="117" y="24"/>
                    <a:pt x="94" y="0"/>
                    <a:pt x="65" y="0"/>
                  </a:cubicBezTo>
                  <a:lnTo>
                    <a:pt x="0" y="0"/>
                  </a:lnTo>
                  <a:lnTo>
                    <a:pt x="0" y="123"/>
                  </a:lnTo>
                  <a:lnTo>
                    <a:pt x="65" y="123"/>
                  </a:lnTo>
                  <a:cubicBezTo>
                    <a:pt x="94" y="123"/>
                    <a:pt x="117" y="100"/>
                    <a:pt x="117" y="70"/>
                  </a:cubicBezTo>
                  <a:close/>
                  <a:moveTo>
                    <a:pt x="21" y="21"/>
                  </a:moveTo>
                  <a:lnTo>
                    <a:pt x="65" y="21"/>
                  </a:lnTo>
                  <a:cubicBezTo>
                    <a:pt x="82" y="21"/>
                    <a:pt x="97" y="35"/>
                    <a:pt x="97" y="53"/>
                  </a:cubicBezTo>
                  <a:lnTo>
                    <a:pt x="97" y="70"/>
                  </a:lnTo>
                  <a:cubicBezTo>
                    <a:pt x="97" y="88"/>
                    <a:pt x="82" y="103"/>
                    <a:pt x="65" y="103"/>
                  </a:cubicBezTo>
                  <a:lnTo>
                    <a:pt x="21" y="103"/>
                  </a:lnTo>
                  <a:lnTo>
                    <a:pt x="21" y="21"/>
                  </a:lnTo>
                  <a:close/>
                </a:path>
              </a:pathLst>
            </a:custGeom>
            <a:solidFill>
              <a:srgbClr val="7E95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5"/>
            <p:cNvSpPr/>
            <p:nvPr/>
          </p:nvSpPr>
          <p:spPr>
            <a:xfrm>
              <a:off x="7435305" y="5981264"/>
              <a:ext cx="404229" cy="388220"/>
            </a:xfrm>
            <a:custGeom>
              <a:rect b="b" l="l" r="r" t="t"/>
              <a:pathLst>
                <a:path extrusionOk="0" h="245" w="255">
                  <a:moveTo>
                    <a:pt x="170" y="245"/>
                  </a:moveTo>
                  <a:lnTo>
                    <a:pt x="85" y="245"/>
                  </a:lnTo>
                  <a:cubicBezTo>
                    <a:pt x="38" y="245"/>
                    <a:pt x="0" y="207"/>
                    <a:pt x="0" y="160"/>
                  </a:cubicBezTo>
                  <a:lnTo>
                    <a:pt x="0" y="0"/>
                  </a:lnTo>
                  <a:lnTo>
                    <a:pt x="255" y="0"/>
                  </a:lnTo>
                  <a:lnTo>
                    <a:pt x="255" y="160"/>
                  </a:lnTo>
                  <a:cubicBezTo>
                    <a:pt x="255" y="207"/>
                    <a:pt x="217" y="245"/>
                    <a:pt x="170" y="245"/>
                  </a:cubicBezTo>
                </a:path>
              </a:pathLst>
            </a:custGeom>
            <a:solidFill>
              <a:srgbClr val="F35C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5"/>
            <p:cNvSpPr/>
            <p:nvPr/>
          </p:nvSpPr>
          <p:spPr>
            <a:xfrm>
              <a:off x="7731472" y="5981264"/>
              <a:ext cx="12008" cy="132076"/>
            </a:xfrm>
            <a:prstGeom prst="rect">
              <a:avLst/>
            </a:prstGeom>
            <a:solidFill>
              <a:srgbClr val="7E95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5"/>
            <p:cNvSpPr/>
            <p:nvPr/>
          </p:nvSpPr>
          <p:spPr>
            <a:xfrm>
              <a:off x="7691449" y="6101332"/>
              <a:ext cx="92053" cy="11606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5"/>
            <p:cNvSpPr/>
            <p:nvPr/>
          </p:nvSpPr>
          <p:spPr>
            <a:xfrm>
              <a:off x="7867549" y="2999581"/>
              <a:ext cx="1364771" cy="1140645"/>
            </a:xfrm>
            <a:custGeom>
              <a:rect b="b" l="l" r="r" t="t"/>
              <a:pathLst>
                <a:path extrusionOk="0" h="720" w="858">
                  <a:moveTo>
                    <a:pt x="853" y="720"/>
                  </a:moveTo>
                  <a:lnTo>
                    <a:pt x="5" y="720"/>
                  </a:lnTo>
                  <a:cubicBezTo>
                    <a:pt x="2" y="720"/>
                    <a:pt x="0" y="717"/>
                    <a:pt x="0" y="714"/>
                  </a:cubicBezTo>
                  <a:lnTo>
                    <a:pt x="0" y="5"/>
                  </a:lnTo>
                  <a:cubicBezTo>
                    <a:pt x="0" y="2"/>
                    <a:pt x="2" y="0"/>
                    <a:pt x="5" y="0"/>
                  </a:cubicBezTo>
                  <a:cubicBezTo>
                    <a:pt x="8" y="0"/>
                    <a:pt x="11" y="2"/>
                    <a:pt x="11" y="5"/>
                  </a:cubicBezTo>
                  <a:lnTo>
                    <a:pt x="11" y="708"/>
                  </a:lnTo>
                  <a:lnTo>
                    <a:pt x="853" y="708"/>
                  </a:lnTo>
                  <a:cubicBezTo>
                    <a:pt x="856" y="708"/>
                    <a:pt x="858" y="711"/>
                    <a:pt x="858" y="714"/>
                  </a:cubicBezTo>
                  <a:cubicBezTo>
                    <a:pt x="858" y="717"/>
                    <a:pt x="856" y="720"/>
                    <a:pt x="853" y="72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5"/>
            <p:cNvSpPr/>
            <p:nvPr/>
          </p:nvSpPr>
          <p:spPr>
            <a:xfrm>
              <a:off x="7875553" y="3071621"/>
              <a:ext cx="1348762" cy="1064601"/>
            </a:xfrm>
            <a:custGeom>
              <a:rect b="b" l="l" r="r" t="t"/>
              <a:pathLst>
                <a:path extrusionOk="0" h="671" w="848">
                  <a:moveTo>
                    <a:pt x="82" y="164"/>
                  </a:moveTo>
                  <a:lnTo>
                    <a:pt x="163" y="164"/>
                  </a:lnTo>
                  <a:lnTo>
                    <a:pt x="163" y="84"/>
                  </a:lnTo>
                  <a:lnTo>
                    <a:pt x="82" y="84"/>
                  </a:lnTo>
                  <a:lnTo>
                    <a:pt x="82" y="164"/>
                  </a:lnTo>
                  <a:close/>
                  <a:moveTo>
                    <a:pt x="167" y="164"/>
                  </a:moveTo>
                  <a:lnTo>
                    <a:pt x="246" y="164"/>
                  </a:lnTo>
                  <a:lnTo>
                    <a:pt x="246" y="84"/>
                  </a:lnTo>
                  <a:lnTo>
                    <a:pt x="167" y="84"/>
                  </a:lnTo>
                  <a:lnTo>
                    <a:pt x="167" y="164"/>
                  </a:lnTo>
                  <a:close/>
                  <a:moveTo>
                    <a:pt x="250" y="164"/>
                  </a:moveTo>
                  <a:lnTo>
                    <a:pt x="331" y="164"/>
                  </a:lnTo>
                  <a:lnTo>
                    <a:pt x="331" y="84"/>
                  </a:lnTo>
                  <a:lnTo>
                    <a:pt x="250" y="84"/>
                  </a:lnTo>
                  <a:lnTo>
                    <a:pt x="250" y="164"/>
                  </a:lnTo>
                  <a:close/>
                  <a:moveTo>
                    <a:pt x="335" y="164"/>
                  </a:moveTo>
                  <a:lnTo>
                    <a:pt x="418" y="164"/>
                  </a:lnTo>
                  <a:lnTo>
                    <a:pt x="418" y="84"/>
                  </a:lnTo>
                  <a:lnTo>
                    <a:pt x="335" y="84"/>
                  </a:lnTo>
                  <a:lnTo>
                    <a:pt x="335" y="164"/>
                  </a:lnTo>
                  <a:close/>
                  <a:moveTo>
                    <a:pt x="422" y="164"/>
                  </a:moveTo>
                  <a:lnTo>
                    <a:pt x="503" y="164"/>
                  </a:lnTo>
                  <a:lnTo>
                    <a:pt x="503" y="84"/>
                  </a:lnTo>
                  <a:lnTo>
                    <a:pt x="422" y="84"/>
                  </a:lnTo>
                  <a:lnTo>
                    <a:pt x="422" y="164"/>
                  </a:lnTo>
                  <a:close/>
                  <a:moveTo>
                    <a:pt x="507" y="164"/>
                  </a:moveTo>
                  <a:lnTo>
                    <a:pt x="588" y="164"/>
                  </a:lnTo>
                  <a:lnTo>
                    <a:pt x="588" y="84"/>
                  </a:lnTo>
                  <a:lnTo>
                    <a:pt x="507" y="84"/>
                  </a:lnTo>
                  <a:lnTo>
                    <a:pt x="507" y="164"/>
                  </a:lnTo>
                  <a:close/>
                  <a:moveTo>
                    <a:pt x="592" y="164"/>
                  </a:moveTo>
                  <a:lnTo>
                    <a:pt x="666" y="164"/>
                  </a:lnTo>
                  <a:lnTo>
                    <a:pt x="666" y="84"/>
                  </a:lnTo>
                  <a:lnTo>
                    <a:pt x="592" y="84"/>
                  </a:lnTo>
                  <a:lnTo>
                    <a:pt x="592" y="164"/>
                  </a:lnTo>
                  <a:close/>
                  <a:moveTo>
                    <a:pt x="671" y="164"/>
                  </a:moveTo>
                  <a:lnTo>
                    <a:pt x="751" y="164"/>
                  </a:lnTo>
                  <a:lnTo>
                    <a:pt x="751" y="84"/>
                  </a:lnTo>
                  <a:lnTo>
                    <a:pt x="671" y="84"/>
                  </a:lnTo>
                  <a:lnTo>
                    <a:pt x="671" y="164"/>
                  </a:lnTo>
                  <a:close/>
                  <a:moveTo>
                    <a:pt x="82" y="247"/>
                  </a:moveTo>
                  <a:lnTo>
                    <a:pt x="163" y="247"/>
                  </a:lnTo>
                  <a:lnTo>
                    <a:pt x="163" y="169"/>
                  </a:lnTo>
                  <a:lnTo>
                    <a:pt x="82" y="169"/>
                  </a:lnTo>
                  <a:lnTo>
                    <a:pt x="82" y="247"/>
                  </a:lnTo>
                  <a:close/>
                  <a:moveTo>
                    <a:pt x="167" y="247"/>
                  </a:moveTo>
                  <a:lnTo>
                    <a:pt x="246" y="247"/>
                  </a:lnTo>
                  <a:lnTo>
                    <a:pt x="246" y="169"/>
                  </a:lnTo>
                  <a:lnTo>
                    <a:pt x="167" y="169"/>
                  </a:lnTo>
                  <a:lnTo>
                    <a:pt x="167" y="247"/>
                  </a:lnTo>
                  <a:close/>
                  <a:moveTo>
                    <a:pt x="250" y="247"/>
                  </a:moveTo>
                  <a:lnTo>
                    <a:pt x="331" y="247"/>
                  </a:lnTo>
                  <a:lnTo>
                    <a:pt x="331" y="169"/>
                  </a:lnTo>
                  <a:lnTo>
                    <a:pt x="250" y="169"/>
                  </a:lnTo>
                  <a:lnTo>
                    <a:pt x="250" y="247"/>
                  </a:lnTo>
                  <a:close/>
                  <a:moveTo>
                    <a:pt x="335" y="247"/>
                  </a:moveTo>
                  <a:lnTo>
                    <a:pt x="418" y="247"/>
                  </a:lnTo>
                  <a:lnTo>
                    <a:pt x="418" y="169"/>
                  </a:lnTo>
                  <a:lnTo>
                    <a:pt x="335" y="169"/>
                  </a:lnTo>
                  <a:lnTo>
                    <a:pt x="335" y="247"/>
                  </a:lnTo>
                  <a:close/>
                  <a:moveTo>
                    <a:pt x="422" y="247"/>
                  </a:moveTo>
                  <a:lnTo>
                    <a:pt x="503" y="247"/>
                  </a:lnTo>
                  <a:lnTo>
                    <a:pt x="503" y="169"/>
                  </a:lnTo>
                  <a:lnTo>
                    <a:pt x="422" y="169"/>
                  </a:lnTo>
                  <a:lnTo>
                    <a:pt x="422" y="247"/>
                  </a:lnTo>
                  <a:close/>
                  <a:moveTo>
                    <a:pt x="507" y="247"/>
                  </a:moveTo>
                  <a:lnTo>
                    <a:pt x="588" y="247"/>
                  </a:lnTo>
                  <a:lnTo>
                    <a:pt x="588" y="169"/>
                  </a:lnTo>
                  <a:lnTo>
                    <a:pt x="507" y="169"/>
                  </a:lnTo>
                  <a:lnTo>
                    <a:pt x="507" y="247"/>
                  </a:lnTo>
                  <a:close/>
                  <a:moveTo>
                    <a:pt x="592" y="247"/>
                  </a:moveTo>
                  <a:lnTo>
                    <a:pt x="666" y="247"/>
                  </a:lnTo>
                  <a:lnTo>
                    <a:pt x="666" y="169"/>
                  </a:lnTo>
                  <a:lnTo>
                    <a:pt x="592" y="169"/>
                  </a:lnTo>
                  <a:lnTo>
                    <a:pt x="592" y="247"/>
                  </a:lnTo>
                  <a:close/>
                  <a:moveTo>
                    <a:pt x="671" y="247"/>
                  </a:moveTo>
                  <a:lnTo>
                    <a:pt x="751" y="247"/>
                  </a:lnTo>
                  <a:lnTo>
                    <a:pt x="751" y="169"/>
                  </a:lnTo>
                  <a:lnTo>
                    <a:pt x="671" y="169"/>
                  </a:lnTo>
                  <a:lnTo>
                    <a:pt x="671" y="247"/>
                  </a:lnTo>
                  <a:close/>
                  <a:moveTo>
                    <a:pt x="82" y="332"/>
                  </a:moveTo>
                  <a:lnTo>
                    <a:pt x="163" y="332"/>
                  </a:lnTo>
                  <a:lnTo>
                    <a:pt x="163" y="252"/>
                  </a:lnTo>
                  <a:lnTo>
                    <a:pt x="82" y="252"/>
                  </a:lnTo>
                  <a:lnTo>
                    <a:pt x="82" y="332"/>
                  </a:lnTo>
                  <a:close/>
                  <a:moveTo>
                    <a:pt x="167" y="332"/>
                  </a:moveTo>
                  <a:lnTo>
                    <a:pt x="246" y="332"/>
                  </a:lnTo>
                  <a:lnTo>
                    <a:pt x="246" y="252"/>
                  </a:lnTo>
                  <a:lnTo>
                    <a:pt x="167" y="252"/>
                  </a:lnTo>
                  <a:lnTo>
                    <a:pt x="167" y="332"/>
                  </a:lnTo>
                  <a:close/>
                  <a:moveTo>
                    <a:pt x="250" y="332"/>
                  </a:moveTo>
                  <a:lnTo>
                    <a:pt x="331" y="332"/>
                  </a:lnTo>
                  <a:lnTo>
                    <a:pt x="331" y="252"/>
                  </a:lnTo>
                  <a:lnTo>
                    <a:pt x="250" y="252"/>
                  </a:lnTo>
                  <a:lnTo>
                    <a:pt x="250" y="332"/>
                  </a:lnTo>
                  <a:close/>
                  <a:moveTo>
                    <a:pt x="335" y="332"/>
                  </a:moveTo>
                  <a:lnTo>
                    <a:pt x="418" y="332"/>
                  </a:lnTo>
                  <a:lnTo>
                    <a:pt x="418" y="252"/>
                  </a:lnTo>
                  <a:lnTo>
                    <a:pt x="335" y="252"/>
                  </a:lnTo>
                  <a:lnTo>
                    <a:pt x="335" y="332"/>
                  </a:lnTo>
                  <a:close/>
                  <a:moveTo>
                    <a:pt x="422" y="332"/>
                  </a:moveTo>
                  <a:lnTo>
                    <a:pt x="503" y="332"/>
                  </a:lnTo>
                  <a:lnTo>
                    <a:pt x="503" y="252"/>
                  </a:lnTo>
                  <a:lnTo>
                    <a:pt x="422" y="252"/>
                  </a:lnTo>
                  <a:lnTo>
                    <a:pt x="422" y="332"/>
                  </a:lnTo>
                  <a:close/>
                  <a:moveTo>
                    <a:pt x="507" y="332"/>
                  </a:moveTo>
                  <a:lnTo>
                    <a:pt x="588" y="332"/>
                  </a:lnTo>
                  <a:lnTo>
                    <a:pt x="588" y="252"/>
                  </a:lnTo>
                  <a:lnTo>
                    <a:pt x="507" y="252"/>
                  </a:lnTo>
                  <a:lnTo>
                    <a:pt x="507" y="332"/>
                  </a:lnTo>
                  <a:close/>
                  <a:moveTo>
                    <a:pt x="592" y="332"/>
                  </a:moveTo>
                  <a:lnTo>
                    <a:pt x="666" y="332"/>
                  </a:lnTo>
                  <a:lnTo>
                    <a:pt x="666" y="252"/>
                  </a:lnTo>
                  <a:lnTo>
                    <a:pt x="592" y="252"/>
                  </a:lnTo>
                  <a:lnTo>
                    <a:pt x="592" y="332"/>
                  </a:lnTo>
                  <a:close/>
                  <a:moveTo>
                    <a:pt x="671" y="332"/>
                  </a:moveTo>
                  <a:lnTo>
                    <a:pt x="751" y="332"/>
                  </a:lnTo>
                  <a:lnTo>
                    <a:pt x="751" y="252"/>
                  </a:lnTo>
                  <a:lnTo>
                    <a:pt x="671" y="252"/>
                  </a:lnTo>
                  <a:lnTo>
                    <a:pt x="671" y="332"/>
                  </a:lnTo>
                  <a:close/>
                  <a:moveTo>
                    <a:pt x="82" y="419"/>
                  </a:moveTo>
                  <a:lnTo>
                    <a:pt x="163" y="419"/>
                  </a:lnTo>
                  <a:lnTo>
                    <a:pt x="163" y="337"/>
                  </a:lnTo>
                  <a:lnTo>
                    <a:pt x="82" y="337"/>
                  </a:lnTo>
                  <a:lnTo>
                    <a:pt x="82" y="419"/>
                  </a:lnTo>
                  <a:close/>
                  <a:moveTo>
                    <a:pt x="167" y="419"/>
                  </a:moveTo>
                  <a:lnTo>
                    <a:pt x="246" y="419"/>
                  </a:lnTo>
                  <a:lnTo>
                    <a:pt x="246" y="337"/>
                  </a:lnTo>
                  <a:lnTo>
                    <a:pt x="167" y="337"/>
                  </a:lnTo>
                  <a:lnTo>
                    <a:pt x="167" y="419"/>
                  </a:lnTo>
                  <a:close/>
                  <a:moveTo>
                    <a:pt x="250" y="419"/>
                  </a:moveTo>
                  <a:lnTo>
                    <a:pt x="331" y="419"/>
                  </a:lnTo>
                  <a:lnTo>
                    <a:pt x="331" y="337"/>
                  </a:lnTo>
                  <a:lnTo>
                    <a:pt x="250" y="337"/>
                  </a:lnTo>
                  <a:lnTo>
                    <a:pt x="250" y="419"/>
                  </a:lnTo>
                  <a:close/>
                  <a:moveTo>
                    <a:pt x="335" y="419"/>
                  </a:moveTo>
                  <a:lnTo>
                    <a:pt x="418" y="419"/>
                  </a:lnTo>
                  <a:lnTo>
                    <a:pt x="418" y="337"/>
                  </a:lnTo>
                  <a:lnTo>
                    <a:pt x="335" y="337"/>
                  </a:lnTo>
                  <a:lnTo>
                    <a:pt x="335" y="419"/>
                  </a:lnTo>
                  <a:close/>
                  <a:moveTo>
                    <a:pt x="422" y="419"/>
                  </a:moveTo>
                  <a:lnTo>
                    <a:pt x="503" y="419"/>
                  </a:lnTo>
                  <a:lnTo>
                    <a:pt x="503" y="337"/>
                  </a:lnTo>
                  <a:lnTo>
                    <a:pt x="422" y="337"/>
                  </a:lnTo>
                  <a:lnTo>
                    <a:pt x="422" y="419"/>
                  </a:lnTo>
                  <a:close/>
                  <a:moveTo>
                    <a:pt x="507" y="419"/>
                  </a:moveTo>
                  <a:lnTo>
                    <a:pt x="588" y="419"/>
                  </a:lnTo>
                  <a:lnTo>
                    <a:pt x="588" y="337"/>
                  </a:lnTo>
                  <a:lnTo>
                    <a:pt x="507" y="337"/>
                  </a:lnTo>
                  <a:lnTo>
                    <a:pt x="507" y="419"/>
                  </a:lnTo>
                  <a:close/>
                  <a:moveTo>
                    <a:pt x="592" y="419"/>
                  </a:moveTo>
                  <a:lnTo>
                    <a:pt x="666" y="419"/>
                  </a:lnTo>
                  <a:lnTo>
                    <a:pt x="666" y="337"/>
                  </a:lnTo>
                  <a:lnTo>
                    <a:pt x="592" y="337"/>
                  </a:lnTo>
                  <a:lnTo>
                    <a:pt x="592" y="419"/>
                  </a:lnTo>
                  <a:close/>
                  <a:moveTo>
                    <a:pt x="671" y="419"/>
                  </a:moveTo>
                  <a:lnTo>
                    <a:pt x="751" y="419"/>
                  </a:lnTo>
                  <a:lnTo>
                    <a:pt x="751" y="337"/>
                  </a:lnTo>
                  <a:lnTo>
                    <a:pt x="671" y="337"/>
                  </a:lnTo>
                  <a:lnTo>
                    <a:pt x="671" y="419"/>
                  </a:lnTo>
                  <a:close/>
                  <a:moveTo>
                    <a:pt x="82" y="504"/>
                  </a:moveTo>
                  <a:lnTo>
                    <a:pt x="163" y="504"/>
                  </a:lnTo>
                  <a:lnTo>
                    <a:pt x="163" y="424"/>
                  </a:lnTo>
                  <a:lnTo>
                    <a:pt x="82" y="424"/>
                  </a:lnTo>
                  <a:lnTo>
                    <a:pt x="82" y="504"/>
                  </a:lnTo>
                  <a:close/>
                  <a:moveTo>
                    <a:pt x="167" y="504"/>
                  </a:moveTo>
                  <a:lnTo>
                    <a:pt x="246" y="504"/>
                  </a:lnTo>
                  <a:lnTo>
                    <a:pt x="246" y="424"/>
                  </a:lnTo>
                  <a:lnTo>
                    <a:pt x="167" y="424"/>
                  </a:lnTo>
                  <a:lnTo>
                    <a:pt x="167" y="504"/>
                  </a:lnTo>
                  <a:close/>
                  <a:moveTo>
                    <a:pt x="250" y="504"/>
                  </a:moveTo>
                  <a:lnTo>
                    <a:pt x="331" y="504"/>
                  </a:lnTo>
                  <a:lnTo>
                    <a:pt x="331" y="424"/>
                  </a:lnTo>
                  <a:lnTo>
                    <a:pt x="250" y="424"/>
                  </a:lnTo>
                  <a:lnTo>
                    <a:pt x="250" y="504"/>
                  </a:lnTo>
                  <a:close/>
                  <a:moveTo>
                    <a:pt x="335" y="504"/>
                  </a:moveTo>
                  <a:lnTo>
                    <a:pt x="418" y="504"/>
                  </a:lnTo>
                  <a:lnTo>
                    <a:pt x="418" y="424"/>
                  </a:lnTo>
                  <a:lnTo>
                    <a:pt x="335" y="424"/>
                  </a:lnTo>
                  <a:lnTo>
                    <a:pt x="335" y="504"/>
                  </a:lnTo>
                  <a:close/>
                  <a:moveTo>
                    <a:pt x="422" y="504"/>
                  </a:moveTo>
                  <a:lnTo>
                    <a:pt x="503" y="504"/>
                  </a:lnTo>
                  <a:lnTo>
                    <a:pt x="503" y="424"/>
                  </a:lnTo>
                  <a:lnTo>
                    <a:pt x="422" y="424"/>
                  </a:lnTo>
                  <a:lnTo>
                    <a:pt x="422" y="504"/>
                  </a:lnTo>
                  <a:close/>
                  <a:moveTo>
                    <a:pt x="507" y="504"/>
                  </a:moveTo>
                  <a:lnTo>
                    <a:pt x="588" y="504"/>
                  </a:lnTo>
                  <a:lnTo>
                    <a:pt x="588" y="424"/>
                  </a:lnTo>
                  <a:lnTo>
                    <a:pt x="507" y="424"/>
                  </a:lnTo>
                  <a:lnTo>
                    <a:pt x="507" y="504"/>
                  </a:lnTo>
                  <a:close/>
                  <a:moveTo>
                    <a:pt x="592" y="504"/>
                  </a:moveTo>
                  <a:lnTo>
                    <a:pt x="666" y="504"/>
                  </a:lnTo>
                  <a:lnTo>
                    <a:pt x="666" y="424"/>
                  </a:lnTo>
                  <a:lnTo>
                    <a:pt x="592" y="424"/>
                  </a:lnTo>
                  <a:lnTo>
                    <a:pt x="592" y="504"/>
                  </a:lnTo>
                  <a:close/>
                  <a:moveTo>
                    <a:pt x="671" y="504"/>
                  </a:moveTo>
                  <a:lnTo>
                    <a:pt x="751" y="504"/>
                  </a:lnTo>
                  <a:lnTo>
                    <a:pt x="751" y="424"/>
                  </a:lnTo>
                  <a:lnTo>
                    <a:pt x="671" y="424"/>
                  </a:lnTo>
                  <a:lnTo>
                    <a:pt x="671" y="504"/>
                  </a:lnTo>
                  <a:close/>
                  <a:moveTo>
                    <a:pt x="82" y="589"/>
                  </a:moveTo>
                  <a:lnTo>
                    <a:pt x="163" y="589"/>
                  </a:lnTo>
                  <a:lnTo>
                    <a:pt x="163" y="509"/>
                  </a:lnTo>
                  <a:lnTo>
                    <a:pt x="82" y="509"/>
                  </a:lnTo>
                  <a:lnTo>
                    <a:pt x="82" y="589"/>
                  </a:lnTo>
                  <a:close/>
                  <a:moveTo>
                    <a:pt x="167" y="589"/>
                  </a:moveTo>
                  <a:lnTo>
                    <a:pt x="246" y="589"/>
                  </a:lnTo>
                  <a:lnTo>
                    <a:pt x="246" y="509"/>
                  </a:lnTo>
                  <a:lnTo>
                    <a:pt x="167" y="509"/>
                  </a:lnTo>
                  <a:lnTo>
                    <a:pt x="167" y="589"/>
                  </a:lnTo>
                  <a:close/>
                  <a:moveTo>
                    <a:pt x="250" y="589"/>
                  </a:moveTo>
                  <a:lnTo>
                    <a:pt x="331" y="589"/>
                  </a:lnTo>
                  <a:lnTo>
                    <a:pt x="331" y="509"/>
                  </a:lnTo>
                  <a:lnTo>
                    <a:pt x="250" y="509"/>
                  </a:lnTo>
                  <a:lnTo>
                    <a:pt x="250" y="589"/>
                  </a:lnTo>
                  <a:close/>
                  <a:moveTo>
                    <a:pt x="335" y="589"/>
                  </a:moveTo>
                  <a:lnTo>
                    <a:pt x="418" y="589"/>
                  </a:lnTo>
                  <a:lnTo>
                    <a:pt x="418" y="509"/>
                  </a:lnTo>
                  <a:lnTo>
                    <a:pt x="335" y="509"/>
                  </a:lnTo>
                  <a:lnTo>
                    <a:pt x="335" y="589"/>
                  </a:lnTo>
                  <a:close/>
                  <a:moveTo>
                    <a:pt x="422" y="589"/>
                  </a:moveTo>
                  <a:lnTo>
                    <a:pt x="503" y="589"/>
                  </a:lnTo>
                  <a:lnTo>
                    <a:pt x="503" y="509"/>
                  </a:lnTo>
                  <a:lnTo>
                    <a:pt x="422" y="509"/>
                  </a:lnTo>
                  <a:lnTo>
                    <a:pt x="422" y="589"/>
                  </a:lnTo>
                  <a:close/>
                  <a:moveTo>
                    <a:pt x="507" y="589"/>
                  </a:moveTo>
                  <a:lnTo>
                    <a:pt x="588" y="589"/>
                  </a:lnTo>
                  <a:lnTo>
                    <a:pt x="588" y="509"/>
                  </a:lnTo>
                  <a:lnTo>
                    <a:pt x="507" y="509"/>
                  </a:lnTo>
                  <a:lnTo>
                    <a:pt x="507" y="589"/>
                  </a:lnTo>
                  <a:close/>
                  <a:moveTo>
                    <a:pt x="592" y="589"/>
                  </a:moveTo>
                  <a:lnTo>
                    <a:pt x="666" y="589"/>
                  </a:lnTo>
                  <a:lnTo>
                    <a:pt x="666" y="509"/>
                  </a:lnTo>
                  <a:lnTo>
                    <a:pt x="592" y="509"/>
                  </a:lnTo>
                  <a:lnTo>
                    <a:pt x="592" y="589"/>
                  </a:lnTo>
                  <a:close/>
                  <a:moveTo>
                    <a:pt x="671" y="589"/>
                  </a:moveTo>
                  <a:lnTo>
                    <a:pt x="751" y="589"/>
                  </a:lnTo>
                  <a:lnTo>
                    <a:pt x="751" y="509"/>
                  </a:lnTo>
                  <a:lnTo>
                    <a:pt x="671" y="509"/>
                  </a:lnTo>
                  <a:lnTo>
                    <a:pt x="671" y="589"/>
                  </a:lnTo>
                  <a:close/>
                  <a:moveTo>
                    <a:pt x="333" y="671"/>
                  </a:moveTo>
                  <a:lnTo>
                    <a:pt x="331" y="669"/>
                  </a:lnTo>
                  <a:lnTo>
                    <a:pt x="331" y="594"/>
                  </a:lnTo>
                  <a:lnTo>
                    <a:pt x="250" y="594"/>
                  </a:lnTo>
                  <a:lnTo>
                    <a:pt x="250" y="669"/>
                  </a:lnTo>
                  <a:lnTo>
                    <a:pt x="248" y="671"/>
                  </a:lnTo>
                  <a:lnTo>
                    <a:pt x="246" y="669"/>
                  </a:lnTo>
                  <a:lnTo>
                    <a:pt x="246" y="594"/>
                  </a:lnTo>
                  <a:lnTo>
                    <a:pt x="167" y="594"/>
                  </a:lnTo>
                  <a:lnTo>
                    <a:pt x="167" y="669"/>
                  </a:lnTo>
                  <a:lnTo>
                    <a:pt x="165" y="671"/>
                  </a:lnTo>
                  <a:lnTo>
                    <a:pt x="163" y="669"/>
                  </a:lnTo>
                  <a:lnTo>
                    <a:pt x="163" y="594"/>
                  </a:lnTo>
                  <a:lnTo>
                    <a:pt x="82" y="594"/>
                  </a:lnTo>
                  <a:lnTo>
                    <a:pt x="82" y="669"/>
                  </a:lnTo>
                  <a:lnTo>
                    <a:pt x="80" y="671"/>
                  </a:lnTo>
                  <a:lnTo>
                    <a:pt x="78" y="669"/>
                  </a:lnTo>
                  <a:lnTo>
                    <a:pt x="78" y="594"/>
                  </a:lnTo>
                  <a:lnTo>
                    <a:pt x="5" y="594"/>
                  </a:lnTo>
                  <a:lnTo>
                    <a:pt x="2" y="591"/>
                  </a:lnTo>
                  <a:lnTo>
                    <a:pt x="5" y="589"/>
                  </a:lnTo>
                  <a:lnTo>
                    <a:pt x="78" y="589"/>
                  </a:lnTo>
                  <a:lnTo>
                    <a:pt x="78" y="509"/>
                  </a:lnTo>
                  <a:lnTo>
                    <a:pt x="5" y="509"/>
                  </a:lnTo>
                  <a:lnTo>
                    <a:pt x="2" y="506"/>
                  </a:lnTo>
                  <a:lnTo>
                    <a:pt x="5" y="504"/>
                  </a:lnTo>
                  <a:lnTo>
                    <a:pt x="78" y="504"/>
                  </a:lnTo>
                  <a:lnTo>
                    <a:pt x="78" y="424"/>
                  </a:lnTo>
                  <a:lnTo>
                    <a:pt x="5" y="424"/>
                  </a:lnTo>
                  <a:lnTo>
                    <a:pt x="2" y="421"/>
                  </a:lnTo>
                  <a:lnTo>
                    <a:pt x="5" y="419"/>
                  </a:lnTo>
                  <a:lnTo>
                    <a:pt x="78" y="419"/>
                  </a:lnTo>
                  <a:lnTo>
                    <a:pt x="78" y="337"/>
                  </a:lnTo>
                  <a:lnTo>
                    <a:pt x="2" y="337"/>
                  </a:lnTo>
                  <a:lnTo>
                    <a:pt x="0" y="334"/>
                  </a:lnTo>
                  <a:lnTo>
                    <a:pt x="2" y="332"/>
                  </a:lnTo>
                  <a:lnTo>
                    <a:pt x="78" y="332"/>
                  </a:lnTo>
                  <a:lnTo>
                    <a:pt x="78" y="252"/>
                  </a:lnTo>
                  <a:lnTo>
                    <a:pt x="2" y="252"/>
                  </a:lnTo>
                  <a:lnTo>
                    <a:pt x="0" y="250"/>
                  </a:lnTo>
                  <a:lnTo>
                    <a:pt x="2" y="247"/>
                  </a:lnTo>
                  <a:lnTo>
                    <a:pt x="78" y="247"/>
                  </a:lnTo>
                  <a:lnTo>
                    <a:pt x="78" y="169"/>
                  </a:lnTo>
                  <a:lnTo>
                    <a:pt x="2" y="169"/>
                  </a:lnTo>
                  <a:lnTo>
                    <a:pt x="0" y="167"/>
                  </a:lnTo>
                  <a:lnTo>
                    <a:pt x="2" y="164"/>
                  </a:lnTo>
                  <a:lnTo>
                    <a:pt x="78" y="164"/>
                  </a:lnTo>
                  <a:lnTo>
                    <a:pt x="78" y="84"/>
                  </a:lnTo>
                  <a:lnTo>
                    <a:pt x="2" y="84"/>
                  </a:lnTo>
                  <a:lnTo>
                    <a:pt x="0" y="82"/>
                  </a:lnTo>
                  <a:lnTo>
                    <a:pt x="2" y="79"/>
                  </a:lnTo>
                  <a:lnTo>
                    <a:pt x="78" y="79"/>
                  </a:lnTo>
                  <a:lnTo>
                    <a:pt x="78" y="4"/>
                  </a:lnTo>
                  <a:lnTo>
                    <a:pt x="80" y="1"/>
                  </a:lnTo>
                  <a:lnTo>
                    <a:pt x="82" y="4"/>
                  </a:lnTo>
                  <a:lnTo>
                    <a:pt x="82" y="79"/>
                  </a:lnTo>
                  <a:lnTo>
                    <a:pt x="163" y="79"/>
                  </a:lnTo>
                  <a:lnTo>
                    <a:pt x="163" y="4"/>
                  </a:lnTo>
                  <a:lnTo>
                    <a:pt x="165" y="1"/>
                  </a:lnTo>
                  <a:lnTo>
                    <a:pt x="167" y="4"/>
                  </a:lnTo>
                  <a:lnTo>
                    <a:pt x="167" y="79"/>
                  </a:lnTo>
                  <a:lnTo>
                    <a:pt x="246" y="79"/>
                  </a:lnTo>
                  <a:lnTo>
                    <a:pt x="246" y="4"/>
                  </a:lnTo>
                  <a:lnTo>
                    <a:pt x="248" y="1"/>
                  </a:lnTo>
                  <a:lnTo>
                    <a:pt x="250" y="4"/>
                  </a:lnTo>
                  <a:lnTo>
                    <a:pt x="250" y="79"/>
                  </a:lnTo>
                  <a:lnTo>
                    <a:pt x="331" y="79"/>
                  </a:lnTo>
                  <a:lnTo>
                    <a:pt x="331" y="4"/>
                  </a:lnTo>
                  <a:lnTo>
                    <a:pt x="333" y="1"/>
                  </a:lnTo>
                  <a:lnTo>
                    <a:pt x="335" y="4"/>
                  </a:lnTo>
                  <a:lnTo>
                    <a:pt x="335" y="79"/>
                  </a:lnTo>
                  <a:lnTo>
                    <a:pt x="418" y="79"/>
                  </a:lnTo>
                  <a:lnTo>
                    <a:pt x="418" y="2"/>
                  </a:lnTo>
                  <a:lnTo>
                    <a:pt x="420" y="0"/>
                  </a:lnTo>
                  <a:lnTo>
                    <a:pt x="422" y="2"/>
                  </a:lnTo>
                  <a:lnTo>
                    <a:pt x="422" y="79"/>
                  </a:lnTo>
                  <a:lnTo>
                    <a:pt x="503" y="79"/>
                  </a:lnTo>
                  <a:lnTo>
                    <a:pt x="503" y="2"/>
                  </a:lnTo>
                  <a:lnTo>
                    <a:pt x="505" y="0"/>
                  </a:lnTo>
                  <a:lnTo>
                    <a:pt x="507" y="2"/>
                  </a:lnTo>
                  <a:lnTo>
                    <a:pt x="507" y="79"/>
                  </a:lnTo>
                  <a:lnTo>
                    <a:pt x="588" y="79"/>
                  </a:lnTo>
                  <a:lnTo>
                    <a:pt x="588" y="2"/>
                  </a:lnTo>
                  <a:lnTo>
                    <a:pt x="590" y="0"/>
                  </a:lnTo>
                  <a:lnTo>
                    <a:pt x="592" y="2"/>
                  </a:lnTo>
                  <a:lnTo>
                    <a:pt x="592" y="79"/>
                  </a:lnTo>
                  <a:lnTo>
                    <a:pt x="666" y="79"/>
                  </a:lnTo>
                  <a:lnTo>
                    <a:pt x="666" y="2"/>
                  </a:lnTo>
                  <a:lnTo>
                    <a:pt x="669" y="0"/>
                  </a:lnTo>
                  <a:lnTo>
                    <a:pt x="671" y="2"/>
                  </a:lnTo>
                  <a:lnTo>
                    <a:pt x="671" y="79"/>
                  </a:lnTo>
                  <a:lnTo>
                    <a:pt x="751" y="79"/>
                  </a:lnTo>
                  <a:lnTo>
                    <a:pt x="751" y="2"/>
                  </a:lnTo>
                  <a:lnTo>
                    <a:pt x="754" y="0"/>
                  </a:lnTo>
                  <a:lnTo>
                    <a:pt x="756" y="2"/>
                  </a:lnTo>
                  <a:lnTo>
                    <a:pt x="756" y="79"/>
                  </a:lnTo>
                  <a:lnTo>
                    <a:pt x="843" y="79"/>
                  </a:lnTo>
                  <a:lnTo>
                    <a:pt x="845" y="82"/>
                  </a:lnTo>
                  <a:lnTo>
                    <a:pt x="843" y="84"/>
                  </a:lnTo>
                  <a:lnTo>
                    <a:pt x="756" y="84"/>
                  </a:lnTo>
                  <a:lnTo>
                    <a:pt x="756" y="164"/>
                  </a:lnTo>
                  <a:lnTo>
                    <a:pt x="843" y="164"/>
                  </a:lnTo>
                  <a:lnTo>
                    <a:pt x="845" y="167"/>
                  </a:lnTo>
                  <a:lnTo>
                    <a:pt x="843" y="169"/>
                  </a:lnTo>
                  <a:lnTo>
                    <a:pt x="756" y="169"/>
                  </a:lnTo>
                  <a:lnTo>
                    <a:pt x="756" y="247"/>
                  </a:lnTo>
                  <a:lnTo>
                    <a:pt x="843" y="247"/>
                  </a:lnTo>
                  <a:lnTo>
                    <a:pt x="845" y="250"/>
                  </a:lnTo>
                  <a:lnTo>
                    <a:pt x="843" y="252"/>
                  </a:lnTo>
                  <a:lnTo>
                    <a:pt x="756" y="252"/>
                  </a:lnTo>
                  <a:lnTo>
                    <a:pt x="756" y="332"/>
                  </a:lnTo>
                  <a:lnTo>
                    <a:pt x="843" y="332"/>
                  </a:lnTo>
                  <a:lnTo>
                    <a:pt x="845" y="334"/>
                  </a:lnTo>
                  <a:lnTo>
                    <a:pt x="843" y="337"/>
                  </a:lnTo>
                  <a:lnTo>
                    <a:pt x="756" y="337"/>
                  </a:lnTo>
                  <a:lnTo>
                    <a:pt x="756" y="419"/>
                  </a:lnTo>
                  <a:lnTo>
                    <a:pt x="845" y="419"/>
                  </a:lnTo>
                  <a:lnTo>
                    <a:pt x="848" y="421"/>
                  </a:lnTo>
                  <a:lnTo>
                    <a:pt x="845" y="424"/>
                  </a:lnTo>
                  <a:lnTo>
                    <a:pt x="756" y="424"/>
                  </a:lnTo>
                  <a:lnTo>
                    <a:pt x="756" y="504"/>
                  </a:lnTo>
                  <a:lnTo>
                    <a:pt x="845" y="504"/>
                  </a:lnTo>
                  <a:lnTo>
                    <a:pt x="848" y="506"/>
                  </a:lnTo>
                  <a:lnTo>
                    <a:pt x="845" y="509"/>
                  </a:lnTo>
                  <a:lnTo>
                    <a:pt x="756" y="509"/>
                  </a:lnTo>
                  <a:lnTo>
                    <a:pt x="756" y="589"/>
                  </a:lnTo>
                  <a:lnTo>
                    <a:pt x="845" y="589"/>
                  </a:lnTo>
                  <a:lnTo>
                    <a:pt x="848" y="591"/>
                  </a:lnTo>
                  <a:lnTo>
                    <a:pt x="845" y="594"/>
                  </a:lnTo>
                  <a:lnTo>
                    <a:pt x="756" y="594"/>
                  </a:lnTo>
                  <a:lnTo>
                    <a:pt x="756" y="667"/>
                  </a:lnTo>
                  <a:lnTo>
                    <a:pt x="754" y="670"/>
                  </a:lnTo>
                  <a:lnTo>
                    <a:pt x="751" y="667"/>
                  </a:lnTo>
                  <a:lnTo>
                    <a:pt x="751" y="594"/>
                  </a:lnTo>
                  <a:lnTo>
                    <a:pt x="671" y="594"/>
                  </a:lnTo>
                  <a:lnTo>
                    <a:pt x="671" y="667"/>
                  </a:lnTo>
                  <a:lnTo>
                    <a:pt x="669" y="670"/>
                  </a:lnTo>
                  <a:lnTo>
                    <a:pt x="666" y="667"/>
                  </a:lnTo>
                  <a:lnTo>
                    <a:pt x="666" y="594"/>
                  </a:lnTo>
                  <a:lnTo>
                    <a:pt x="592" y="594"/>
                  </a:lnTo>
                  <a:lnTo>
                    <a:pt x="592" y="667"/>
                  </a:lnTo>
                  <a:lnTo>
                    <a:pt x="590" y="670"/>
                  </a:lnTo>
                  <a:lnTo>
                    <a:pt x="588" y="667"/>
                  </a:lnTo>
                  <a:lnTo>
                    <a:pt x="588" y="594"/>
                  </a:lnTo>
                  <a:lnTo>
                    <a:pt x="507" y="594"/>
                  </a:lnTo>
                  <a:lnTo>
                    <a:pt x="507" y="667"/>
                  </a:lnTo>
                  <a:lnTo>
                    <a:pt x="505" y="670"/>
                  </a:lnTo>
                  <a:lnTo>
                    <a:pt x="503" y="667"/>
                  </a:lnTo>
                  <a:lnTo>
                    <a:pt x="503" y="594"/>
                  </a:lnTo>
                  <a:lnTo>
                    <a:pt x="422" y="594"/>
                  </a:lnTo>
                  <a:lnTo>
                    <a:pt x="422" y="667"/>
                  </a:lnTo>
                  <a:lnTo>
                    <a:pt x="420" y="670"/>
                  </a:lnTo>
                  <a:lnTo>
                    <a:pt x="418" y="667"/>
                  </a:lnTo>
                  <a:lnTo>
                    <a:pt x="418" y="594"/>
                  </a:lnTo>
                  <a:lnTo>
                    <a:pt x="335" y="594"/>
                  </a:lnTo>
                  <a:lnTo>
                    <a:pt x="335" y="669"/>
                  </a:lnTo>
                  <a:lnTo>
                    <a:pt x="333" y="671"/>
                  </a:lnTo>
                  <a:close/>
                </a:path>
              </a:pathLst>
            </a:custGeom>
            <a:solidFill>
              <a:srgbClr val="F5F6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5"/>
            <p:cNvSpPr/>
            <p:nvPr/>
          </p:nvSpPr>
          <p:spPr>
            <a:xfrm>
              <a:off x="7967604" y="2767450"/>
              <a:ext cx="1260713" cy="176099"/>
            </a:xfrm>
            <a:prstGeom prst="rect">
              <a:avLst/>
            </a:prstGeom>
            <a:solidFill>
              <a:srgbClr val="F8A6A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5"/>
            <p:cNvSpPr/>
            <p:nvPr/>
          </p:nvSpPr>
          <p:spPr>
            <a:xfrm>
              <a:off x="8595960" y="2931544"/>
              <a:ext cx="112063" cy="76044"/>
            </a:xfrm>
            <a:custGeom>
              <a:rect b="b" l="l" r="r" t="t"/>
              <a:pathLst>
                <a:path extrusionOk="0" h="49" w="70">
                  <a:moveTo>
                    <a:pt x="0" y="49"/>
                  </a:moveTo>
                  <a:lnTo>
                    <a:pt x="0" y="0"/>
                  </a:lnTo>
                  <a:lnTo>
                    <a:pt x="70" y="0"/>
                  </a:lnTo>
                  <a:lnTo>
                    <a:pt x="0" y="49"/>
                  </a:lnTo>
                  <a:close/>
                </a:path>
              </a:pathLst>
            </a:custGeom>
            <a:solidFill>
              <a:srgbClr val="F8A6A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5"/>
            <p:cNvSpPr/>
            <p:nvPr/>
          </p:nvSpPr>
          <p:spPr>
            <a:xfrm>
              <a:off x="7383274" y="3403810"/>
              <a:ext cx="844478" cy="184104"/>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5"/>
            <p:cNvSpPr/>
            <p:nvPr/>
          </p:nvSpPr>
          <p:spPr>
            <a:xfrm>
              <a:off x="7479328" y="3675964"/>
              <a:ext cx="600339" cy="132076"/>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5"/>
            <p:cNvSpPr/>
            <p:nvPr/>
          </p:nvSpPr>
          <p:spPr>
            <a:xfrm>
              <a:off x="9844665" y="3175680"/>
              <a:ext cx="312176" cy="60035"/>
            </a:xfrm>
            <a:prstGeom prst="rect">
              <a:avLst/>
            </a:prstGeom>
            <a:solidFill>
              <a:srgbClr val="F8A6A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5"/>
            <p:cNvSpPr/>
            <p:nvPr/>
          </p:nvSpPr>
          <p:spPr>
            <a:xfrm>
              <a:off x="9844665" y="3343775"/>
              <a:ext cx="316180" cy="56032"/>
            </a:xfrm>
            <a:prstGeom prst="rect">
              <a:avLst/>
            </a:prstGeom>
            <a:solidFill>
              <a:srgbClr val="F8A6A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5"/>
            <p:cNvSpPr/>
            <p:nvPr/>
          </p:nvSpPr>
          <p:spPr>
            <a:xfrm>
              <a:off x="9320359" y="3587553"/>
              <a:ext cx="316180" cy="72041"/>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5"/>
            <p:cNvSpPr/>
            <p:nvPr/>
          </p:nvSpPr>
          <p:spPr>
            <a:xfrm>
              <a:off x="7307233" y="4048172"/>
              <a:ext cx="392221" cy="188107"/>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5"/>
            <p:cNvSpPr/>
            <p:nvPr/>
          </p:nvSpPr>
          <p:spPr>
            <a:xfrm>
              <a:off x="7567378" y="4312321"/>
              <a:ext cx="704398" cy="232131"/>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5"/>
            <p:cNvSpPr/>
            <p:nvPr/>
          </p:nvSpPr>
          <p:spPr>
            <a:xfrm>
              <a:off x="7991618" y="3267733"/>
              <a:ext cx="1148650" cy="768434"/>
            </a:xfrm>
            <a:custGeom>
              <a:rect b="b" l="l" r="r" t="t"/>
              <a:pathLst>
                <a:path extrusionOk="0" h="483" w="724">
                  <a:moveTo>
                    <a:pt x="7" y="483"/>
                  </a:moveTo>
                  <a:lnTo>
                    <a:pt x="3" y="481"/>
                  </a:lnTo>
                  <a:cubicBezTo>
                    <a:pt x="1" y="479"/>
                    <a:pt x="0" y="476"/>
                    <a:pt x="3" y="473"/>
                  </a:cubicBezTo>
                  <a:lnTo>
                    <a:pt x="170" y="296"/>
                  </a:lnTo>
                  <a:cubicBezTo>
                    <a:pt x="172" y="294"/>
                    <a:pt x="176" y="294"/>
                    <a:pt x="178" y="296"/>
                  </a:cubicBezTo>
                  <a:lnTo>
                    <a:pt x="312" y="417"/>
                  </a:lnTo>
                  <a:lnTo>
                    <a:pt x="463" y="181"/>
                  </a:lnTo>
                  <a:cubicBezTo>
                    <a:pt x="464" y="179"/>
                    <a:pt x="466" y="178"/>
                    <a:pt x="469" y="178"/>
                  </a:cubicBezTo>
                  <a:lnTo>
                    <a:pt x="609" y="206"/>
                  </a:lnTo>
                  <a:lnTo>
                    <a:pt x="713" y="4"/>
                  </a:lnTo>
                  <a:cubicBezTo>
                    <a:pt x="714" y="1"/>
                    <a:pt x="718" y="0"/>
                    <a:pt x="720" y="2"/>
                  </a:cubicBezTo>
                  <a:cubicBezTo>
                    <a:pt x="723" y="3"/>
                    <a:pt x="724" y="6"/>
                    <a:pt x="723" y="9"/>
                  </a:cubicBezTo>
                  <a:lnTo>
                    <a:pt x="617" y="215"/>
                  </a:lnTo>
                  <a:cubicBezTo>
                    <a:pt x="616" y="217"/>
                    <a:pt x="613" y="218"/>
                    <a:pt x="611" y="217"/>
                  </a:cubicBezTo>
                  <a:lnTo>
                    <a:pt x="470" y="190"/>
                  </a:lnTo>
                  <a:lnTo>
                    <a:pt x="318" y="429"/>
                  </a:lnTo>
                  <a:cubicBezTo>
                    <a:pt x="317" y="430"/>
                    <a:pt x="316" y="431"/>
                    <a:pt x="314" y="431"/>
                  </a:cubicBezTo>
                  <a:cubicBezTo>
                    <a:pt x="312" y="432"/>
                    <a:pt x="311" y="431"/>
                    <a:pt x="310" y="430"/>
                  </a:cubicBezTo>
                  <a:lnTo>
                    <a:pt x="174" y="308"/>
                  </a:lnTo>
                  <a:lnTo>
                    <a:pt x="11" y="481"/>
                  </a:lnTo>
                  <a:lnTo>
                    <a:pt x="7" y="483"/>
                  </a:ln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5"/>
            <p:cNvSpPr/>
            <p:nvPr/>
          </p:nvSpPr>
          <p:spPr>
            <a:xfrm>
              <a:off x="7967604" y="3976132"/>
              <a:ext cx="84049" cy="88050"/>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5"/>
            <p:cNvSpPr/>
            <p:nvPr/>
          </p:nvSpPr>
          <p:spPr>
            <a:xfrm>
              <a:off x="8223749" y="3707982"/>
              <a:ext cx="88050" cy="88050"/>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5"/>
            <p:cNvSpPr/>
            <p:nvPr/>
          </p:nvSpPr>
          <p:spPr>
            <a:xfrm>
              <a:off x="8435870" y="3896087"/>
              <a:ext cx="84049" cy="8404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5"/>
            <p:cNvSpPr/>
            <p:nvPr/>
          </p:nvSpPr>
          <p:spPr>
            <a:xfrm>
              <a:off x="8688011" y="3535883"/>
              <a:ext cx="88050" cy="88050"/>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5"/>
            <p:cNvSpPr/>
            <p:nvPr/>
          </p:nvSpPr>
          <p:spPr>
            <a:xfrm>
              <a:off x="8928146" y="3563900"/>
              <a:ext cx="88050" cy="88050"/>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5"/>
            <p:cNvSpPr/>
            <p:nvPr/>
          </p:nvSpPr>
          <p:spPr>
            <a:xfrm>
              <a:off x="9096241" y="3231712"/>
              <a:ext cx="84049" cy="88050"/>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5"/>
            <p:cNvSpPr/>
            <p:nvPr/>
          </p:nvSpPr>
          <p:spPr>
            <a:xfrm>
              <a:off x="9364394" y="3031599"/>
              <a:ext cx="428243" cy="428243"/>
            </a:xfrm>
            <a:prstGeom prst="ellipse">
              <a:avLst/>
            </a:prstGeom>
            <a:solidFill>
              <a:srgbClr val="F285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5"/>
            <p:cNvSpPr/>
            <p:nvPr/>
          </p:nvSpPr>
          <p:spPr>
            <a:xfrm>
              <a:off x="9364394" y="3031599"/>
              <a:ext cx="392221" cy="428243"/>
            </a:xfrm>
            <a:custGeom>
              <a:rect b="b" l="l" r="r" t="t"/>
              <a:pathLst>
                <a:path extrusionOk="0" h="270" w="247">
                  <a:moveTo>
                    <a:pt x="189" y="11"/>
                  </a:moveTo>
                  <a:cubicBezTo>
                    <a:pt x="172" y="4"/>
                    <a:pt x="153" y="0"/>
                    <a:pt x="135" y="0"/>
                  </a:cubicBezTo>
                  <a:cubicBezTo>
                    <a:pt x="60" y="0"/>
                    <a:pt x="0" y="60"/>
                    <a:pt x="0" y="135"/>
                  </a:cubicBezTo>
                  <a:cubicBezTo>
                    <a:pt x="0" y="209"/>
                    <a:pt x="60" y="270"/>
                    <a:pt x="135" y="270"/>
                  </a:cubicBezTo>
                  <a:cubicBezTo>
                    <a:pt x="180" y="270"/>
                    <a:pt x="222" y="247"/>
                    <a:pt x="247" y="209"/>
                  </a:cubicBezTo>
                  <a:lnTo>
                    <a:pt x="135" y="135"/>
                  </a:lnTo>
                  <a:lnTo>
                    <a:pt x="189" y="11"/>
                  </a:lnTo>
                  <a:close/>
                </a:path>
              </a:pathLst>
            </a:custGeom>
            <a:solidFill>
              <a:srgbClr val="F9B5A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5"/>
            <p:cNvSpPr/>
            <p:nvPr/>
          </p:nvSpPr>
          <p:spPr>
            <a:xfrm>
              <a:off x="9364394" y="3031599"/>
              <a:ext cx="300171" cy="428243"/>
            </a:xfrm>
            <a:custGeom>
              <a:rect b="b" l="l" r="r" t="t"/>
              <a:pathLst>
                <a:path extrusionOk="0" h="270" w="189">
                  <a:moveTo>
                    <a:pt x="189" y="11"/>
                  </a:moveTo>
                  <a:cubicBezTo>
                    <a:pt x="172" y="4"/>
                    <a:pt x="153" y="0"/>
                    <a:pt x="135" y="0"/>
                  </a:cubicBezTo>
                  <a:cubicBezTo>
                    <a:pt x="60" y="0"/>
                    <a:pt x="0" y="60"/>
                    <a:pt x="0" y="135"/>
                  </a:cubicBezTo>
                  <a:cubicBezTo>
                    <a:pt x="0" y="209"/>
                    <a:pt x="60" y="270"/>
                    <a:pt x="135" y="270"/>
                  </a:cubicBezTo>
                  <a:cubicBezTo>
                    <a:pt x="150" y="270"/>
                    <a:pt x="164" y="267"/>
                    <a:pt x="179" y="262"/>
                  </a:cubicBezTo>
                  <a:lnTo>
                    <a:pt x="135" y="135"/>
                  </a:lnTo>
                  <a:lnTo>
                    <a:pt x="189" y="11"/>
                  </a:lnTo>
                  <a:close/>
                </a:path>
              </a:pathLst>
            </a:custGeom>
            <a:solidFill>
              <a:srgbClr val="FCE1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5"/>
          <p:cNvSpPr txBox="1"/>
          <p:nvPr/>
        </p:nvSpPr>
        <p:spPr>
          <a:xfrm>
            <a:off x="496300" y="5094290"/>
            <a:ext cx="3180000" cy="630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a:solidFill>
                  <a:schemeClr val="lt1"/>
                </a:solidFill>
                <a:latin typeface="Calibri"/>
                <a:ea typeface="Calibri"/>
                <a:cs typeface="Calibri"/>
                <a:sym typeface="Calibri"/>
              </a:rPr>
              <a:t>OR-690 (Prof Tianshu Feng)</a:t>
            </a:r>
            <a:endParaRPr>
              <a:solidFill>
                <a:schemeClr val="lt1"/>
              </a:solidFill>
              <a:latin typeface="Calibri"/>
              <a:ea typeface="Calibri"/>
              <a:cs typeface="Calibri"/>
              <a:sym typeface="Calibri"/>
            </a:endParaRPr>
          </a:p>
          <a:p>
            <a:pPr indent="0" lvl="0" marL="0" marR="0" rtl="0" algn="l">
              <a:lnSpc>
                <a:spcPct val="150000"/>
              </a:lnSpc>
              <a:spcBef>
                <a:spcPts val="0"/>
              </a:spcBef>
              <a:spcAft>
                <a:spcPts val="0"/>
              </a:spcAft>
              <a:buNone/>
            </a:pPr>
            <a:r>
              <a:rPr lang="en-US">
                <a:solidFill>
                  <a:schemeClr val="lt1"/>
                </a:solidFill>
                <a:latin typeface="Calibri"/>
                <a:ea typeface="Calibri"/>
                <a:cs typeface="Calibri"/>
                <a:sym typeface="Calibri"/>
              </a:rPr>
              <a:t>Author:Oluwasegun Adegoke</a:t>
            </a:r>
            <a:endParaRPr>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nvSpPr>
        <p:spPr>
          <a:xfrm>
            <a:off x="46150" y="627400"/>
            <a:ext cx="12442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   Introduction</a:t>
            </a:r>
            <a:endParaRPr sz="3600">
              <a:solidFill>
                <a:schemeClr val="dk2"/>
              </a:solidFill>
              <a:latin typeface="Montserrat SemiBold"/>
              <a:ea typeface="Montserrat SemiBold"/>
              <a:cs typeface="Montserrat SemiBold"/>
              <a:sym typeface="Montserrat SemiBold"/>
            </a:endParaRPr>
          </a:p>
        </p:txBody>
      </p:sp>
      <p:sp>
        <p:nvSpPr>
          <p:cNvPr id="178" name="Google Shape;178;p6"/>
          <p:cNvSpPr txBox="1"/>
          <p:nvPr/>
        </p:nvSpPr>
        <p:spPr>
          <a:xfrm>
            <a:off x="829725" y="1605900"/>
            <a:ext cx="9557400" cy="3515400"/>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1200"/>
              </a:spcBef>
              <a:spcAft>
                <a:spcPts val="0"/>
              </a:spcAft>
              <a:buClr>
                <a:schemeClr val="dk2"/>
              </a:buClr>
              <a:buSzPts val="1800"/>
              <a:buFont typeface="Calibri"/>
              <a:buChar char="●"/>
            </a:pPr>
            <a:r>
              <a:rPr lang="en-US" sz="1800">
                <a:solidFill>
                  <a:schemeClr val="dk2"/>
                </a:solidFill>
                <a:latin typeface="Calibri"/>
                <a:ea typeface="Calibri"/>
                <a:cs typeface="Calibri"/>
                <a:sym typeface="Calibri"/>
              </a:rPr>
              <a:t>Predictive analytics, a powerful branch of advanced data analysis, leverages historical data to make informed predictions about future events. In my case, we’re diving into the realm of counterterrorism. </a:t>
            </a:r>
            <a:endParaRPr sz="1800">
              <a:solidFill>
                <a:schemeClr val="dk2"/>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800">
              <a:solidFill>
                <a:schemeClr val="dk2"/>
              </a:solidFill>
              <a:latin typeface="Calibri"/>
              <a:ea typeface="Calibri"/>
              <a:cs typeface="Calibri"/>
              <a:sym typeface="Calibri"/>
            </a:endParaRPr>
          </a:p>
          <a:p>
            <a:pPr indent="-342900" lvl="0" marL="457200" rtl="0" algn="just">
              <a:lnSpc>
                <a:spcPct val="115000"/>
              </a:lnSpc>
              <a:spcBef>
                <a:spcPts val="1200"/>
              </a:spcBef>
              <a:spcAft>
                <a:spcPts val="0"/>
              </a:spcAft>
              <a:buClr>
                <a:schemeClr val="dk2"/>
              </a:buClr>
              <a:buSzPts val="1800"/>
              <a:buFont typeface="Calibri"/>
              <a:buChar char="●"/>
            </a:pPr>
            <a:r>
              <a:rPr lang="en-US" sz="1800">
                <a:solidFill>
                  <a:schemeClr val="dk2"/>
                </a:solidFill>
                <a:latin typeface="Calibri"/>
                <a:ea typeface="Calibri"/>
                <a:cs typeface="Calibri"/>
                <a:sym typeface="Calibri"/>
              </a:rPr>
              <a:t>Who are the beneficiaries: Security agencies, policymakers, and researchers, offering insights into terrorism trends, potential hotspots, and the characteristics of terrorist attacks to inform effective counter-terrorism strategies.</a:t>
            </a:r>
            <a:endParaRPr sz="1800">
              <a:solidFill>
                <a:schemeClr val="dk2"/>
              </a:solidFill>
              <a:latin typeface="Calibri"/>
              <a:ea typeface="Calibri"/>
              <a:cs typeface="Calibri"/>
              <a:sym typeface="Calibri"/>
            </a:endParaRPr>
          </a:p>
          <a:p>
            <a:pPr indent="0" lvl="0" marL="0" rtl="0" algn="just">
              <a:lnSpc>
                <a:spcPct val="115000"/>
              </a:lnSpc>
              <a:spcBef>
                <a:spcPts val="1200"/>
              </a:spcBef>
              <a:spcAft>
                <a:spcPts val="1200"/>
              </a:spcAft>
              <a:buNone/>
            </a:pPr>
            <a:r>
              <a:t/>
            </a:r>
            <a:endParaRPr sz="1800">
              <a:solidFill>
                <a:schemeClr val="dk2"/>
              </a:solidFill>
              <a:latin typeface="Calibri"/>
              <a:ea typeface="Calibri"/>
              <a:cs typeface="Calibri"/>
              <a:sym typeface="Calibri"/>
            </a:endParaRPr>
          </a:p>
        </p:txBody>
      </p:sp>
      <p:grpSp>
        <p:nvGrpSpPr>
          <p:cNvPr id="179" name="Google Shape;179;p6"/>
          <p:cNvGrpSpPr/>
          <p:nvPr/>
        </p:nvGrpSpPr>
        <p:grpSpPr>
          <a:xfrm>
            <a:off x="10256980" y="3527674"/>
            <a:ext cx="1224508" cy="2639495"/>
            <a:chOff x="9023013" y="3874366"/>
            <a:chExt cx="857250" cy="1847850"/>
          </a:xfrm>
        </p:grpSpPr>
        <p:sp>
          <p:nvSpPr>
            <p:cNvPr id="180" name="Google Shape;180;p6"/>
            <p:cNvSpPr/>
            <p:nvPr/>
          </p:nvSpPr>
          <p:spPr>
            <a:xfrm>
              <a:off x="9080163" y="3874366"/>
              <a:ext cx="46038" cy="214313"/>
            </a:xfrm>
            <a:custGeom>
              <a:rect b="b" l="l" r="r" t="t"/>
              <a:pathLst>
                <a:path extrusionOk="0" h="135" w="29">
                  <a:moveTo>
                    <a:pt x="15" y="0"/>
                  </a:moveTo>
                  <a:lnTo>
                    <a:pt x="0" y="65"/>
                  </a:lnTo>
                  <a:lnTo>
                    <a:pt x="15" y="135"/>
                  </a:lnTo>
                  <a:lnTo>
                    <a:pt x="29" y="66"/>
                  </a:lnTo>
                  <a:lnTo>
                    <a:pt x="15"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6"/>
            <p:cNvSpPr/>
            <p:nvPr/>
          </p:nvSpPr>
          <p:spPr>
            <a:xfrm>
              <a:off x="9023013" y="3958504"/>
              <a:ext cx="160338" cy="39688"/>
            </a:xfrm>
            <a:custGeom>
              <a:rect b="b" l="l" r="r" t="t"/>
              <a:pathLst>
                <a:path extrusionOk="0" h="25" w="101">
                  <a:moveTo>
                    <a:pt x="101" y="13"/>
                  </a:moveTo>
                  <a:lnTo>
                    <a:pt x="53" y="0"/>
                  </a:lnTo>
                  <a:lnTo>
                    <a:pt x="0" y="13"/>
                  </a:lnTo>
                  <a:lnTo>
                    <a:pt x="52" y="25"/>
                  </a:lnTo>
                  <a:lnTo>
                    <a:pt x="101" y="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6"/>
            <p:cNvSpPr/>
            <p:nvPr/>
          </p:nvSpPr>
          <p:spPr>
            <a:xfrm>
              <a:off x="9797713" y="5550766"/>
              <a:ext cx="36513" cy="171450"/>
            </a:xfrm>
            <a:custGeom>
              <a:rect b="b" l="l" r="r" t="t"/>
              <a:pathLst>
                <a:path extrusionOk="0" h="108" w="23">
                  <a:moveTo>
                    <a:pt x="12" y="0"/>
                  </a:moveTo>
                  <a:lnTo>
                    <a:pt x="0" y="52"/>
                  </a:lnTo>
                  <a:lnTo>
                    <a:pt x="12" y="108"/>
                  </a:lnTo>
                  <a:lnTo>
                    <a:pt x="23" y="53"/>
                  </a:lnTo>
                  <a:lnTo>
                    <a:pt x="12"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6"/>
            <p:cNvSpPr/>
            <p:nvPr/>
          </p:nvSpPr>
          <p:spPr>
            <a:xfrm>
              <a:off x="9751675" y="5617441"/>
              <a:ext cx="128588" cy="31750"/>
            </a:xfrm>
            <a:custGeom>
              <a:rect b="b" l="l" r="r" t="t"/>
              <a:pathLst>
                <a:path extrusionOk="0" h="20" w="81">
                  <a:moveTo>
                    <a:pt x="81" y="11"/>
                  </a:moveTo>
                  <a:lnTo>
                    <a:pt x="42" y="0"/>
                  </a:lnTo>
                  <a:lnTo>
                    <a:pt x="0" y="11"/>
                  </a:lnTo>
                  <a:lnTo>
                    <a:pt x="41" y="20"/>
                  </a:lnTo>
                  <a:lnTo>
                    <a:pt x="81" y="1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6"/>
            <p:cNvSpPr/>
            <p:nvPr/>
          </p:nvSpPr>
          <p:spPr>
            <a:xfrm>
              <a:off x="9438938" y="4163291"/>
              <a:ext cx="66675" cy="315913"/>
            </a:xfrm>
            <a:custGeom>
              <a:rect b="b" l="l" r="r" t="t"/>
              <a:pathLst>
                <a:path extrusionOk="0" h="199" w="42">
                  <a:moveTo>
                    <a:pt x="22" y="0"/>
                  </a:moveTo>
                  <a:lnTo>
                    <a:pt x="0" y="95"/>
                  </a:lnTo>
                  <a:lnTo>
                    <a:pt x="22" y="199"/>
                  </a:lnTo>
                  <a:lnTo>
                    <a:pt x="42" y="98"/>
                  </a:lnTo>
                  <a:lnTo>
                    <a:pt x="22"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6"/>
            <p:cNvSpPr/>
            <p:nvPr/>
          </p:nvSpPr>
          <p:spPr>
            <a:xfrm>
              <a:off x="9354800" y="4287116"/>
              <a:ext cx="238125" cy="57150"/>
            </a:xfrm>
            <a:custGeom>
              <a:rect b="b" l="l" r="r" t="t"/>
              <a:pathLst>
                <a:path extrusionOk="0" h="36" w="150">
                  <a:moveTo>
                    <a:pt x="150" y="19"/>
                  </a:moveTo>
                  <a:lnTo>
                    <a:pt x="78" y="0"/>
                  </a:lnTo>
                  <a:lnTo>
                    <a:pt x="0" y="19"/>
                  </a:lnTo>
                  <a:lnTo>
                    <a:pt x="76" y="36"/>
                  </a:lnTo>
                  <a:lnTo>
                    <a:pt x="150" y="1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6" name="Google Shape;186;p6"/>
          <p:cNvSpPr/>
          <p:nvPr/>
        </p:nvSpPr>
        <p:spPr>
          <a:xfrm>
            <a:off x="3003203" y="5446078"/>
            <a:ext cx="911635" cy="892100"/>
          </a:xfrm>
          <a:custGeom>
            <a:rect b="b" l="l" r="r" t="t"/>
            <a:pathLst>
              <a:path extrusionOk="0" h="692" w="705">
                <a:moveTo>
                  <a:pt x="353" y="540"/>
                </a:moveTo>
                <a:cubicBezTo>
                  <a:pt x="246" y="540"/>
                  <a:pt x="159" y="453"/>
                  <a:pt x="159" y="346"/>
                </a:cubicBezTo>
                <a:cubicBezTo>
                  <a:pt x="159" y="239"/>
                  <a:pt x="246" y="152"/>
                  <a:pt x="353" y="152"/>
                </a:cubicBezTo>
                <a:cubicBezTo>
                  <a:pt x="460" y="152"/>
                  <a:pt x="547" y="239"/>
                  <a:pt x="547" y="346"/>
                </a:cubicBezTo>
                <a:cubicBezTo>
                  <a:pt x="547" y="453"/>
                  <a:pt x="460" y="540"/>
                  <a:pt x="353" y="540"/>
                </a:cubicBezTo>
                <a:close/>
                <a:moveTo>
                  <a:pt x="704" y="304"/>
                </a:moveTo>
                <a:lnTo>
                  <a:pt x="671" y="299"/>
                </a:lnTo>
                <a:cubicBezTo>
                  <a:pt x="663" y="297"/>
                  <a:pt x="651" y="296"/>
                  <a:pt x="637" y="294"/>
                </a:cubicBezTo>
                <a:lnTo>
                  <a:pt x="637" y="294"/>
                </a:lnTo>
                <a:cubicBezTo>
                  <a:pt x="632" y="268"/>
                  <a:pt x="624" y="243"/>
                  <a:pt x="613" y="219"/>
                </a:cubicBezTo>
                <a:cubicBezTo>
                  <a:pt x="630" y="203"/>
                  <a:pt x="647" y="186"/>
                  <a:pt x="648" y="185"/>
                </a:cubicBezTo>
                <a:lnTo>
                  <a:pt x="659" y="171"/>
                </a:lnTo>
                <a:lnTo>
                  <a:pt x="637" y="138"/>
                </a:lnTo>
                <a:lnTo>
                  <a:pt x="613" y="106"/>
                </a:lnTo>
                <a:lnTo>
                  <a:pt x="596" y="114"/>
                </a:lnTo>
                <a:cubicBezTo>
                  <a:pt x="595" y="114"/>
                  <a:pt x="574" y="125"/>
                  <a:pt x="553" y="137"/>
                </a:cubicBezTo>
                <a:lnTo>
                  <a:pt x="553" y="137"/>
                </a:lnTo>
                <a:cubicBezTo>
                  <a:pt x="534" y="119"/>
                  <a:pt x="512" y="103"/>
                  <a:pt x="489" y="91"/>
                </a:cubicBezTo>
                <a:cubicBezTo>
                  <a:pt x="491" y="80"/>
                  <a:pt x="493" y="68"/>
                  <a:pt x="495" y="57"/>
                </a:cubicBezTo>
                <a:lnTo>
                  <a:pt x="500" y="24"/>
                </a:lnTo>
                <a:lnTo>
                  <a:pt x="462" y="11"/>
                </a:lnTo>
                <a:cubicBezTo>
                  <a:pt x="456" y="9"/>
                  <a:pt x="450" y="7"/>
                  <a:pt x="445" y="6"/>
                </a:cubicBezTo>
                <a:lnTo>
                  <a:pt x="421" y="0"/>
                </a:lnTo>
                <a:lnTo>
                  <a:pt x="413" y="15"/>
                </a:lnTo>
                <a:cubicBezTo>
                  <a:pt x="413" y="16"/>
                  <a:pt x="401" y="38"/>
                  <a:pt x="392" y="60"/>
                </a:cubicBezTo>
                <a:lnTo>
                  <a:pt x="392" y="60"/>
                </a:lnTo>
                <a:cubicBezTo>
                  <a:pt x="365" y="56"/>
                  <a:pt x="339" y="56"/>
                  <a:pt x="313" y="60"/>
                </a:cubicBezTo>
                <a:cubicBezTo>
                  <a:pt x="303" y="38"/>
                  <a:pt x="292" y="16"/>
                  <a:pt x="291" y="16"/>
                </a:cubicBezTo>
                <a:lnTo>
                  <a:pt x="283" y="1"/>
                </a:lnTo>
                <a:lnTo>
                  <a:pt x="253" y="8"/>
                </a:lnTo>
                <a:lnTo>
                  <a:pt x="204" y="25"/>
                </a:lnTo>
                <a:lnTo>
                  <a:pt x="210" y="58"/>
                </a:lnTo>
                <a:cubicBezTo>
                  <a:pt x="211" y="64"/>
                  <a:pt x="213" y="77"/>
                  <a:pt x="216" y="91"/>
                </a:cubicBezTo>
                <a:lnTo>
                  <a:pt x="216" y="91"/>
                </a:lnTo>
                <a:cubicBezTo>
                  <a:pt x="193" y="104"/>
                  <a:pt x="171" y="120"/>
                  <a:pt x="152" y="138"/>
                </a:cubicBezTo>
                <a:cubicBezTo>
                  <a:pt x="141" y="131"/>
                  <a:pt x="129" y="125"/>
                  <a:pt x="120" y="120"/>
                </a:cubicBezTo>
                <a:lnTo>
                  <a:pt x="93" y="107"/>
                </a:lnTo>
                <a:cubicBezTo>
                  <a:pt x="90" y="109"/>
                  <a:pt x="80" y="122"/>
                  <a:pt x="77" y="127"/>
                </a:cubicBezTo>
                <a:lnTo>
                  <a:pt x="59" y="152"/>
                </a:lnTo>
                <a:lnTo>
                  <a:pt x="45" y="174"/>
                </a:lnTo>
                <a:lnTo>
                  <a:pt x="57" y="186"/>
                </a:lnTo>
                <a:cubicBezTo>
                  <a:pt x="58" y="187"/>
                  <a:pt x="75" y="204"/>
                  <a:pt x="92" y="220"/>
                </a:cubicBezTo>
                <a:lnTo>
                  <a:pt x="93" y="220"/>
                </a:lnTo>
                <a:cubicBezTo>
                  <a:pt x="81" y="244"/>
                  <a:pt x="73" y="269"/>
                  <a:pt x="68" y="295"/>
                </a:cubicBezTo>
                <a:lnTo>
                  <a:pt x="68" y="295"/>
                </a:lnTo>
                <a:cubicBezTo>
                  <a:pt x="44" y="298"/>
                  <a:pt x="21" y="302"/>
                  <a:pt x="20" y="302"/>
                </a:cubicBezTo>
                <a:lnTo>
                  <a:pt x="3" y="306"/>
                </a:lnTo>
                <a:lnTo>
                  <a:pt x="1" y="323"/>
                </a:lnTo>
                <a:cubicBezTo>
                  <a:pt x="1" y="323"/>
                  <a:pt x="1" y="335"/>
                  <a:pt x="0" y="346"/>
                </a:cubicBezTo>
                <a:lnTo>
                  <a:pt x="2" y="388"/>
                </a:lnTo>
                <a:lnTo>
                  <a:pt x="35" y="393"/>
                </a:lnTo>
                <a:cubicBezTo>
                  <a:pt x="41" y="394"/>
                  <a:pt x="54" y="396"/>
                  <a:pt x="68" y="397"/>
                </a:cubicBezTo>
                <a:lnTo>
                  <a:pt x="69" y="397"/>
                </a:lnTo>
                <a:cubicBezTo>
                  <a:pt x="73" y="423"/>
                  <a:pt x="81" y="448"/>
                  <a:pt x="93" y="472"/>
                </a:cubicBezTo>
                <a:cubicBezTo>
                  <a:pt x="75" y="489"/>
                  <a:pt x="58" y="506"/>
                  <a:pt x="58" y="507"/>
                </a:cubicBezTo>
                <a:lnTo>
                  <a:pt x="43" y="523"/>
                </a:lnTo>
                <a:lnTo>
                  <a:pt x="93" y="586"/>
                </a:lnTo>
                <a:lnTo>
                  <a:pt x="109" y="578"/>
                </a:lnTo>
                <a:cubicBezTo>
                  <a:pt x="110" y="578"/>
                  <a:pt x="132" y="567"/>
                  <a:pt x="153" y="555"/>
                </a:cubicBezTo>
                <a:lnTo>
                  <a:pt x="153" y="555"/>
                </a:lnTo>
                <a:cubicBezTo>
                  <a:pt x="172" y="573"/>
                  <a:pt x="193" y="588"/>
                  <a:pt x="217" y="601"/>
                </a:cubicBezTo>
                <a:cubicBezTo>
                  <a:pt x="215" y="612"/>
                  <a:pt x="213" y="624"/>
                  <a:pt x="211" y="635"/>
                </a:cubicBezTo>
                <a:lnTo>
                  <a:pt x="206" y="667"/>
                </a:lnTo>
                <a:lnTo>
                  <a:pt x="244" y="681"/>
                </a:lnTo>
                <a:cubicBezTo>
                  <a:pt x="250" y="683"/>
                  <a:pt x="257" y="685"/>
                  <a:pt x="261" y="686"/>
                </a:cubicBezTo>
                <a:lnTo>
                  <a:pt x="284" y="692"/>
                </a:lnTo>
                <a:lnTo>
                  <a:pt x="292" y="676"/>
                </a:lnTo>
                <a:cubicBezTo>
                  <a:pt x="293" y="675"/>
                  <a:pt x="304" y="654"/>
                  <a:pt x="314" y="632"/>
                </a:cubicBezTo>
                <a:lnTo>
                  <a:pt x="314" y="632"/>
                </a:lnTo>
                <a:cubicBezTo>
                  <a:pt x="340" y="636"/>
                  <a:pt x="367" y="636"/>
                  <a:pt x="393" y="632"/>
                </a:cubicBezTo>
                <a:lnTo>
                  <a:pt x="393" y="632"/>
                </a:lnTo>
                <a:cubicBezTo>
                  <a:pt x="403" y="654"/>
                  <a:pt x="414" y="675"/>
                  <a:pt x="415" y="676"/>
                </a:cubicBezTo>
                <a:lnTo>
                  <a:pt x="423" y="691"/>
                </a:lnTo>
                <a:lnTo>
                  <a:pt x="453" y="684"/>
                </a:lnTo>
                <a:lnTo>
                  <a:pt x="501" y="667"/>
                </a:lnTo>
                <a:lnTo>
                  <a:pt x="496" y="634"/>
                </a:lnTo>
                <a:cubicBezTo>
                  <a:pt x="495" y="627"/>
                  <a:pt x="493" y="615"/>
                  <a:pt x="490" y="600"/>
                </a:cubicBezTo>
                <a:lnTo>
                  <a:pt x="490" y="600"/>
                </a:lnTo>
                <a:cubicBezTo>
                  <a:pt x="513" y="588"/>
                  <a:pt x="534" y="572"/>
                  <a:pt x="553" y="554"/>
                </a:cubicBezTo>
                <a:cubicBezTo>
                  <a:pt x="574" y="566"/>
                  <a:pt x="596" y="576"/>
                  <a:pt x="597" y="577"/>
                </a:cubicBezTo>
                <a:lnTo>
                  <a:pt x="611" y="584"/>
                </a:lnTo>
                <a:lnTo>
                  <a:pt x="623" y="572"/>
                </a:lnTo>
                <a:cubicBezTo>
                  <a:pt x="623" y="572"/>
                  <a:pt x="626" y="569"/>
                  <a:pt x="629" y="565"/>
                </a:cubicBezTo>
                <a:lnTo>
                  <a:pt x="647" y="540"/>
                </a:lnTo>
                <a:lnTo>
                  <a:pt x="662" y="516"/>
                </a:lnTo>
                <a:lnTo>
                  <a:pt x="635" y="492"/>
                </a:lnTo>
                <a:cubicBezTo>
                  <a:pt x="628" y="485"/>
                  <a:pt x="621" y="478"/>
                  <a:pt x="613" y="471"/>
                </a:cubicBezTo>
                <a:lnTo>
                  <a:pt x="613" y="471"/>
                </a:lnTo>
                <a:cubicBezTo>
                  <a:pt x="625" y="448"/>
                  <a:pt x="633" y="422"/>
                  <a:pt x="637" y="396"/>
                </a:cubicBezTo>
                <a:lnTo>
                  <a:pt x="638" y="396"/>
                </a:lnTo>
                <a:cubicBezTo>
                  <a:pt x="661" y="394"/>
                  <a:pt x="685" y="389"/>
                  <a:pt x="686" y="389"/>
                </a:cubicBezTo>
                <a:lnTo>
                  <a:pt x="703" y="386"/>
                </a:lnTo>
                <a:lnTo>
                  <a:pt x="704" y="369"/>
                </a:lnTo>
                <a:cubicBezTo>
                  <a:pt x="704" y="368"/>
                  <a:pt x="705" y="357"/>
                  <a:pt x="705" y="346"/>
                </a:cubicBezTo>
                <a:lnTo>
                  <a:pt x="704" y="304"/>
                </a:lnTo>
              </a:path>
            </a:pathLst>
          </a:custGeom>
          <a:solidFill>
            <a:srgbClr val="2C3F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7" name="Google Shape;187;p6"/>
          <p:cNvGrpSpPr/>
          <p:nvPr/>
        </p:nvGrpSpPr>
        <p:grpSpPr>
          <a:xfrm flipH="1" rot="10800000">
            <a:off x="334794" y="4849960"/>
            <a:ext cx="1559766" cy="1829356"/>
            <a:chOff x="5828963" y="3885479"/>
            <a:chExt cx="1285875" cy="1508125"/>
          </a:xfrm>
        </p:grpSpPr>
        <p:sp>
          <p:nvSpPr>
            <p:cNvPr id="188" name="Google Shape;188;p6"/>
            <p:cNvSpPr/>
            <p:nvPr/>
          </p:nvSpPr>
          <p:spPr>
            <a:xfrm>
              <a:off x="5886113" y="3885479"/>
              <a:ext cx="44450" cy="214313"/>
            </a:xfrm>
            <a:custGeom>
              <a:rect b="b" l="l" r="r" t="t"/>
              <a:pathLst>
                <a:path extrusionOk="0" h="135" w="28">
                  <a:moveTo>
                    <a:pt x="15" y="0"/>
                  </a:moveTo>
                  <a:lnTo>
                    <a:pt x="0" y="65"/>
                  </a:lnTo>
                  <a:lnTo>
                    <a:pt x="15" y="135"/>
                  </a:lnTo>
                  <a:lnTo>
                    <a:pt x="28" y="66"/>
                  </a:lnTo>
                  <a:lnTo>
                    <a:pt x="15"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6"/>
            <p:cNvSpPr/>
            <p:nvPr/>
          </p:nvSpPr>
          <p:spPr>
            <a:xfrm>
              <a:off x="5828963" y="3969616"/>
              <a:ext cx="160338" cy="39688"/>
            </a:xfrm>
            <a:custGeom>
              <a:rect b="b" l="l" r="r" t="t"/>
              <a:pathLst>
                <a:path extrusionOk="0" h="25" w="101">
                  <a:moveTo>
                    <a:pt x="101" y="13"/>
                  </a:moveTo>
                  <a:lnTo>
                    <a:pt x="53" y="0"/>
                  </a:lnTo>
                  <a:lnTo>
                    <a:pt x="0" y="13"/>
                  </a:lnTo>
                  <a:lnTo>
                    <a:pt x="51" y="25"/>
                  </a:lnTo>
                  <a:lnTo>
                    <a:pt x="101" y="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6"/>
            <p:cNvSpPr/>
            <p:nvPr/>
          </p:nvSpPr>
          <p:spPr>
            <a:xfrm>
              <a:off x="6951325" y="3885479"/>
              <a:ext cx="46038" cy="214313"/>
            </a:xfrm>
            <a:custGeom>
              <a:rect b="b" l="l" r="r" t="t"/>
              <a:pathLst>
                <a:path extrusionOk="0" h="135" w="29">
                  <a:moveTo>
                    <a:pt x="15" y="0"/>
                  </a:moveTo>
                  <a:lnTo>
                    <a:pt x="0" y="64"/>
                  </a:lnTo>
                  <a:lnTo>
                    <a:pt x="15" y="135"/>
                  </a:lnTo>
                  <a:lnTo>
                    <a:pt x="29" y="66"/>
                  </a:lnTo>
                  <a:lnTo>
                    <a:pt x="15"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6"/>
            <p:cNvSpPr/>
            <p:nvPr/>
          </p:nvSpPr>
          <p:spPr>
            <a:xfrm>
              <a:off x="6894175" y="3968029"/>
              <a:ext cx="161925" cy="39688"/>
            </a:xfrm>
            <a:custGeom>
              <a:rect b="b" l="l" r="r" t="t"/>
              <a:pathLst>
                <a:path extrusionOk="0" h="25" w="102">
                  <a:moveTo>
                    <a:pt x="102" y="13"/>
                  </a:moveTo>
                  <a:lnTo>
                    <a:pt x="53" y="0"/>
                  </a:lnTo>
                  <a:lnTo>
                    <a:pt x="0" y="13"/>
                  </a:lnTo>
                  <a:lnTo>
                    <a:pt x="52" y="25"/>
                  </a:lnTo>
                  <a:lnTo>
                    <a:pt x="102" y="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6"/>
            <p:cNvSpPr/>
            <p:nvPr/>
          </p:nvSpPr>
          <p:spPr>
            <a:xfrm>
              <a:off x="6695738" y="5222154"/>
              <a:ext cx="36513" cy="171450"/>
            </a:xfrm>
            <a:custGeom>
              <a:rect b="b" l="l" r="r" t="t"/>
              <a:pathLst>
                <a:path extrusionOk="0" h="108" w="23">
                  <a:moveTo>
                    <a:pt x="12" y="0"/>
                  </a:moveTo>
                  <a:lnTo>
                    <a:pt x="0" y="52"/>
                  </a:lnTo>
                  <a:lnTo>
                    <a:pt x="12" y="108"/>
                  </a:lnTo>
                  <a:lnTo>
                    <a:pt x="23" y="53"/>
                  </a:lnTo>
                  <a:lnTo>
                    <a:pt x="12"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6"/>
            <p:cNvSpPr/>
            <p:nvPr/>
          </p:nvSpPr>
          <p:spPr>
            <a:xfrm>
              <a:off x="6649700" y="5288829"/>
              <a:ext cx="130175" cy="31750"/>
            </a:xfrm>
            <a:custGeom>
              <a:rect b="b" l="l" r="r" t="t"/>
              <a:pathLst>
                <a:path extrusionOk="0" h="20" w="82">
                  <a:moveTo>
                    <a:pt x="82" y="10"/>
                  </a:moveTo>
                  <a:lnTo>
                    <a:pt x="43" y="0"/>
                  </a:lnTo>
                  <a:lnTo>
                    <a:pt x="0" y="10"/>
                  </a:lnTo>
                  <a:lnTo>
                    <a:pt x="42" y="20"/>
                  </a:lnTo>
                  <a:lnTo>
                    <a:pt x="82" y="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6"/>
            <p:cNvSpPr/>
            <p:nvPr/>
          </p:nvSpPr>
          <p:spPr>
            <a:xfrm>
              <a:off x="6960850" y="4793529"/>
              <a:ext cx="68263" cy="315913"/>
            </a:xfrm>
            <a:custGeom>
              <a:rect b="b" l="l" r="r" t="t"/>
              <a:pathLst>
                <a:path extrusionOk="0" h="199" w="43">
                  <a:moveTo>
                    <a:pt x="22" y="0"/>
                  </a:moveTo>
                  <a:lnTo>
                    <a:pt x="0" y="96"/>
                  </a:lnTo>
                  <a:lnTo>
                    <a:pt x="22" y="199"/>
                  </a:lnTo>
                  <a:lnTo>
                    <a:pt x="43" y="98"/>
                  </a:lnTo>
                  <a:lnTo>
                    <a:pt x="22"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6"/>
            <p:cNvSpPr/>
            <p:nvPr/>
          </p:nvSpPr>
          <p:spPr>
            <a:xfrm>
              <a:off x="6876713" y="4917354"/>
              <a:ext cx="238125" cy="57150"/>
            </a:xfrm>
            <a:custGeom>
              <a:rect b="b" l="l" r="r" t="t"/>
              <a:pathLst>
                <a:path extrusionOk="0" h="36" w="150">
                  <a:moveTo>
                    <a:pt x="150" y="19"/>
                  </a:moveTo>
                  <a:lnTo>
                    <a:pt x="78" y="0"/>
                  </a:lnTo>
                  <a:lnTo>
                    <a:pt x="0" y="19"/>
                  </a:lnTo>
                  <a:lnTo>
                    <a:pt x="77" y="36"/>
                  </a:lnTo>
                  <a:lnTo>
                    <a:pt x="150" y="1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p:nvPr/>
        </p:nvSpPr>
        <p:spPr>
          <a:xfrm>
            <a:off x="830688" y="642670"/>
            <a:ext cx="10523700" cy="2740200"/>
          </a:xfrm>
          <a:prstGeom prst="roundRect">
            <a:avLst>
              <a:gd fmla="val 11475" name="adj"/>
            </a:avLst>
          </a:prstGeom>
          <a:solidFill>
            <a:schemeClr val="lt1"/>
          </a:solidFill>
          <a:ln cap="flat" cmpd="sng" w="19050">
            <a:solidFill>
              <a:srgbClr val="B9C7FB"/>
            </a:solidFill>
            <a:prstDash val="solid"/>
            <a:miter lim="800000"/>
            <a:headEnd len="sm" w="sm" type="none"/>
            <a:tailEnd len="sm" w="sm" type="none"/>
          </a:ln>
          <a:effectLst>
            <a:outerShdw blurRad="50800" rotWithShape="0" algn="t" dir="5400000" dist="38100">
              <a:schemeClr val="dk2">
                <a:alpha val="14901"/>
              </a:scheme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2"/>
              </a:solidFill>
              <a:latin typeface="Montserrat SemiBold"/>
              <a:ea typeface="Montserrat SemiBold"/>
              <a:cs typeface="Montserrat SemiBold"/>
              <a:sym typeface="Montserrat SemiBold"/>
            </a:endParaRPr>
          </a:p>
        </p:txBody>
      </p:sp>
      <p:grpSp>
        <p:nvGrpSpPr>
          <p:cNvPr id="201" name="Google Shape;201;p7"/>
          <p:cNvGrpSpPr/>
          <p:nvPr/>
        </p:nvGrpSpPr>
        <p:grpSpPr>
          <a:xfrm>
            <a:off x="602212" y="589665"/>
            <a:ext cx="3844231" cy="2846217"/>
            <a:chOff x="547688" y="2414588"/>
            <a:chExt cx="2976563" cy="2451100"/>
          </a:xfrm>
        </p:grpSpPr>
        <p:sp>
          <p:nvSpPr>
            <p:cNvPr id="202" name="Google Shape;202;p7"/>
            <p:cNvSpPr/>
            <p:nvPr/>
          </p:nvSpPr>
          <p:spPr>
            <a:xfrm>
              <a:off x="3276600" y="3495675"/>
              <a:ext cx="192088" cy="452438"/>
            </a:xfrm>
            <a:custGeom>
              <a:rect b="b" l="l" r="r" t="t"/>
              <a:pathLst>
                <a:path extrusionOk="0" h="4652" w="1975">
                  <a:moveTo>
                    <a:pt x="82" y="0"/>
                  </a:moveTo>
                  <a:lnTo>
                    <a:pt x="1677" y="1742"/>
                  </a:lnTo>
                  <a:cubicBezTo>
                    <a:pt x="1909" y="1997"/>
                    <a:pt x="1975" y="2362"/>
                    <a:pt x="1845" y="2681"/>
                  </a:cubicBezTo>
                  <a:lnTo>
                    <a:pt x="1428" y="3702"/>
                  </a:lnTo>
                  <a:cubicBezTo>
                    <a:pt x="1346" y="3905"/>
                    <a:pt x="1191" y="4071"/>
                    <a:pt x="994" y="4167"/>
                  </a:cubicBezTo>
                  <a:lnTo>
                    <a:pt x="0" y="4652"/>
                  </a:lnTo>
                  <a:lnTo>
                    <a:pt x="82" y="0"/>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7"/>
            <p:cNvSpPr/>
            <p:nvPr/>
          </p:nvSpPr>
          <p:spPr>
            <a:xfrm>
              <a:off x="3305175" y="3573463"/>
              <a:ext cx="192088" cy="452438"/>
            </a:xfrm>
            <a:custGeom>
              <a:rect b="b" l="l" r="r" t="t"/>
              <a:pathLst>
                <a:path extrusionOk="0" h="4651" w="1975">
                  <a:moveTo>
                    <a:pt x="82" y="0"/>
                  </a:moveTo>
                  <a:lnTo>
                    <a:pt x="1677" y="1742"/>
                  </a:lnTo>
                  <a:cubicBezTo>
                    <a:pt x="1909" y="1996"/>
                    <a:pt x="1975" y="2361"/>
                    <a:pt x="1845" y="2680"/>
                  </a:cubicBezTo>
                  <a:lnTo>
                    <a:pt x="1429" y="3701"/>
                  </a:lnTo>
                  <a:cubicBezTo>
                    <a:pt x="1346" y="3904"/>
                    <a:pt x="1191" y="4070"/>
                    <a:pt x="994" y="4166"/>
                  </a:cubicBezTo>
                  <a:lnTo>
                    <a:pt x="0" y="4651"/>
                  </a:lnTo>
                  <a:lnTo>
                    <a:pt x="8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7"/>
            <p:cNvSpPr/>
            <p:nvPr/>
          </p:nvSpPr>
          <p:spPr>
            <a:xfrm>
              <a:off x="3332163" y="3651250"/>
              <a:ext cx="192088" cy="473075"/>
            </a:xfrm>
            <a:custGeom>
              <a:rect b="b" l="l" r="r" t="t"/>
              <a:pathLst>
                <a:path extrusionOk="0" h="4855" w="1975">
                  <a:moveTo>
                    <a:pt x="82" y="0"/>
                  </a:moveTo>
                  <a:lnTo>
                    <a:pt x="1677" y="1742"/>
                  </a:lnTo>
                  <a:cubicBezTo>
                    <a:pt x="1910" y="1996"/>
                    <a:pt x="1975" y="2362"/>
                    <a:pt x="1845" y="2681"/>
                  </a:cubicBezTo>
                  <a:lnTo>
                    <a:pt x="1333" y="3444"/>
                  </a:lnTo>
                  <a:cubicBezTo>
                    <a:pt x="1290" y="3509"/>
                    <a:pt x="1245" y="3572"/>
                    <a:pt x="1198" y="3635"/>
                  </a:cubicBezTo>
                  <a:cubicBezTo>
                    <a:pt x="873" y="4069"/>
                    <a:pt x="382" y="4765"/>
                    <a:pt x="198" y="4855"/>
                  </a:cubicBezTo>
                  <a:lnTo>
                    <a:pt x="0" y="4652"/>
                  </a:lnTo>
                  <a:lnTo>
                    <a:pt x="82" y="0"/>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7"/>
            <p:cNvSpPr/>
            <p:nvPr/>
          </p:nvSpPr>
          <p:spPr>
            <a:xfrm>
              <a:off x="1614488" y="2414588"/>
              <a:ext cx="1725613" cy="1787525"/>
            </a:xfrm>
            <a:custGeom>
              <a:rect b="b" l="l" r="r" t="t"/>
              <a:pathLst>
                <a:path extrusionOk="0" h="18348" w="17721">
                  <a:moveTo>
                    <a:pt x="15695" y="18056"/>
                  </a:moveTo>
                  <a:lnTo>
                    <a:pt x="1665" y="14020"/>
                  </a:lnTo>
                  <a:cubicBezTo>
                    <a:pt x="679" y="13737"/>
                    <a:pt x="0" y="12835"/>
                    <a:pt x="0" y="11809"/>
                  </a:cubicBezTo>
                  <a:lnTo>
                    <a:pt x="0" y="1246"/>
                  </a:lnTo>
                  <a:cubicBezTo>
                    <a:pt x="0" y="523"/>
                    <a:pt x="693" y="0"/>
                    <a:pt x="1389" y="201"/>
                  </a:cubicBezTo>
                  <a:lnTo>
                    <a:pt x="16934" y="4672"/>
                  </a:lnTo>
                  <a:cubicBezTo>
                    <a:pt x="17400" y="4806"/>
                    <a:pt x="17721" y="5233"/>
                    <a:pt x="17721" y="5718"/>
                  </a:cubicBezTo>
                  <a:lnTo>
                    <a:pt x="17721" y="16531"/>
                  </a:lnTo>
                  <a:cubicBezTo>
                    <a:pt x="17721" y="17587"/>
                    <a:pt x="16709" y="18348"/>
                    <a:pt x="15695" y="18056"/>
                  </a:cubicBezTo>
                  <a:close/>
                </a:path>
              </a:pathLst>
            </a:custGeom>
            <a:solidFill>
              <a:srgbClr val="C1EB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7"/>
            <p:cNvSpPr/>
            <p:nvPr/>
          </p:nvSpPr>
          <p:spPr>
            <a:xfrm>
              <a:off x="1614488" y="2630488"/>
              <a:ext cx="1725613" cy="1570038"/>
            </a:xfrm>
            <a:custGeom>
              <a:rect b="b" l="l" r="r" t="t"/>
              <a:pathLst>
                <a:path extrusionOk="0" h="16139" w="17721">
                  <a:moveTo>
                    <a:pt x="15658" y="15842"/>
                  </a:moveTo>
                  <a:lnTo>
                    <a:pt x="1636" y="11808"/>
                  </a:lnTo>
                  <a:cubicBezTo>
                    <a:pt x="667" y="11529"/>
                    <a:pt x="0" y="10643"/>
                    <a:pt x="0" y="9635"/>
                  </a:cubicBezTo>
                  <a:lnTo>
                    <a:pt x="0" y="0"/>
                  </a:lnTo>
                  <a:lnTo>
                    <a:pt x="17721" y="5098"/>
                  </a:lnTo>
                  <a:lnTo>
                    <a:pt x="17721" y="14289"/>
                  </a:lnTo>
                  <a:cubicBezTo>
                    <a:pt x="17721" y="15364"/>
                    <a:pt x="16691" y="16139"/>
                    <a:pt x="15658" y="15842"/>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7"/>
            <p:cNvSpPr/>
            <p:nvPr/>
          </p:nvSpPr>
          <p:spPr>
            <a:xfrm>
              <a:off x="2646363" y="3322638"/>
              <a:ext cx="233363" cy="295275"/>
            </a:xfrm>
            <a:custGeom>
              <a:rect b="b" l="l" r="r" t="t"/>
              <a:pathLst>
                <a:path extrusionOk="0" h="3030" w="2401">
                  <a:moveTo>
                    <a:pt x="2397" y="1859"/>
                  </a:moveTo>
                  <a:cubicBezTo>
                    <a:pt x="2401" y="2588"/>
                    <a:pt x="1870" y="3030"/>
                    <a:pt x="1207" y="2839"/>
                  </a:cubicBezTo>
                  <a:cubicBezTo>
                    <a:pt x="539" y="2646"/>
                    <a:pt x="0" y="1887"/>
                    <a:pt x="8" y="1152"/>
                  </a:cubicBezTo>
                  <a:cubicBezTo>
                    <a:pt x="15" y="424"/>
                    <a:pt x="557" y="0"/>
                    <a:pt x="1213" y="199"/>
                  </a:cubicBezTo>
                  <a:cubicBezTo>
                    <a:pt x="1865" y="396"/>
                    <a:pt x="2394" y="1136"/>
                    <a:pt x="2397" y="1859"/>
                  </a:cubicBezTo>
                  <a:close/>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7"/>
            <p:cNvSpPr/>
            <p:nvPr/>
          </p:nvSpPr>
          <p:spPr>
            <a:xfrm>
              <a:off x="2444750" y="3086100"/>
              <a:ext cx="165100" cy="206375"/>
            </a:xfrm>
            <a:custGeom>
              <a:rect b="b" l="l" r="r" t="t"/>
              <a:pathLst>
                <a:path extrusionOk="0" h="2120" w="1710">
                  <a:moveTo>
                    <a:pt x="1060" y="2120"/>
                  </a:moveTo>
                  <a:lnTo>
                    <a:pt x="1060" y="2120"/>
                  </a:lnTo>
                  <a:cubicBezTo>
                    <a:pt x="474" y="2120"/>
                    <a:pt x="0" y="1646"/>
                    <a:pt x="0" y="1060"/>
                  </a:cubicBezTo>
                  <a:lnTo>
                    <a:pt x="0" y="1060"/>
                  </a:lnTo>
                  <a:cubicBezTo>
                    <a:pt x="0" y="475"/>
                    <a:pt x="474" y="0"/>
                    <a:pt x="1060" y="0"/>
                  </a:cubicBezTo>
                  <a:lnTo>
                    <a:pt x="1060" y="0"/>
                  </a:lnTo>
                  <a:cubicBezTo>
                    <a:pt x="1419" y="0"/>
                    <a:pt x="1710" y="291"/>
                    <a:pt x="1710" y="651"/>
                  </a:cubicBezTo>
                  <a:lnTo>
                    <a:pt x="1710" y="1470"/>
                  </a:lnTo>
                  <a:cubicBezTo>
                    <a:pt x="1710" y="1829"/>
                    <a:pt x="1419" y="2120"/>
                    <a:pt x="1060" y="2120"/>
                  </a:cubicBezTo>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7"/>
            <p:cNvSpPr/>
            <p:nvPr/>
          </p:nvSpPr>
          <p:spPr>
            <a:xfrm>
              <a:off x="2498725" y="2957513"/>
              <a:ext cx="549275" cy="596900"/>
            </a:xfrm>
            <a:custGeom>
              <a:rect b="b" l="l" r="r" t="t"/>
              <a:pathLst>
                <a:path extrusionOk="0" h="6119" w="5655">
                  <a:moveTo>
                    <a:pt x="4787" y="5992"/>
                  </a:moveTo>
                  <a:lnTo>
                    <a:pt x="513" y="4605"/>
                  </a:lnTo>
                  <a:cubicBezTo>
                    <a:pt x="196" y="4513"/>
                    <a:pt x="0" y="4196"/>
                    <a:pt x="60" y="3872"/>
                  </a:cubicBezTo>
                  <a:lnTo>
                    <a:pt x="340" y="597"/>
                  </a:lnTo>
                  <a:cubicBezTo>
                    <a:pt x="408" y="231"/>
                    <a:pt x="772" y="0"/>
                    <a:pt x="1132" y="94"/>
                  </a:cubicBezTo>
                  <a:lnTo>
                    <a:pt x="4910" y="1082"/>
                  </a:lnTo>
                  <a:cubicBezTo>
                    <a:pt x="5165" y="1149"/>
                    <a:pt x="5353" y="1365"/>
                    <a:pt x="5384" y="1627"/>
                  </a:cubicBezTo>
                  <a:lnTo>
                    <a:pt x="5601" y="5300"/>
                  </a:lnTo>
                  <a:cubicBezTo>
                    <a:pt x="5655" y="5756"/>
                    <a:pt x="5227" y="6119"/>
                    <a:pt x="4787" y="5992"/>
                  </a:cubicBezTo>
                  <a:close/>
                </a:path>
              </a:pathLst>
            </a:custGeom>
            <a:solidFill>
              <a:srgbClr val="C1EB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7"/>
            <p:cNvSpPr/>
            <p:nvPr/>
          </p:nvSpPr>
          <p:spPr>
            <a:xfrm>
              <a:off x="2598738" y="3100388"/>
              <a:ext cx="306388" cy="319088"/>
            </a:xfrm>
            <a:custGeom>
              <a:rect b="b" l="l" r="r" t="t"/>
              <a:pathLst>
                <a:path extrusionOk="0" h="3276" w="3146">
                  <a:moveTo>
                    <a:pt x="2907" y="3241"/>
                  </a:moveTo>
                  <a:lnTo>
                    <a:pt x="135" y="2444"/>
                  </a:lnTo>
                  <a:cubicBezTo>
                    <a:pt x="55" y="2421"/>
                    <a:pt x="0" y="2348"/>
                    <a:pt x="0" y="2264"/>
                  </a:cubicBezTo>
                  <a:lnTo>
                    <a:pt x="0" y="215"/>
                  </a:lnTo>
                  <a:cubicBezTo>
                    <a:pt x="0" y="90"/>
                    <a:pt x="119" y="0"/>
                    <a:pt x="239" y="34"/>
                  </a:cubicBezTo>
                  <a:lnTo>
                    <a:pt x="3010" y="832"/>
                  </a:lnTo>
                  <a:cubicBezTo>
                    <a:pt x="3091" y="855"/>
                    <a:pt x="3146" y="928"/>
                    <a:pt x="3146" y="1012"/>
                  </a:cubicBezTo>
                  <a:lnTo>
                    <a:pt x="3146" y="3061"/>
                  </a:lnTo>
                  <a:cubicBezTo>
                    <a:pt x="3146" y="3186"/>
                    <a:pt x="3027" y="3276"/>
                    <a:pt x="2907" y="324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7"/>
            <p:cNvSpPr/>
            <p:nvPr/>
          </p:nvSpPr>
          <p:spPr>
            <a:xfrm>
              <a:off x="2592388" y="3095625"/>
              <a:ext cx="320675" cy="327025"/>
            </a:xfrm>
            <a:custGeom>
              <a:rect b="b" l="l" r="r" t="t"/>
              <a:pathLst>
                <a:path extrusionOk="0" h="3370" w="3282">
                  <a:moveTo>
                    <a:pt x="2993" y="3229"/>
                  </a:moveTo>
                  <a:cubicBezTo>
                    <a:pt x="3030" y="3240"/>
                    <a:pt x="3068" y="3233"/>
                    <a:pt x="3099" y="3210"/>
                  </a:cubicBezTo>
                  <a:cubicBezTo>
                    <a:pt x="3129" y="3187"/>
                    <a:pt x="3147" y="3152"/>
                    <a:pt x="3147" y="3114"/>
                  </a:cubicBezTo>
                  <a:lnTo>
                    <a:pt x="3147" y="1065"/>
                  </a:lnTo>
                  <a:cubicBezTo>
                    <a:pt x="3147" y="1012"/>
                    <a:pt x="3111" y="964"/>
                    <a:pt x="3060" y="949"/>
                  </a:cubicBezTo>
                  <a:lnTo>
                    <a:pt x="288" y="152"/>
                  </a:lnTo>
                  <a:cubicBezTo>
                    <a:pt x="252" y="142"/>
                    <a:pt x="213" y="149"/>
                    <a:pt x="183" y="172"/>
                  </a:cubicBezTo>
                  <a:cubicBezTo>
                    <a:pt x="153" y="195"/>
                    <a:pt x="135" y="230"/>
                    <a:pt x="135" y="268"/>
                  </a:cubicBezTo>
                  <a:lnTo>
                    <a:pt x="135" y="2317"/>
                  </a:lnTo>
                  <a:cubicBezTo>
                    <a:pt x="135" y="2370"/>
                    <a:pt x="171" y="2418"/>
                    <a:pt x="222" y="2432"/>
                  </a:cubicBezTo>
                  <a:lnTo>
                    <a:pt x="2993" y="3229"/>
                  </a:lnTo>
                  <a:close/>
                  <a:moveTo>
                    <a:pt x="3027" y="3370"/>
                  </a:moveTo>
                  <a:cubicBezTo>
                    <a:pt x="3004" y="3370"/>
                    <a:pt x="2980" y="3366"/>
                    <a:pt x="2956" y="3359"/>
                  </a:cubicBezTo>
                  <a:lnTo>
                    <a:pt x="2956" y="3359"/>
                  </a:lnTo>
                  <a:lnTo>
                    <a:pt x="185" y="2562"/>
                  </a:lnTo>
                  <a:cubicBezTo>
                    <a:pt x="76" y="2531"/>
                    <a:pt x="0" y="2430"/>
                    <a:pt x="0" y="2317"/>
                  </a:cubicBezTo>
                  <a:lnTo>
                    <a:pt x="0" y="268"/>
                  </a:lnTo>
                  <a:cubicBezTo>
                    <a:pt x="0" y="187"/>
                    <a:pt x="37" y="112"/>
                    <a:pt x="102" y="64"/>
                  </a:cubicBezTo>
                  <a:cubicBezTo>
                    <a:pt x="166" y="15"/>
                    <a:pt x="248" y="0"/>
                    <a:pt x="326" y="22"/>
                  </a:cubicBezTo>
                  <a:lnTo>
                    <a:pt x="3097" y="819"/>
                  </a:lnTo>
                  <a:cubicBezTo>
                    <a:pt x="3206" y="851"/>
                    <a:pt x="3282" y="952"/>
                    <a:pt x="3282" y="1065"/>
                  </a:cubicBezTo>
                  <a:lnTo>
                    <a:pt x="3282" y="3114"/>
                  </a:lnTo>
                  <a:cubicBezTo>
                    <a:pt x="3282" y="3195"/>
                    <a:pt x="3245" y="3269"/>
                    <a:pt x="3180" y="3318"/>
                  </a:cubicBezTo>
                  <a:cubicBezTo>
                    <a:pt x="3135" y="3352"/>
                    <a:pt x="3082" y="3370"/>
                    <a:pt x="3027" y="3370"/>
                  </a:cubicBezTo>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7"/>
            <p:cNvSpPr/>
            <p:nvPr/>
          </p:nvSpPr>
          <p:spPr>
            <a:xfrm>
              <a:off x="2684463" y="3211513"/>
              <a:ext cx="20638" cy="55563"/>
            </a:xfrm>
            <a:custGeom>
              <a:rect b="b" l="l" r="r" t="t"/>
              <a:pathLst>
                <a:path extrusionOk="0" h="584" w="215">
                  <a:moveTo>
                    <a:pt x="108" y="584"/>
                  </a:moveTo>
                  <a:lnTo>
                    <a:pt x="108" y="584"/>
                  </a:lnTo>
                  <a:cubicBezTo>
                    <a:pt x="48" y="584"/>
                    <a:pt x="0" y="536"/>
                    <a:pt x="0" y="476"/>
                  </a:cubicBezTo>
                  <a:lnTo>
                    <a:pt x="0" y="107"/>
                  </a:lnTo>
                  <a:cubicBezTo>
                    <a:pt x="0" y="48"/>
                    <a:pt x="48" y="0"/>
                    <a:pt x="108" y="0"/>
                  </a:cubicBezTo>
                  <a:lnTo>
                    <a:pt x="108" y="0"/>
                  </a:lnTo>
                  <a:cubicBezTo>
                    <a:pt x="167" y="0"/>
                    <a:pt x="215" y="48"/>
                    <a:pt x="215" y="107"/>
                  </a:cubicBezTo>
                  <a:lnTo>
                    <a:pt x="215" y="476"/>
                  </a:lnTo>
                  <a:cubicBezTo>
                    <a:pt x="215" y="536"/>
                    <a:pt x="167" y="584"/>
                    <a:pt x="108" y="584"/>
                  </a:cubicBezTo>
                  <a:close/>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7"/>
            <p:cNvSpPr/>
            <p:nvPr/>
          </p:nvSpPr>
          <p:spPr>
            <a:xfrm>
              <a:off x="2792413" y="3238500"/>
              <a:ext cx="20638" cy="55563"/>
            </a:xfrm>
            <a:custGeom>
              <a:rect b="b" l="l" r="r" t="t"/>
              <a:pathLst>
                <a:path extrusionOk="0" h="585" w="215">
                  <a:moveTo>
                    <a:pt x="108" y="585"/>
                  </a:moveTo>
                  <a:lnTo>
                    <a:pt x="108" y="585"/>
                  </a:lnTo>
                  <a:cubicBezTo>
                    <a:pt x="48" y="585"/>
                    <a:pt x="0" y="536"/>
                    <a:pt x="0" y="477"/>
                  </a:cubicBezTo>
                  <a:lnTo>
                    <a:pt x="0" y="108"/>
                  </a:lnTo>
                  <a:cubicBezTo>
                    <a:pt x="0" y="49"/>
                    <a:pt x="48" y="0"/>
                    <a:pt x="108" y="0"/>
                  </a:cubicBezTo>
                  <a:lnTo>
                    <a:pt x="108" y="0"/>
                  </a:lnTo>
                  <a:cubicBezTo>
                    <a:pt x="167" y="0"/>
                    <a:pt x="215" y="49"/>
                    <a:pt x="215" y="108"/>
                  </a:cubicBezTo>
                  <a:lnTo>
                    <a:pt x="215" y="477"/>
                  </a:lnTo>
                  <a:cubicBezTo>
                    <a:pt x="215" y="536"/>
                    <a:pt x="167" y="585"/>
                    <a:pt x="108" y="585"/>
                  </a:cubicBezTo>
                  <a:close/>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7"/>
            <p:cNvSpPr/>
            <p:nvPr/>
          </p:nvSpPr>
          <p:spPr>
            <a:xfrm>
              <a:off x="2965450" y="3219450"/>
              <a:ext cx="166688" cy="206375"/>
            </a:xfrm>
            <a:custGeom>
              <a:rect b="b" l="l" r="r" t="t"/>
              <a:pathLst>
                <a:path extrusionOk="0" h="2120" w="1711">
                  <a:moveTo>
                    <a:pt x="651" y="2120"/>
                  </a:moveTo>
                  <a:lnTo>
                    <a:pt x="651" y="2120"/>
                  </a:lnTo>
                  <a:cubicBezTo>
                    <a:pt x="1236" y="2120"/>
                    <a:pt x="1711" y="1645"/>
                    <a:pt x="1711" y="1060"/>
                  </a:cubicBezTo>
                  <a:lnTo>
                    <a:pt x="1711" y="1060"/>
                  </a:lnTo>
                  <a:cubicBezTo>
                    <a:pt x="1711" y="474"/>
                    <a:pt x="1236" y="0"/>
                    <a:pt x="651" y="0"/>
                  </a:cubicBezTo>
                  <a:lnTo>
                    <a:pt x="651" y="0"/>
                  </a:lnTo>
                  <a:cubicBezTo>
                    <a:pt x="292" y="0"/>
                    <a:pt x="0" y="291"/>
                    <a:pt x="0" y="650"/>
                  </a:cubicBezTo>
                  <a:lnTo>
                    <a:pt x="0" y="1469"/>
                  </a:lnTo>
                  <a:cubicBezTo>
                    <a:pt x="0" y="1829"/>
                    <a:pt x="292" y="2120"/>
                    <a:pt x="651" y="2120"/>
                  </a:cubicBezTo>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7"/>
            <p:cNvSpPr/>
            <p:nvPr/>
          </p:nvSpPr>
          <p:spPr>
            <a:xfrm>
              <a:off x="2362200" y="3465513"/>
              <a:ext cx="801688" cy="719138"/>
            </a:xfrm>
            <a:custGeom>
              <a:rect b="b" l="l" r="r" t="t"/>
              <a:pathLst>
                <a:path extrusionOk="0" h="7394" w="8233">
                  <a:moveTo>
                    <a:pt x="6840" y="1527"/>
                  </a:moveTo>
                  <a:lnTo>
                    <a:pt x="2140" y="180"/>
                  </a:lnTo>
                  <a:cubicBezTo>
                    <a:pt x="1509" y="0"/>
                    <a:pt x="859" y="401"/>
                    <a:pt x="739" y="1046"/>
                  </a:cubicBezTo>
                  <a:lnTo>
                    <a:pt x="0" y="4984"/>
                  </a:lnTo>
                  <a:lnTo>
                    <a:pt x="8233" y="7394"/>
                  </a:lnTo>
                  <a:lnTo>
                    <a:pt x="7639" y="2465"/>
                  </a:lnTo>
                  <a:cubicBezTo>
                    <a:pt x="7585" y="2020"/>
                    <a:pt x="7271" y="1651"/>
                    <a:pt x="6840" y="1527"/>
                  </a:cubicBezTo>
                </a:path>
              </a:pathLst>
            </a:custGeom>
            <a:solidFill>
              <a:srgbClr val="C1EB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7"/>
            <p:cNvSpPr/>
            <p:nvPr/>
          </p:nvSpPr>
          <p:spPr>
            <a:xfrm>
              <a:off x="2684463" y="3287713"/>
              <a:ext cx="123825" cy="52388"/>
            </a:xfrm>
            <a:custGeom>
              <a:rect b="b" l="l" r="r" t="t"/>
              <a:pathLst>
                <a:path extrusionOk="0" h="524" w="1278">
                  <a:moveTo>
                    <a:pt x="790" y="466"/>
                  </a:moveTo>
                  <a:cubicBezTo>
                    <a:pt x="326" y="466"/>
                    <a:pt x="28" y="124"/>
                    <a:pt x="24" y="119"/>
                  </a:cubicBezTo>
                  <a:cubicBezTo>
                    <a:pt x="0" y="91"/>
                    <a:pt x="4" y="48"/>
                    <a:pt x="32" y="24"/>
                  </a:cubicBezTo>
                  <a:cubicBezTo>
                    <a:pt x="60" y="0"/>
                    <a:pt x="103" y="3"/>
                    <a:pt x="127" y="32"/>
                  </a:cubicBezTo>
                  <a:cubicBezTo>
                    <a:pt x="145" y="52"/>
                    <a:pt x="559" y="524"/>
                    <a:pt x="1172" y="242"/>
                  </a:cubicBezTo>
                  <a:cubicBezTo>
                    <a:pt x="1206" y="226"/>
                    <a:pt x="1246" y="241"/>
                    <a:pt x="1262" y="275"/>
                  </a:cubicBezTo>
                  <a:cubicBezTo>
                    <a:pt x="1278" y="309"/>
                    <a:pt x="1263" y="349"/>
                    <a:pt x="1229" y="364"/>
                  </a:cubicBezTo>
                  <a:cubicBezTo>
                    <a:pt x="1071" y="437"/>
                    <a:pt x="923" y="466"/>
                    <a:pt x="790" y="466"/>
                  </a:cubicBezTo>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7"/>
            <p:cNvSpPr/>
            <p:nvPr/>
          </p:nvSpPr>
          <p:spPr>
            <a:xfrm>
              <a:off x="1608138" y="2419350"/>
              <a:ext cx="1738313" cy="1766888"/>
            </a:xfrm>
            <a:custGeom>
              <a:rect b="b" l="l" r="r" t="t"/>
              <a:pathLst>
                <a:path extrusionOk="0" h="18153" w="17857">
                  <a:moveTo>
                    <a:pt x="1153" y="191"/>
                  </a:moveTo>
                  <a:cubicBezTo>
                    <a:pt x="935" y="191"/>
                    <a:pt x="722" y="262"/>
                    <a:pt x="542" y="397"/>
                  </a:cubicBezTo>
                  <a:cubicBezTo>
                    <a:pt x="284" y="592"/>
                    <a:pt x="136" y="889"/>
                    <a:pt x="136" y="1212"/>
                  </a:cubicBezTo>
                  <a:lnTo>
                    <a:pt x="136" y="11775"/>
                  </a:lnTo>
                  <a:cubicBezTo>
                    <a:pt x="136" y="12765"/>
                    <a:pt x="800" y="13647"/>
                    <a:pt x="1752" y="13921"/>
                  </a:cubicBezTo>
                  <a:lnTo>
                    <a:pt x="15782" y="17957"/>
                  </a:lnTo>
                  <a:lnTo>
                    <a:pt x="15782" y="17957"/>
                  </a:lnTo>
                  <a:cubicBezTo>
                    <a:pt x="16245" y="18090"/>
                    <a:pt x="16731" y="18000"/>
                    <a:pt x="17116" y="17711"/>
                  </a:cubicBezTo>
                  <a:cubicBezTo>
                    <a:pt x="17501" y="17421"/>
                    <a:pt x="17721" y="16979"/>
                    <a:pt x="17721" y="16497"/>
                  </a:cubicBezTo>
                  <a:lnTo>
                    <a:pt x="17721" y="5684"/>
                  </a:lnTo>
                  <a:cubicBezTo>
                    <a:pt x="17721" y="5232"/>
                    <a:pt x="17418" y="4828"/>
                    <a:pt x="16983" y="4703"/>
                  </a:cubicBezTo>
                  <a:lnTo>
                    <a:pt x="1438" y="232"/>
                  </a:lnTo>
                  <a:cubicBezTo>
                    <a:pt x="1344" y="205"/>
                    <a:pt x="1248" y="191"/>
                    <a:pt x="1153" y="191"/>
                  </a:cubicBezTo>
                  <a:close/>
                  <a:moveTo>
                    <a:pt x="16206" y="18153"/>
                  </a:moveTo>
                  <a:cubicBezTo>
                    <a:pt x="16052" y="18153"/>
                    <a:pt x="15897" y="18131"/>
                    <a:pt x="15744" y="18087"/>
                  </a:cubicBezTo>
                  <a:lnTo>
                    <a:pt x="1714" y="14051"/>
                  </a:lnTo>
                  <a:cubicBezTo>
                    <a:pt x="705" y="13761"/>
                    <a:pt x="0" y="12825"/>
                    <a:pt x="0" y="11775"/>
                  </a:cubicBezTo>
                  <a:lnTo>
                    <a:pt x="0" y="1212"/>
                  </a:lnTo>
                  <a:cubicBezTo>
                    <a:pt x="0" y="846"/>
                    <a:pt x="168" y="509"/>
                    <a:pt x="461" y="289"/>
                  </a:cubicBezTo>
                  <a:cubicBezTo>
                    <a:pt x="754" y="69"/>
                    <a:pt x="1124" y="0"/>
                    <a:pt x="1476" y="102"/>
                  </a:cubicBezTo>
                  <a:lnTo>
                    <a:pt x="17020" y="4573"/>
                  </a:lnTo>
                  <a:cubicBezTo>
                    <a:pt x="17513" y="4715"/>
                    <a:pt x="17857" y="5172"/>
                    <a:pt x="17857" y="5684"/>
                  </a:cubicBezTo>
                  <a:lnTo>
                    <a:pt x="17857" y="16497"/>
                  </a:lnTo>
                  <a:cubicBezTo>
                    <a:pt x="17857" y="17021"/>
                    <a:pt x="17616" y="17503"/>
                    <a:pt x="17197" y="17819"/>
                  </a:cubicBezTo>
                  <a:cubicBezTo>
                    <a:pt x="16905" y="18039"/>
                    <a:pt x="16560" y="18153"/>
                    <a:pt x="16206" y="18153"/>
                  </a:cubicBezTo>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7"/>
            <p:cNvSpPr/>
            <p:nvPr/>
          </p:nvSpPr>
          <p:spPr>
            <a:xfrm>
              <a:off x="1697038" y="2511425"/>
              <a:ext cx="100013" cy="100013"/>
            </a:xfrm>
            <a:prstGeom prst="ellipse">
              <a:avLst/>
            </a:prstGeom>
            <a:solidFill>
              <a:srgbClr val="F579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7"/>
            <p:cNvSpPr/>
            <p:nvPr/>
          </p:nvSpPr>
          <p:spPr>
            <a:xfrm>
              <a:off x="1863725" y="2551113"/>
              <a:ext cx="100013" cy="100013"/>
            </a:xfrm>
            <a:prstGeom prst="ellipse">
              <a:avLst/>
            </a:prstGeom>
            <a:solidFill>
              <a:srgbClr val="ED2B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7"/>
            <p:cNvSpPr/>
            <p:nvPr/>
          </p:nvSpPr>
          <p:spPr>
            <a:xfrm>
              <a:off x="2032000" y="2589213"/>
              <a:ext cx="100013" cy="100013"/>
            </a:xfrm>
            <a:prstGeom prst="ellipse">
              <a:avLst/>
            </a:prstGeom>
            <a:solidFill>
              <a:srgbClr val="94D0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7"/>
            <p:cNvSpPr/>
            <p:nvPr/>
          </p:nvSpPr>
          <p:spPr>
            <a:xfrm>
              <a:off x="1606550" y="2622550"/>
              <a:ext cx="1739900" cy="509588"/>
            </a:xfrm>
            <a:custGeom>
              <a:rect b="b" l="l" r="r" t="t"/>
              <a:pathLst>
                <a:path extrusionOk="0" h="5242" w="17871">
                  <a:moveTo>
                    <a:pt x="17796" y="5242"/>
                  </a:moveTo>
                  <a:cubicBezTo>
                    <a:pt x="17790" y="5242"/>
                    <a:pt x="17784" y="5241"/>
                    <a:pt x="17777" y="5239"/>
                  </a:cubicBezTo>
                  <a:lnTo>
                    <a:pt x="56" y="141"/>
                  </a:lnTo>
                  <a:cubicBezTo>
                    <a:pt x="20" y="131"/>
                    <a:pt x="0" y="93"/>
                    <a:pt x="10" y="57"/>
                  </a:cubicBezTo>
                  <a:cubicBezTo>
                    <a:pt x="20" y="21"/>
                    <a:pt x="58" y="0"/>
                    <a:pt x="94" y="11"/>
                  </a:cubicBezTo>
                  <a:lnTo>
                    <a:pt x="17815" y="5109"/>
                  </a:lnTo>
                  <a:cubicBezTo>
                    <a:pt x="17851" y="5119"/>
                    <a:pt x="17871" y="5157"/>
                    <a:pt x="17861" y="5193"/>
                  </a:cubicBezTo>
                  <a:cubicBezTo>
                    <a:pt x="17852" y="5222"/>
                    <a:pt x="17825" y="5242"/>
                    <a:pt x="17796" y="5242"/>
                  </a:cubicBezTo>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7"/>
            <p:cNvSpPr/>
            <p:nvPr/>
          </p:nvSpPr>
          <p:spPr>
            <a:xfrm>
              <a:off x="2020888" y="3397250"/>
              <a:ext cx="282575" cy="227013"/>
            </a:xfrm>
            <a:custGeom>
              <a:rect b="b" l="l" r="r" t="t"/>
              <a:pathLst>
                <a:path extrusionOk="0" h="2334" w="2903">
                  <a:moveTo>
                    <a:pt x="2903" y="2334"/>
                  </a:moveTo>
                  <a:lnTo>
                    <a:pt x="2542" y="1618"/>
                  </a:lnTo>
                  <a:cubicBezTo>
                    <a:pt x="2386" y="1309"/>
                    <a:pt x="2149" y="1049"/>
                    <a:pt x="1855" y="867"/>
                  </a:cubicBezTo>
                  <a:lnTo>
                    <a:pt x="610" y="94"/>
                  </a:lnTo>
                  <a:cubicBezTo>
                    <a:pt x="500" y="10"/>
                    <a:pt x="350" y="0"/>
                    <a:pt x="229" y="69"/>
                  </a:cubicBezTo>
                  <a:lnTo>
                    <a:pt x="229" y="69"/>
                  </a:lnTo>
                  <a:cubicBezTo>
                    <a:pt x="49" y="172"/>
                    <a:pt x="0" y="411"/>
                    <a:pt x="126" y="577"/>
                  </a:cubicBezTo>
                  <a:lnTo>
                    <a:pt x="655" y="1276"/>
                  </a:lnTo>
                  <a:lnTo>
                    <a:pt x="342" y="2018"/>
                  </a:lnTo>
                  <a:lnTo>
                    <a:pt x="2903" y="2334"/>
                  </a:lnTo>
                  <a:close/>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7"/>
            <p:cNvSpPr/>
            <p:nvPr/>
          </p:nvSpPr>
          <p:spPr>
            <a:xfrm>
              <a:off x="1800225" y="2733675"/>
              <a:ext cx="476250" cy="793750"/>
            </a:xfrm>
            <a:custGeom>
              <a:rect b="b" l="l" r="r" t="t"/>
              <a:pathLst>
                <a:path extrusionOk="0" h="500" w="300">
                  <a:moveTo>
                    <a:pt x="300" y="500"/>
                  </a:moveTo>
                  <a:lnTo>
                    <a:pt x="0" y="410"/>
                  </a:lnTo>
                  <a:lnTo>
                    <a:pt x="0" y="0"/>
                  </a:lnTo>
                  <a:lnTo>
                    <a:pt x="300" y="90"/>
                  </a:lnTo>
                  <a:lnTo>
                    <a:pt x="300" y="500"/>
                  </a:lnTo>
                  <a:close/>
                </a:path>
              </a:pathLst>
            </a:custGeom>
            <a:solidFill>
              <a:srgbClr val="F579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7"/>
            <p:cNvSpPr/>
            <p:nvPr/>
          </p:nvSpPr>
          <p:spPr>
            <a:xfrm>
              <a:off x="1793875" y="2870200"/>
              <a:ext cx="488950" cy="665163"/>
            </a:xfrm>
            <a:custGeom>
              <a:rect b="b" l="l" r="r" t="t"/>
              <a:pathLst>
                <a:path extrusionOk="0" h="6832" w="5024">
                  <a:moveTo>
                    <a:pt x="4957" y="6832"/>
                  </a:moveTo>
                  <a:cubicBezTo>
                    <a:pt x="4950" y="6832"/>
                    <a:pt x="4944" y="6831"/>
                    <a:pt x="4937" y="6829"/>
                  </a:cubicBezTo>
                  <a:lnTo>
                    <a:pt x="56" y="5358"/>
                  </a:lnTo>
                  <a:cubicBezTo>
                    <a:pt x="20" y="5348"/>
                    <a:pt x="0" y="5310"/>
                    <a:pt x="10" y="5274"/>
                  </a:cubicBezTo>
                  <a:cubicBezTo>
                    <a:pt x="21" y="5238"/>
                    <a:pt x="59" y="5218"/>
                    <a:pt x="95" y="5229"/>
                  </a:cubicBezTo>
                  <a:lnTo>
                    <a:pt x="4889" y="6673"/>
                  </a:lnTo>
                  <a:lnTo>
                    <a:pt x="4889" y="67"/>
                  </a:lnTo>
                  <a:cubicBezTo>
                    <a:pt x="4889" y="30"/>
                    <a:pt x="4919" y="0"/>
                    <a:pt x="4957" y="0"/>
                  </a:cubicBezTo>
                  <a:cubicBezTo>
                    <a:pt x="4994" y="0"/>
                    <a:pt x="5024" y="30"/>
                    <a:pt x="5024" y="67"/>
                  </a:cubicBezTo>
                  <a:lnTo>
                    <a:pt x="5024" y="6764"/>
                  </a:lnTo>
                  <a:cubicBezTo>
                    <a:pt x="5024" y="6785"/>
                    <a:pt x="5014" y="6805"/>
                    <a:pt x="4997" y="6818"/>
                  </a:cubicBezTo>
                  <a:cubicBezTo>
                    <a:pt x="4985" y="6827"/>
                    <a:pt x="4971" y="6832"/>
                    <a:pt x="4957" y="6832"/>
                  </a:cubicBezTo>
                </a:path>
              </a:pathLst>
            </a:custGeom>
            <a:solidFill>
              <a:srgbClr val="C318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7"/>
            <p:cNvSpPr/>
            <p:nvPr/>
          </p:nvSpPr>
          <p:spPr>
            <a:xfrm>
              <a:off x="1863725" y="2838450"/>
              <a:ext cx="349250" cy="584200"/>
            </a:xfrm>
            <a:custGeom>
              <a:rect b="b" l="l" r="r" t="t"/>
              <a:pathLst>
                <a:path extrusionOk="0" h="368" w="220">
                  <a:moveTo>
                    <a:pt x="220" y="368"/>
                  </a:moveTo>
                  <a:lnTo>
                    <a:pt x="0" y="302"/>
                  </a:lnTo>
                  <a:lnTo>
                    <a:pt x="0" y="0"/>
                  </a:lnTo>
                  <a:lnTo>
                    <a:pt x="220" y="66"/>
                  </a:lnTo>
                  <a:lnTo>
                    <a:pt x="220" y="3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7"/>
            <p:cNvSpPr/>
            <p:nvPr/>
          </p:nvSpPr>
          <p:spPr>
            <a:xfrm>
              <a:off x="1863725" y="2943225"/>
              <a:ext cx="349250" cy="479425"/>
            </a:xfrm>
            <a:custGeom>
              <a:rect b="b" l="l" r="r" t="t"/>
              <a:pathLst>
                <a:path extrusionOk="0" h="4925" w="3590">
                  <a:moveTo>
                    <a:pt x="3590" y="0"/>
                  </a:moveTo>
                  <a:lnTo>
                    <a:pt x="3590" y="4925"/>
                  </a:lnTo>
                  <a:lnTo>
                    <a:pt x="0" y="3844"/>
                  </a:ln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7"/>
            <p:cNvSpPr/>
            <p:nvPr/>
          </p:nvSpPr>
          <p:spPr>
            <a:xfrm>
              <a:off x="2079625" y="3240088"/>
              <a:ext cx="52388" cy="112713"/>
            </a:xfrm>
            <a:custGeom>
              <a:rect b="b" l="l" r="r" t="t"/>
              <a:pathLst>
                <a:path extrusionOk="0" h="71" w="33">
                  <a:moveTo>
                    <a:pt x="33" y="71"/>
                  </a:moveTo>
                  <a:lnTo>
                    <a:pt x="0" y="61"/>
                  </a:lnTo>
                  <a:lnTo>
                    <a:pt x="0" y="0"/>
                  </a:lnTo>
                  <a:lnTo>
                    <a:pt x="33" y="10"/>
                  </a:lnTo>
                  <a:lnTo>
                    <a:pt x="33" y="71"/>
                  </a:lnTo>
                  <a:close/>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7"/>
            <p:cNvSpPr/>
            <p:nvPr/>
          </p:nvSpPr>
          <p:spPr>
            <a:xfrm>
              <a:off x="1995488" y="3182938"/>
              <a:ext cx="52388" cy="144463"/>
            </a:xfrm>
            <a:custGeom>
              <a:rect b="b" l="l" r="r" t="t"/>
              <a:pathLst>
                <a:path extrusionOk="0" h="91" w="33">
                  <a:moveTo>
                    <a:pt x="33" y="91"/>
                  </a:moveTo>
                  <a:lnTo>
                    <a:pt x="0" y="82"/>
                  </a:lnTo>
                  <a:lnTo>
                    <a:pt x="0" y="0"/>
                  </a:lnTo>
                  <a:lnTo>
                    <a:pt x="33" y="10"/>
                  </a:lnTo>
                  <a:lnTo>
                    <a:pt x="33" y="91"/>
                  </a:lnTo>
                  <a:close/>
                </a:path>
              </a:pathLst>
            </a:custGeom>
            <a:solidFill>
              <a:srgbClr val="ED2B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7"/>
            <p:cNvSpPr/>
            <p:nvPr/>
          </p:nvSpPr>
          <p:spPr>
            <a:xfrm>
              <a:off x="1925638" y="3243263"/>
              <a:ext cx="50800" cy="60325"/>
            </a:xfrm>
            <a:custGeom>
              <a:rect b="b" l="l" r="r" t="t"/>
              <a:pathLst>
                <a:path extrusionOk="0" h="38" w="32">
                  <a:moveTo>
                    <a:pt x="32" y="38"/>
                  </a:moveTo>
                  <a:lnTo>
                    <a:pt x="0" y="28"/>
                  </a:lnTo>
                  <a:lnTo>
                    <a:pt x="0" y="0"/>
                  </a:lnTo>
                  <a:lnTo>
                    <a:pt x="32" y="10"/>
                  </a:lnTo>
                  <a:lnTo>
                    <a:pt x="32" y="38"/>
                  </a:lnTo>
                  <a:close/>
                </a:path>
              </a:pathLst>
            </a:custGeom>
            <a:solidFill>
              <a:srgbClr val="FBCB0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7"/>
            <p:cNvSpPr/>
            <p:nvPr/>
          </p:nvSpPr>
          <p:spPr>
            <a:xfrm>
              <a:off x="1893888" y="3013075"/>
              <a:ext cx="282575" cy="354013"/>
            </a:xfrm>
            <a:custGeom>
              <a:rect b="b" l="l" r="r" t="t"/>
              <a:pathLst>
                <a:path extrusionOk="0" h="3650" w="2906">
                  <a:moveTo>
                    <a:pt x="2838" y="3650"/>
                  </a:moveTo>
                  <a:cubicBezTo>
                    <a:pt x="2832" y="3650"/>
                    <a:pt x="2826" y="3650"/>
                    <a:pt x="2820" y="3648"/>
                  </a:cubicBezTo>
                  <a:lnTo>
                    <a:pt x="57" y="2879"/>
                  </a:lnTo>
                  <a:cubicBezTo>
                    <a:pt x="21" y="2869"/>
                    <a:pt x="0" y="2832"/>
                    <a:pt x="10" y="2796"/>
                  </a:cubicBezTo>
                  <a:cubicBezTo>
                    <a:pt x="20" y="2760"/>
                    <a:pt x="58" y="2739"/>
                    <a:pt x="93" y="2749"/>
                  </a:cubicBezTo>
                  <a:lnTo>
                    <a:pt x="2770" y="3494"/>
                  </a:lnTo>
                  <a:lnTo>
                    <a:pt x="2770" y="68"/>
                  </a:lnTo>
                  <a:cubicBezTo>
                    <a:pt x="2770" y="31"/>
                    <a:pt x="2800" y="0"/>
                    <a:pt x="2838" y="0"/>
                  </a:cubicBezTo>
                  <a:cubicBezTo>
                    <a:pt x="2875" y="0"/>
                    <a:pt x="2906" y="31"/>
                    <a:pt x="2906" y="68"/>
                  </a:cubicBezTo>
                  <a:lnTo>
                    <a:pt x="2906" y="3583"/>
                  </a:lnTo>
                  <a:cubicBezTo>
                    <a:pt x="2906" y="3604"/>
                    <a:pt x="2896" y="3624"/>
                    <a:pt x="2879" y="3637"/>
                  </a:cubicBezTo>
                  <a:cubicBezTo>
                    <a:pt x="2867" y="3646"/>
                    <a:pt x="2852" y="3650"/>
                    <a:pt x="2838" y="3650"/>
                  </a:cubicBezTo>
                </a:path>
              </a:pathLst>
            </a:custGeom>
            <a:solidFill>
              <a:srgbClr val="C318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7"/>
            <p:cNvSpPr/>
            <p:nvPr/>
          </p:nvSpPr>
          <p:spPr>
            <a:xfrm>
              <a:off x="1731963" y="3354388"/>
              <a:ext cx="577850" cy="449263"/>
            </a:xfrm>
            <a:custGeom>
              <a:rect b="b" l="l" r="r" t="t"/>
              <a:pathLst>
                <a:path extrusionOk="0" h="4619" w="5944">
                  <a:moveTo>
                    <a:pt x="611" y="17"/>
                  </a:moveTo>
                  <a:cubicBezTo>
                    <a:pt x="442" y="61"/>
                    <a:pt x="321" y="206"/>
                    <a:pt x="450" y="412"/>
                  </a:cubicBezTo>
                  <a:lnTo>
                    <a:pt x="292" y="474"/>
                  </a:lnTo>
                  <a:cubicBezTo>
                    <a:pt x="87" y="553"/>
                    <a:pt x="0" y="795"/>
                    <a:pt x="107" y="987"/>
                  </a:cubicBezTo>
                  <a:lnTo>
                    <a:pt x="1327" y="3177"/>
                  </a:lnTo>
                  <a:lnTo>
                    <a:pt x="4281" y="4501"/>
                  </a:lnTo>
                  <a:cubicBezTo>
                    <a:pt x="4545" y="4619"/>
                    <a:pt x="4852" y="4598"/>
                    <a:pt x="5098" y="4445"/>
                  </a:cubicBezTo>
                  <a:cubicBezTo>
                    <a:pt x="5638" y="4109"/>
                    <a:pt x="5944" y="3499"/>
                    <a:pt x="5890" y="2865"/>
                  </a:cubicBezTo>
                  <a:cubicBezTo>
                    <a:pt x="5870" y="2626"/>
                    <a:pt x="5705" y="2424"/>
                    <a:pt x="5475" y="2356"/>
                  </a:cubicBezTo>
                  <a:lnTo>
                    <a:pt x="3226" y="1698"/>
                  </a:lnTo>
                  <a:lnTo>
                    <a:pt x="2666" y="430"/>
                  </a:lnTo>
                  <a:cubicBezTo>
                    <a:pt x="2608" y="299"/>
                    <a:pt x="2485" y="209"/>
                    <a:pt x="2343" y="193"/>
                  </a:cubicBezTo>
                  <a:cubicBezTo>
                    <a:pt x="2068" y="162"/>
                    <a:pt x="1845" y="411"/>
                    <a:pt x="1905" y="680"/>
                  </a:cubicBezTo>
                  <a:lnTo>
                    <a:pt x="1976" y="1000"/>
                  </a:lnTo>
                  <a:cubicBezTo>
                    <a:pt x="1976" y="1000"/>
                    <a:pt x="1410" y="367"/>
                    <a:pt x="1410" y="367"/>
                  </a:cubicBezTo>
                  <a:cubicBezTo>
                    <a:pt x="1260" y="199"/>
                    <a:pt x="1024" y="44"/>
                    <a:pt x="785" y="8"/>
                  </a:cubicBezTo>
                  <a:cubicBezTo>
                    <a:pt x="726" y="0"/>
                    <a:pt x="666" y="3"/>
                    <a:pt x="611" y="17"/>
                  </a:cubicBezTo>
                </a:path>
              </a:pathLst>
            </a:custGeom>
            <a:solidFill>
              <a:srgbClr val="C1EB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7"/>
            <p:cNvSpPr/>
            <p:nvPr/>
          </p:nvSpPr>
          <p:spPr>
            <a:xfrm>
              <a:off x="1916113" y="3443288"/>
              <a:ext cx="63500" cy="139700"/>
            </a:xfrm>
            <a:custGeom>
              <a:rect b="b" l="l" r="r" t="t"/>
              <a:pathLst>
                <a:path extrusionOk="0" h="1426" w="645">
                  <a:moveTo>
                    <a:pt x="569" y="1426"/>
                  </a:moveTo>
                  <a:cubicBezTo>
                    <a:pt x="541" y="1426"/>
                    <a:pt x="516" y="1410"/>
                    <a:pt x="505" y="1383"/>
                  </a:cubicBezTo>
                  <a:lnTo>
                    <a:pt x="14" y="101"/>
                  </a:lnTo>
                  <a:cubicBezTo>
                    <a:pt x="0" y="66"/>
                    <a:pt x="18" y="27"/>
                    <a:pt x="53" y="13"/>
                  </a:cubicBezTo>
                  <a:cubicBezTo>
                    <a:pt x="87" y="0"/>
                    <a:pt x="127" y="18"/>
                    <a:pt x="140" y="52"/>
                  </a:cubicBezTo>
                  <a:lnTo>
                    <a:pt x="632" y="1334"/>
                  </a:lnTo>
                  <a:cubicBezTo>
                    <a:pt x="645" y="1369"/>
                    <a:pt x="628" y="1408"/>
                    <a:pt x="593" y="1422"/>
                  </a:cubicBezTo>
                  <a:cubicBezTo>
                    <a:pt x="585" y="1425"/>
                    <a:pt x="577" y="1426"/>
                    <a:pt x="569" y="1426"/>
                  </a:cubicBezTo>
                  <a:close/>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7"/>
            <p:cNvSpPr/>
            <p:nvPr/>
          </p:nvSpPr>
          <p:spPr>
            <a:xfrm>
              <a:off x="1768475" y="3386138"/>
              <a:ext cx="146050" cy="236538"/>
            </a:xfrm>
            <a:custGeom>
              <a:rect b="b" l="l" r="r" t="t"/>
              <a:pathLst>
                <a:path extrusionOk="0" h="2428" w="1507">
                  <a:moveTo>
                    <a:pt x="1430" y="2428"/>
                  </a:moveTo>
                  <a:cubicBezTo>
                    <a:pt x="1407" y="2428"/>
                    <a:pt x="1384" y="2416"/>
                    <a:pt x="1372" y="2395"/>
                  </a:cubicBezTo>
                  <a:lnTo>
                    <a:pt x="19" y="112"/>
                  </a:lnTo>
                  <a:cubicBezTo>
                    <a:pt x="0" y="80"/>
                    <a:pt x="10" y="38"/>
                    <a:pt x="43" y="19"/>
                  </a:cubicBezTo>
                  <a:cubicBezTo>
                    <a:pt x="75" y="0"/>
                    <a:pt x="116" y="11"/>
                    <a:pt x="135" y="43"/>
                  </a:cubicBezTo>
                  <a:lnTo>
                    <a:pt x="1488" y="2326"/>
                  </a:lnTo>
                  <a:cubicBezTo>
                    <a:pt x="1507" y="2358"/>
                    <a:pt x="1496" y="2399"/>
                    <a:pt x="1464" y="2418"/>
                  </a:cubicBezTo>
                  <a:cubicBezTo>
                    <a:pt x="1453" y="2425"/>
                    <a:pt x="1442" y="2428"/>
                    <a:pt x="1430" y="2428"/>
                  </a:cubicBezTo>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7"/>
            <p:cNvSpPr/>
            <p:nvPr/>
          </p:nvSpPr>
          <p:spPr>
            <a:xfrm>
              <a:off x="1992313" y="3538538"/>
              <a:ext cx="44450" cy="49213"/>
            </a:xfrm>
            <a:custGeom>
              <a:rect b="b" l="l" r="r" t="t"/>
              <a:pathLst>
                <a:path extrusionOk="0" h="497" w="459">
                  <a:moveTo>
                    <a:pt x="38" y="186"/>
                  </a:moveTo>
                  <a:lnTo>
                    <a:pt x="261" y="447"/>
                  </a:lnTo>
                  <a:cubicBezTo>
                    <a:pt x="299" y="491"/>
                    <a:pt x="366" y="497"/>
                    <a:pt x="410" y="459"/>
                  </a:cubicBezTo>
                  <a:lnTo>
                    <a:pt x="410" y="459"/>
                  </a:lnTo>
                  <a:cubicBezTo>
                    <a:pt x="454" y="421"/>
                    <a:pt x="459" y="354"/>
                    <a:pt x="422" y="310"/>
                  </a:cubicBezTo>
                  <a:lnTo>
                    <a:pt x="198" y="49"/>
                  </a:lnTo>
                  <a:cubicBezTo>
                    <a:pt x="161" y="5"/>
                    <a:pt x="94" y="0"/>
                    <a:pt x="50" y="37"/>
                  </a:cubicBezTo>
                  <a:lnTo>
                    <a:pt x="50" y="37"/>
                  </a:lnTo>
                  <a:cubicBezTo>
                    <a:pt x="5" y="75"/>
                    <a:pt x="0" y="142"/>
                    <a:pt x="38" y="186"/>
                  </a:cubicBezTo>
                  <a:close/>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7"/>
            <p:cNvSpPr/>
            <p:nvPr/>
          </p:nvSpPr>
          <p:spPr>
            <a:xfrm>
              <a:off x="1920875" y="3573463"/>
              <a:ext cx="41275" cy="52388"/>
            </a:xfrm>
            <a:custGeom>
              <a:rect b="b" l="l" r="r" t="t"/>
              <a:pathLst>
                <a:path extrusionOk="0" h="538" w="413">
                  <a:moveTo>
                    <a:pt x="29" y="173"/>
                  </a:moveTo>
                  <a:lnTo>
                    <a:pt x="201" y="470"/>
                  </a:lnTo>
                  <a:cubicBezTo>
                    <a:pt x="230" y="520"/>
                    <a:pt x="295" y="538"/>
                    <a:pt x="345" y="508"/>
                  </a:cubicBezTo>
                  <a:lnTo>
                    <a:pt x="345" y="508"/>
                  </a:lnTo>
                  <a:cubicBezTo>
                    <a:pt x="396" y="479"/>
                    <a:pt x="413" y="415"/>
                    <a:pt x="384" y="364"/>
                  </a:cubicBezTo>
                  <a:lnTo>
                    <a:pt x="212" y="67"/>
                  </a:lnTo>
                  <a:cubicBezTo>
                    <a:pt x="183" y="17"/>
                    <a:pt x="118" y="0"/>
                    <a:pt x="68" y="29"/>
                  </a:cubicBezTo>
                  <a:lnTo>
                    <a:pt x="68" y="29"/>
                  </a:lnTo>
                  <a:cubicBezTo>
                    <a:pt x="17" y="58"/>
                    <a:pt x="0" y="123"/>
                    <a:pt x="29" y="173"/>
                  </a:cubicBezTo>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7"/>
            <p:cNvSpPr/>
            <p:nvPr/>
          </p:nvSpPr>
          <p:spPr>
            <a:xfrm>
              <a:off x="1854200" y="3611563"/>
              <a:ext cx="41275" cy="52388"/>
            </a:xfrm>
            <a:custGeom>
              <a:rect b="b" l="l" r="r" t="t"/>
              <a:pathLst>
                <a:path extrusionOk="0" h="538" w="413">
                  <a:moveTo>
                    <a:pt x="29" y="173"/>
                  </a:moveTo>
                  <a:lnTo>
                    <a:pt x="201" y="470"/>
                  </a:lnTo>
                  <a:cubicBezTo>
                    <a:pt x="230" y="521"/>
                    <a:pt x="295" y="538"/>
                    <a:pt x="345" y="509"/>
                  </a:cubicBezTo>
                  <a:lnTo>
                    <a:pt x="345" y="509"/>
                  </a:lnTo>
                  <a:cubicBezTo>
                    <a:pt x="396" y="479"/>
                    <a:pt x="413" y="415"/>
                    <a:pt x="384" y="364"/>
                  </a:cubicBezTo>
                  <a:lnTo>
                    <a:pt x="212" y="68"/>
                  </a:lnTo>
                  <a:cubicBezTo>
                    <a:pt x="182" y="17"/>
                    <a:pt x="118" y="0"/>
                    <a:pt x="67" y="29"/>
                  </a:cubicBezTo>
                  <a:lnTo>
                    <a:pt x="67" y="29"/>
                  </a:lnTo>
                  <a:cubicBezTo>
                    <a:pt x="17" y="58"/>
                    <a:pt x="0" y="123"/>
                    <a:pt x="29" y="173"/>
                  </a:cubicBezTo>
                </a:path>
              </a:pathLst>
            </a:custGeom>
            <a:solidFill>
              <a:srgbClr val="3849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7"/>
            <p:cNvSpPr/>
            <p:nvPr/>
          </p:nvSpPr>
          <p:spPr>
            <a:xfrm>
              <a:off x="2070100" y="3624263"/>
              <a:ext cx="263525" cy="269875"/>
            </a:xfrm>
            <a:custGeom>
              <a:rect b="b" l="l" r="r" t="t"/>
              <a:pathLst>
                <a:path extrusionOk="0" h="2777" w="2716">
                  <a:moveTo>
                    <a:pt x="49" y="2020"/>
                  </a:moveTo>
                  <a:lnTo>
                    <a:pt x="199" y="1555"/>
                  </a:lnTo>
                  <a:lnTo>
                    <a:pt x="0" y="845"/>
                  </a:lnTo>
                  <a:lnTo>
                    <a:pt x="2403" y="0"/>
                  </a:lnTo>
                  <a:lnTo>
                    <a:pt x="2573" y="442"/>
                  </a:lnTo>
                  <a:cubicBezTo>
                    <a:pt x="2697" y="766"/>
                    <a:pt x="2716" y="1122"/>
                    <a:pt x="2625" y="1457"/>
                  </a:cubicBezTo>
                  <a:lnTo>
                    <a:pt x="2288" y="2679"/>
                  </a:lnTo>
                  <a:cubicBezTo>
                    <a:pt x="2271" y="2741"/>
                    <a:pt x="2206" y="2777"/>
                    <a:pt x="2144" y="2759"/>
                  </a:cubicBezTo>
                  <a:lnTo>
                    <a:pt x="126" y="2167"/>
                  </a:lnTo>
                  <a:cubicBezTo>
                    <a:pt x="64" y="2148"/>
                    <a:pt x="29" y="2082"/>
                    <a:pt x="49" y="2020"/>
                  </a:cubicBezTo>
                </a:path>
              </a:pathLst>
            </a:custGeom>
            <a:solidFill>
              <a:srgbClr val="C1EB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7"/>
            <p:cNvSpPr/>
            <p:nvPr/>
          </p:nvSpPr>
          <p:spPr>
            <a:xfrm>
              <a:off x="2092325" y="3763963"/>
              <a:ext cx="165100" cy="52388"/>
            </a:xfrm>
            <a:custGeom>
              <a:rect b="b" l="l" r="r" t="t"/>
              <a:pathLst>
                <a:path extrusionOk="0" h="538" w="1702">
                  <a:moveTo>
                    <a:pt x="1627" y="538"/>
                  </a:moveTo>
                  <a:cubicBezTo>
                    <a:pt x="1622" y="538"/>
                    <a:pt x="1616" y="537"/>
                    <a:pt x="1611" y="536"/>
                  </a:cubicBezTo>
                  <a:lnTo>
                    <a:pt x="58" y="140"/>
                  </a:lnTo>
                  <a:cubicBezTo>
                    <a:pt x="22" y="131"/>
                    <a:pt x="0" y="94"/>
                    <a:pt x="9" y="58"/>
                  </a:cubicBezTo>
                  <a:cubicBezTo>
                    <a:pt x="19" y="22"/>
                    <a:pt x="55" y="0"/>
                    <a:pt x="92" y="9"/>
                  </a:cubicBezTo>
                  <a:lnTo>
                    <a:pt x="1644" y="405"/>
                  </a:lnTo>
                  <a:cubicBezTo>
                    <a:pt x="1680" y="414"/>
                    <a:pt x="1702" y="451"/>
                    <a:pt x="1693" y="487"/>
                  </a:cubicBezTo>
                  <a:cubicBezTo>
                    <a:pt x="1685" y="518"/>
                    <a:pt x="1658" y="538"/>
                    <a:pt x="1627" y="538"/>
                  </a:cubicBezTo>
                  <a:close/>
                </a:path>
              </a:pathLst>
            </a:custGeom>
            <a:solidFill>
              <a:srgbClr val="4AB5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7"/>
            <p:cNvSpPr/>
            <p:nvPr/>
          </p:nvSpPr>
          <p:spPr>
            <a:xfrm>
              <a:off x="2668588" y="3449638"/>
              <a:ext cx="755650" cy="976313"/>
            </a:xfrm>
            <a:custGeom>
              <a:rect b="b" l="l" r="r" t="t"/>
              <a:pathLst>
                <a:path extrusionOk="0" h="10032" w="7769">
                  <a:moveTo>
                    <a:pt x="6995" y="1877"/>
                  </a:moveTo>
                  <a:lnTo>
                    <a:pt x="7671" y="2714"/>
                  </a:lnTo>
                  <a:cubicBezTo>
                    <a:pt x="7671" y="2714"/>
                    <a:pt x="7769" y="4852"/>
                    <a:pt x="7629" y="5912"/>
                  </a:cubicBezTo>
                  <a:cubicBezTo>
                    <a:pt x="7488" y="6972"/>
                    <a:pt x="6180" y="7806"/>
                    <a:pt x="3809" y="8028"/>
                  </a:cubicBezTo>
                  <a:lnTo>
                    <a:pt x="2057" y="10032"/>
                  </a:lnTo>
                  <a:lnTo>
                    <a:pt x="0" y="6957"/>
                  </a:lnTo>
                  <a:lnTo>
                    <a:pt x="2258" y="5357"/>
                  </a:lnTo>
                  <a:cubicBezTo>
                    <a:pt x="2258" y="5357"/>
                    <a:pt x="1936" y="3474"/>
                    <a:pt x="2484" y="2512"/>
                  </a:cubicBezTo>
                  <a:cubicBezTo>
                    <a:pt x="2753" y="2038"/>
                    <a:pt x="3010" y="1557"/>
                    <a:pt x="3271" y="1079"/>
                  </a:cubicBezTo>
                  <a:cubicBezTo>
                    <a:pt x="3485" y="685"/>
                    <a:pt x="3673" y="152"/>
                    <a:pt x="4168" y="51"/>
                  </a:cubicBezTo>
                  <a:cubicBezTo>
                    <a:pt x="4420" y="0"/>
                    <a:pt x="4683" y="82"/>
                    <a:pt x="4704" y="635"/>
                  </a:cubicBezTo>
                  <a:cubicBezTo>
                    <a:pt x="4736" y="1502"/>
                    <a:pt x="4257" y="2389"/>
                    <a:pt x="4635" y="2985"/>
                  </a:cubicBezTo>
                  <a:cubicBezTo>
                    <a:pt x="4800" y="3244"/>
                    <a:pt x="5160" y="3292"/>
                    <a:pt x="5403" y="3104"/>
                  </a:cubicBezTo>
                  <a:lnTo>
                    <a:pt x="6995" y="1877"/>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7"/>
            <p:cNvSpPr/>
            <p:nvPr/>
          </p:nvSpPr>
          <p:spPr>
            <a:xfrm>
              <a:off x="1370013" y="3808413"/>
              <a:ext cx="207963" cy="217488"/>
            </a:xfrm>
            <a:custGeom>
              <a:rect b="b" l="l" r="r" t="t"/>
              <a:pathLst>
                <a:path extrusionOk="0" h="2235" w="2143">
                  <a:moveTo>
                    <a:pt x="2143" y="0"/>
                  </a:moveTo>
                  <a:lnTo>
                    <a:pt x="0" y="0"/>
                  </a:lnTo>
                  <a:cubicBezTo>
                    <a:pt x="670" y="731"/>
                    <a:pt x="1376" y="1438"/>
                    <a:pt x="1938" y="2235"/>
                  </a:cubicBezTo>
                  <a:lnTo>
                    <a:pt x="2143"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7"/>
            <p:cNvSpPr/>
            <p:nvPr/>
          </p:nvSpPr>
          <p:spPr>
            <a:xfrm>
              <a:off x="1222375" y="3808413"/>
              <a:ext cx="336550" cy="263525"/>
            </a:xfrm>
            <a:custGeom>
              <a:rect b="b" l="l" r="r" t="t"/>
              <a:pathLst>
                <a:path extrusionOk="0" h="2712" w="3457">
                  <a:moveTo>
                    <a:pt x="1519" y="0"/>
                  </a:moveTo>
                  <a:lnTo>
                    <a:pt x="648" y="0"/>
                  </a:lnTo>
                  <a:lnTo>
                    <a:pt x="0" y="2268"/>
                  </a:lnTo>
                  <a:lnTo>
                    <a:pt x="3414" y="2712"/>
                  </a:lnTo>
                  <a:lnTo>
                    <a:pt x="3457" y="2235"/>
                  </a:lnTo>
                  <a:cubicBezTo>
                    <a:pt x="2895" y="1438"/>
                    <a:pt x="2189" y="731"/>
                    <a:pt x="1519" y="0"/>
                  </a:cubicBezTo>
                </a:path>
              </a:pathLst>
            </a:custGeom>
            <a:solidFill>
              <a:srgbClr val="F35A9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7"/>
            <p:cNvSpPr/>
            <p:nvPr/>
          </p:nvSpPr>
          <p:spPr>
            <a:xfrm>
              <a:off x="1201738" y="3433763"/>
              <a:ext cx="534988" cy="481013"/>
            </a:xfrm>
            <a:custGeom>
              <a:rect b="b" l="l" r="r" t="t"/>
              <a:pathLst>
                <a:path extrusionOk="0" h="4945" w="5498">
                  <a:moveTo>
                    <a:pt x="486" y="3524"/>
                  </a:moveTo>
                  <a:cubicBezTo>
                    <a:pt x="971" y="4566"/>
                    <a:pt x="2538" y="4945"/>
                    <a:pt x="3788" y="4363"/>
                  </a:cubicBezTo>
                  <a:cubicBezTo>
                    <a:pt x="5038" y="3780"/>
                    <a:pt x="5498" y="2456"/>
                    <a:pt x="5013" y="1414"/>
                  </a:cubicBezTo>
                  <a:cubicBezTo>
                    <a:pt x="4527" y="372"/>
                    <a:pt x="3120" y="0"/>
                    <a:pt x="1870" y="583"/>
                  </a:cubicBezTo>
                  <a:cubicBezTo>
                    <a:pt x="620" y="1165"/>
                    <a:pt x="0" y="2482"/>
                    <a:pt x="486" y="352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7"/>
            <p:cNvSpPr/>
            <p:nvPr/>
          </p:nvSpPr>
          <p:spPr>
            <a:xfrm>
              <a:off x="1057275" y="3336925"/>
              <a:ext cx="614363" cy="544513"/>
            </a:xfrm>
            <a:custGeom>
              <a:rect b="b" l="l" r="r" t="t"/>
              <a:pathLst>
                <a:path extrusionOk="0" h="5598" w="6310">
                  <a:moveTo>
                    <a:pt x="239" y="3299"/>
                  </a:moveTo>
                  <a:cubicBezTo>
                    <a:pt x="478" y="4692"/>
                    <a:pt x="1977" y="5598"/>
                    <a:pt x="3588" y="5321"/>
                  </a:cubicBezTo>
                  <a:cubicBezTo>
                    <a:pt x="5198" y="5045"/>
                    <a:pt x="6310" y="3691"/>
                    <a:pt x="6071" y="2298"/>
                  </a:cubicBezTo>
                  <a:cubicBezTo>
                    <a:pt x="5832" y="905"/>
                    <a:pt x="4333" y="0"/>
                    <a:pt x="2722" y="276"/>
                  </a:cubicBezTo>
                  <a:cubicBezTo>
                    <a:pt x="1111" y="553"/>
                    <a:pt x="0" y="1906"/>
                    <a:pt x="239" y="3299"/>
                  </a:cubicBezTo>
                  <a:close/>
                </a:path>
              </a:pathLst>
            </a:custGeom>
            <a:solidFill>
              <a:srgbClr val="2416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7"/>
            <p:cNvSpPr/>
            <p:nvPr/>
          </p:nvSpPr>
          <p:spPr>
            <a:xfrm>
              <a:off x="1631950" y="3559175"/>
              <a:ext cx="153988" cy="153988"/>
            </a:xfrm>
            <a:custGeom>
              <a:rect b="b" l="l" r="r" t="t"/>
              <a:pathLst>
                <a:path extrusionOk="0" h="1590" w="1591">
                  <a:moveTo>
                    <a:pt x="163" y="1090"/>
                  </a:moveTo>
                  <a:cubicBezTo>
                    <a:pt x="326" y="1439"/>
                    <a:pt x="741" y="1590"/>
                    <a:pt x="1090" y="1428"/>
                  </a:cubicBezTo>
                  <a:cubicBezTo>
                    <a:pt x="1440" y="1265"/>
                    <a:pt x="1591" y="850"/>
                    <a:pt x="1428" y="500"/>
                  </a:cubicBezTo>
                  <a:cubicBezTo>
                    <a:pt x="1265" y="151"/>
                    <a:pt x="850" y="0"/>
                    <a:pt x="501" y="163"/>
                  </a:cubicBezTo>
                  <a:cubicBezTo>
                    <a:pt x="151" y="326"/>
                    <a:pt x="0" y="741"/>
                    <a:pt x="163" y="10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7"/>
            <p:cNvSpPr/>
            <p:nvPr/>
          </p:nvSpPr>
          <p:spPr>
            <a:xfrm>
              <a:off x="985838" y="3243263"/>
              <a:ext cx="804863" cy="652463"/>
            </a:xfrm>
            <a:custGeom>
              <a:rect b="b" l="l" r="r" t="t"/>
              <a:pathLst>
                <a:path extrusionOk="0" h="6700" w="8275">
                  <a:moveTo>
                    <a:pt x="2695" y="6450"/>
                  </a:moveTo>
                  <a:cubicBezTo>
                    <a:pt x="2695" y="6450"/>
                    <a:pt x="0" y="4818"/>
                    <a:pt x="960" y="2634"/>
                  </a:cubicBezTo>
                  <a:cubicBezTo>
                    <a:pt x="1842" y="628"/>
                    <a:pt x="3583" y="1021"/>
                    <a:pt x="3583" y="1021"/>
                  </a:cubicBezTo>
                  <a:cubicBezTo>
                    <a:pt x="3583" y="1021"/>
                    <a:pt x="5364" y="0"/>
                    <a:pt x="6789" y="1412"/>
                  </a:cubicBezTo>
                  <a:cubicBezTo>
                    <a:pt x="8275" y="2885"/>
                    <a:pt x="7054" y="4607"/>
                    <a:pt x="6195" y="5668"/>
                  </a:cubicBezTo>
                  <a:cubicBezTo>
                    <a:pt x="5898" y="6035"/>
                    <a:pt x="5494" y="6301"/>
                    <a:pt x="5037" y="6420"/>
                  </a:cubicBezTo>
                  <a:cubicBezTo>
                    <a:pt x="4444" y="6575"/>
                    <a:pt x="3569" y="6700"/>
                    <a:pt x="2695" y="6450"/>
                  </a:cubicBezTo>
                  <a:close/>
                </a:path>
              </a:pathLst>
            </a:custGeom>
            <a:solidFill>
              <a:srgbClr val="24161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7"/>
            <p:cNvSpPr/>
            <p:nvPr/>
          </p:nvSpPr>
          <p:spPr>
            <a:xfrm>
              <a:off x="1182688" y="3937000"/>
              <a:ext cx="1828800" cy="928688"/>
            </a:xfrm>
            <a:custGeom>
              <a:rect b="b" l="l" r="r" t="t"/>
              <a:pathLst>
                <a:path extrusionOk="0" h="9542" w="18769">
                  <a:moveTo>
                    <a:pt x="18688" y="3544"/>
                  </a:moveTo>
                  <a:cubicBezTo>
                    <a:pt x="18688" y="3544"/>
                    <a:pt x="16176" y="8717"/>
                    <a:pt x="13548" y="9114"/>
                  </a:cubicBezTo>
                  <a:cubicBezTo>
                    <a:pt x="10709" y="9542"/>
                    <a:pt x="8728" y="9060"/>
                    <a:pt x="8728" y="9060"/>
                  </a:cubicBezTo>
                  <a:lnTo>
                    <a:pt x="0" y="1403"/>
                  </a:lnTo>
                  <a:cubicBezTo>
                    <a:pt x="0" y="1403"/>
                    <a:pt x="2613" y="0"/>
                    <a:pt x="5087" y="706"/>
                  </a:cubicBezTo>
                  <a:cubicBezTo>
                    <a:pt x="8085" y="1563"/>
                    <a:pt x="11406" y="3544"/>
                    <a:pt x="11406" y="3544"/>
                  </a:cubicBezTo>
                  <a:lnTo>
                    <a:pt x="16171" y="653"/>
                  </a:lnTo>
                  <a:cubicBezTo>
                    <a:pt x="16171" y="653"/>
                    <a:pt x="18769" y="1483"/>
                    <a:pt x="18688" y="354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7"/>
            <p:cNvSpPr/>
            <p:nvPr/>
          </p:nvSpPr>
          <p:spPr>
            <a:xfrm>
              <a:off x="1082675" y="3843338"/>
              <a:ext cx="598488" cy="236538"/>
            </a:xfrm>
            <a:custGeom>
              <a:rect b="b" l="l" r="r" t="t"/>
              <a:pathLst>
                <a:path extrusionOk="0" h="2420" w="6144">
                  <a:moveTo>
                    <a:pt x="0" y="1215"/>
                  </a:moveTo>
                  <a:lnTo>
                    <a:pt x="974" y="219"/>
                  </a:lnTo>
                  <a:cubicBezTo>
                    <a:pt x="1114" y="75"/>
                    <a:pt x="1309" y="0"/>
                    <a:pt x="1509" y="11"/>
                  </a:cubicBezTo>
                  <a:cubicBezTo>
                    <a:pt x="2363" y="57"/>
                    <a:pt x="4696" y="242"/>
                    <a:pt x="5542" y="893"/>
                  </a:cubicBezTo>
                  <a:lnTo>
                    <a:pt x="6144" y="2420"/>
                  </a:lnTo>
                  <a:lnTo>
                    <a:pt x="0" y="121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7"/>
            <p:cNvSpPr/>
            <p:nvPr/>
          </p:nvSpPr>
          <p:spPr>
            <a:xfrm>
              <a:off x="547688" y="3851275"/>
              <a:ext cx="1485900" cy="966788"/>
            </a:xfrm>
            <a:custGeom>
              <a:rect b="b" l="l" r="r" t="t"/>
              <a:pathLst>
                <a:path extrusionOk="0" h="9930" w="15261">
                  <a:moveTo>
                    <a:pt x="12423" y="1951"/>
                  </a:moveTo>
                  <a:cubicBezTo>
                    <a:pt x="12423" y="1951"/>
                    <a:pt x="6258" y="0"/>
                    <a:pt x="4284" y="987"/>
                  </a:cubicBezTo>
                  <a:cubicBezTo>
                    <a:pt x="0" y="3129"/>
                    <a:pt x="1124" y="9689"/>
                    <a:pt x="1124" y="9689"/>
                  </a:cubicBezTo>
                  <a:lnTo>
                    <a:pt x="15261" y="9930"/>
                  </a:lnTo>
                  <a:lnTo>
                    <a:pt x="12423" y="195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7"/>
            <p:cNvSpPr/>
            <p:nvPr/>
          </p:nvSpPr>
          <p:spPr>
            <a:xfrm>
              <a:off x="2286000" y="4273550"/>
              <a:ext cx="263525" cy="230188"/>
            </a:xfrm>
            <a:custGeom>
              <a:rect b="b" l="l" r="r" t="t"/>
              <a:pathLst>
                <a:path extrusionOk="0" h="2365" w="2695">
                  <a:moveTo>
                    <a:pt x="2619" y="2365"/>
                  </a:moveTo>
                  <a:cubicBezTo>
                    <a:pt x="2603" y="2365"/>
                    <a:pt x="2587" y="2360"/>
                    <a:pt x="2575" y="2349"/>
                  </a:cubicBezTo>
                  <a:lnTo>
                    <a:pt x="31" y="126"/>
                  </a:lnTo>
                  <a:cubicBezTo>
                    <a:pt x="3" y="102"/>
                    <a:pt x="0" y="59"/>
                    <a:pt x="25" y="31"/>
                  </a:cubicBezTo>
                  <a:cubicBezTo>
                    <a:pt x="49" y="3"/>
                    <a:pt x="92" y="0"/>
                    <a:pt x="120" y="24"/>
                  </a:cubicBezTo>
                  <a:lnTo>
                    <a:pt x="2664" y="2247"/>
                  </a:lnTo>
                  <a:cubicBezTo>
                    <a:pt x="2692" y="2271"/>
                    <a:pt x="2695" y="2314"/>
                    <a:pt x="2670" y="2342"/>
                  </a:cubicBezTo>
                  <a:cubicBezTo>
                    <a:pt x="2657" y="2357"/>
                    <a:pt x="2638" y="2365"/>
                    <a:pt x="2619" y="2365"/>
                  </a:cubicBezTo>
                </a:path>
              </a:pathLst>
            </a:custGeom>
            <a:solidFill>
              <a:srgbClr val="64B3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7"/>
            <p:cNvSpPr/>
            <p:nvPr/>
          </p:nvSpPr>
          <p:spPr>
            <a:xfrm>
              <a:off x="1790700" y="4694238"/>
              <a:ext cx="211138" cy="123825"/>
            </a:xfrm>
            <a:custGeom>
              <a:rect b="b" l="l" r="r" t="t"/>
              <a:pathLst>
                <a:path extrusionOk="0" h="1269" w="2163">
                  <a:moveTo>
                    <a:pt x="2085" y="1269"/>
                  </a:moveTo>
                  <a:cubicBezTo>
                    <a:pt x="2074" y="1269"/>
                    <a:pt x="2063" y="1267"/>
                    <a:pt x="2052" y="1261"/>
                  </a:cubicBezTo>
                  <a:lnTo>
                    <a:pt x="44" y="136"/>
                  </a:lnTo>
                  <a:cubicBezTo>
                    <a:pt x="12" y="118"/>
                    <a:pt x="0" y="77"/>
                    <a:pt x="18" y="44"/>
                  </a:cubicBezTo>
                  <a:cubicBezTo>
                    <a:pt x="36" y="11"/>
                    <a:pt x="78" y="0"/>
                    <a:pt x="110" y="18"/>
                  </a:cubicBezTo>
                  <a:lnTo>
                    <a:pt x="2119" y="1143"/>
                  </a:lnTo>
                  <a:cubicBezTo>
                    <a:pt x="2151" y="1161"/>
                    <a:pt x="2163" y="1202"/>
                    <a:pt x="2144" y="1235"/>
                  </a:cubicBezTo>
                  <a:cubicBezTo>
                    <a:pt x="2132" y="1257"/>
                    <a:pt x="2109" y="1269"/>
                    <a:pt x="2085" y="1269"/>
                  </a:cubicBezTo>
                  <a:close/>
                </a:path>
              </a:pathLst>
            </a:custGeom>
            <a:solidFill>
              <a:srgbClr val="64B3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7"/>
            <p:cNvSpPr/>
            <p:nvPr/>
          </p:nvSpPr>
          <p:spPr>
            <a:xfrm>
              <a:off x="3381375" y="3736975"/>
              <a:ext cx="82550" cy="107950"/>
            </a:xfrm>
            <a:custGeom>
              <a:rect b="b" l="l" r="r" t="t"/>
              <a:pathLst>
                <a:path extrusionOk="0" h="1109" w="850">
                  <a:moveTo>
                    <a:pt x="77" y="1109"/>
                  </a:moveTo>
                  <a:cubicBezTo>
                    <a:pt x="63" y="1109"/>
                    <a:pt x="49" y="1104"/>
                    <a:pt x="37" y="1096"/>
                  </a:cubicBezTo>
                  <a:cubicBezTo>
                    <a:pt x="7" y="1074"/>
                    <a:pt x="0" y="1031"/>
                    <a:pt x="22" y="1001"/>
                  </a:cubicBezTo>
                  <a:lnTo>
                    <a:pt x="718" y="37"/>
                  </a:lnTo>
                  <a:cubicBezTo>
                    <a:pt x="740" y="7"/>
                    <a:pt x="782" y="0"/>
                    <a:pt x="813" y="22"/>
                  </a:cubicBezTo>
                  <a:cubicBezTo>
                    <a:pt x="843" y="44"/>
                    <a:pt x="850" y="86"/>
                    <a:pt x="828" y="117"/>
                  </a:cubicBezTo>
                  <a:lnTo>
                    <a:pt x="132" y="1081"/>
                  </a:lnTo>
                  <a:cubicBezTo>
                    <a:pt x="119" y="1099"/>
                    <a:pt x="98" y="1109"/>
                    <a:pt x="77" y="1109"/>
                  </a:cubicBezTo>
                </a:path>
              </a:pathLst>
            </a:custGeom>
            <a:solidFill>
              <a:srgbClr val="F036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7"/>
            <p:cNvSpPr/>
            <p:nvPr/>
          </p:nvSpPr>
          <p:spPr>
            <a:xfrm>
              <a:off x="3433763" y="3827463"/>
              <a:ext cx="57150" cy="95250"/>
            </a:xfrm>
            <a:custGeom>
              <a:rect b="b" l="l" r="r" t="t"/>
              <a:pathLst>
                <a:path extrusionOk="0" h="988" w="597">
                  <a:moveTo>
                    <a:pt x="77" y="988"/>
                  </a:moveTo>
                  <a:cubicBezTo>
                    <a:pt x="67" y="988"/>
                    <a:pt x="56" y="985"/>
                    <a:pt x="46" y="980"/>
                  </a:cubicBezTo>
                  <a:cubicBezTo>
                    <a:pt x="13" y="963"/>
                    <a:pt x="0" y="922"/>
                    <a:pt x="17" y="889"/>
                  </a:cubicBezTo>
                  <a:lnTo>
                    <a:pt x="460" y="46"/>
                  </a:lnTo>
                  <a:cubicBezTo>
                    <a:pt x="477" y="13"/>
                    <a:pt x="518" y="0"/>
                    <a:pt x="551" y="18"/>
                  </a:cubicBezTo>
                  <a:cubicBezTo>
                    <a:pt x="584" y="35"/>
                    <a:pt x="597" y="76"/>
                    <a:pt x="580" y="109"/>
                  </a:cubicBezTo>
                  <a:lnTo>
                    <a:pt x="137" y="952"/>
                  </a:lnTo>
                  <a:cubicBezTo>
                    <a:pt x="125" y="975"/>
                    <a:pt x="102" y="988"/>
                    <a:pt x="77" y="988"/>
                  </a:cubicBezTo>
                </a:path>
              </a:pathLst>
            </a:custGeom>
            <a:solidFill>
              <a:srgbClr val="F036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3" name="Google Shape;253;p7"/>
          <p:cNvSpPr txBox="1"/>
          <p:nvPr/>
        </p:nvSpPr>
        <p:spPr>
          <a:xfrm>
            <a:off x="5420844" y="883223"/>
            <a:ext cx="5293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My Goal</a:t>
            </a:r>
            <a:endParaRPr sz="3600">
              <a:solidFill>
                <a:schemeClr val="dk2"/>
              </a:solidFill>
              <a:latin typeface="Montserrat SemiBold"/>
              <a:ea typeface="Montserrat SemiBold"/>
              <a:cs typeface="Montserrat SemiBold"/>
              <a:sym typeface="Montserrat SemiBold"/>
            </a:endParaRPr>
          </a:p>
        </p:txBody>
      </p:sp>
      <p:sp>
        <p:nvSpPr>
          <p:cNvPr id="254" name="Google Shape;254;p7"/>
          <p:cNvSpPr txBox="1"/>
          <p:nvPr/>
        </p:nvSpPr>
        <p:spPr>
          <a:xfrm>
            <a:off x="4572752" y="1662123"/>
            <a:ext cx="6781500" cy="1596300"/>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1200"/>
              </a:spcBef>
              <a:spcAft>
                <a:spcPts val="0"/>
              </a:spcAft>
              <a:buNone/>
            </a:pPr>
            <a:r>
              <a:rPr lang="en-US" sz="1600">
                <a:solidFill>
                  <a:schemeClr val="dk1"/>
                </a:solidFill>
                <a:latin typeface="Calibri"/>
                <a:ea typeface="Calibri"/>
                <a:cs typeface="Calibri"/>
                <a:sym typeface="Calibri"/>
              </a:rPr>
              <a:t>Developing a deep learning model that scrutinizes the annals of terrorist incidents, aiming to anticipate trends and uncover patterns. Armed with this knowledge, we can take preventative measures to safeguard lives and communities.</a:t>
            </a:r>
            <a:endParaRPr sz="1600">
              <a:solidFill>
                <a:srgbClr val="3F3F3F"/>
              </a:solidFill>
              <a:latin typeface="Calibri"/>
              <a:ea typeface="Calibri"/>
              <a:cs typeface="Calibri"/>
              <a:sym typeface="Calibri"/>
            </a:endParaRPr>
          </a:p>
          <a:p>
            <a:pPr indent="0" lvl="0" marL="0" marR="0" rtl="0" algn="l">
              <a:lnSpc>
                <a:spcPct val="150000"/>
              </a:lnSpc>
              <a:spcBef>
                <a:spcPts val="1200"/>
              </a:spcBef>
              <a:spcAft>
                <a:spcPts val="0"/>
              </a:spcAft>
              <a:buNone/>
            </a:pPr>
            <a:r>
              <a:t/>
            </a:r>
            <a:endParaRPr>
              <a:solidFill>
                <a:schemeClr val="dk1"/>
              </a:solidFill>
              <a:latin typeface="Calibri"/>
              <a:ea typeface="Calibri"/>
              <a:cs typeface="Calibri"/>
              <a:sym typeface="Calibri"/>
            </a:endParaRPr>
          </a:p>
        </p:txBody>
      </p:sp>
      <p:sp>
        <p:nvSpPr>
          <p:cNvPr id="255" name="Google Shape;255;p7"/>
          <p:cNvSpPr/>
          <p:nvPr/>
        </p:nvSpPr>
        <p:spPr>
          <a:xfrm>
            <a:off x="517575" y="3799550"/>
            <a:ext cx="5471700" cy="2846100"/>
          </a:xfrm>
          <a:prstGeom prst="roundRect">
            <a:avLst>
              <a:gd fmla="val 14374" name="adj"/>
            </a:avLst>
          </a:prstGeom>
          <a:solidFill>
            <a:schemeClr val="accent2"/>
          </a:solidFill>
          <a:ln>
            <a:noFill/>
          </a:ln>
          <a:effectLst>
            <a:outerShdw blurRad="50800" rotWithShape="0" algn="t" dir="54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7"/>
          <p:cNvSpPr txBox="1"/>
          <p:nvPr/>
        </p:nvSpPr>
        <p:spPr>
          <a:xfrm>
            <a:off x="959149" y="4156851"/>
            <a:ext cx="4840200" cy="20571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0"/>
              </a:spcBef>
              <a:spcAft>
                <a:spcPts val="0"/>
              </a:spcAft>
              <a:buNone/>
            </a:pPr>
            <a:r>
              <a:t/>
            </a:r>
            <a:endParaRPr b="1" sz="1300">
              <a:solidFill>
                <a:srgbClr val="ECECEC"/>
              </a:solidFill>
              <a:latin typeface="Calibri"/>
              <a:ea typeface="Calibri"/>
              <a:cs typeface="Calibri"/>
              <a:sym typeface="Calibri"/>
            </a:endParaRPr>
          </a:p>
          <a:p>
            <a:pPr indent="0" lvl="0" marL="0" rtl="0" algn="just">
              <a:lnSpc>
                <a:spcPct val="115000"/>
              </a:lnSpc>
              <a:spcBef>
                <a:spcPts val="0"/>
              </a:spcBef>
              <a:spcAft>
                <a:spcPts val="0"/>
              </a:spcAft>
              <a:buNone/>
            </a:pPr>
            <a:r>
              <a:rPr b="1" lang="en-US" sz="1300">
                <a:solidFill>
                  <a:srgbClr val="ECECEC"/>
                </a:solidFill>
                <a:latin typeface="Calibri"/>
                <a:ea typeface="Calibri"/>
                <a:cs typeface="Calibri"/>
                <a:sym typeface="Calibri"/>
              </a:rPr>
              <a:t>-Inputs:</a:t>
            </a:r>
            <a:r>
              <a:rPr lang="en-US" sz="1300">
                <a:solidFill>
                  <a:srgbClr val="ECECEC"/>
                </a:solidFill>
                <a:latin typeface="Calibri"/>
                <a:ea typeface="Calibri"/>
                <a:cs typeface="Calibri"/>
                <a:sym typeface="Calibri"/>
              </a:rPr>
              <a:t> Features from the global terrorism database, such as attack dates, locations, types, target types, responsible groups, and casualties.</a:t>
            </a:r>
            <a:endParaRPr sz="1300">
              <a:solidFill>
                <a:srgbClr val="ECECEC"/>
              </a:solidFill>
              <a:latin typeface="Calibri"/>
              <a:ea typeface="Calibri"/>
              <a:cs typeface="Calibri"/>
              <a:sym typeface="Calibri"/>
            </a:endParaRPr>
          </a:p>
          <a:p>
            <a:pPr indent="0" lvl="0" marL="0" rtl="0" algn="just">
              <a:lnSpc>
                <a:spcPct val="115000"/>
              </a:lnSpc>
              <a:spcBef>
                <a:spcPts val="0"/>
              </a:spcBef>
              <a:spcAft>
                <a:spcPts val="0"/>
              </a:spcAft>
              <a:buNone/>
            </a:pPr>
            <a:r>
              <a:t/>
            </a:r>
            <a:endParaRPr sz="1300">
              <a:solidFill>
                <a:srgbClr val="ECECEC"/>
              </a:solidFill>
              <a:latin typeface="Calibri"/>
              <a:ea typeface="Calibri"/>
              <a:cs typeface="Calibri"/>
              <a:sym typeface="Calibri"/>
            </a:endParaRPr>
          </a:p>
          <a:p>
            <a:pPr indent="0" lvl="0" marL="0" rtl="0" algn="just">
              <a:lnSpc>
                <a:spcPct val="115000"/>
              </a:lnSpc>
              <a:spcBef>
                <a:spcPts val="0"/>
              </a:spcBef>
              <a:spcAft>
                <a:spcPts val="0"/>
              </a:spcAft>
              <a:buNone/>
            </a:pPr>
            <a:r>
              <a:rPr b="1" lang="en-US" sz="1300">
                <a:solidFill>
                  <a:srgbClr val="ECECEC"/>
                </a:solidFill>
                <a:latin typeface="Calibri"/>
                <a:ea typeface="Calibri"/>
                <a:cs typeface="Calibri"/>
                <a:sym typeface="Calibri"/>
              </a:rPr>
              <a:t>-Outputs:</a:t>
            </a:r>
            <a:r>
              <a:rPr lang="en-US" sz="1300">
                <a:solidFill>
                  <a:srgbClr val="ECECEC"/>
                </a:solidFill>
                <a:latin typeface="Calibri"/>
                <a:ea typeface="Calibri"/>
                <a:cs typeface="Calibri"/>
                <a:sym typeface="Calibri"/>
              </a:rPr>
              <a:t> Predictions on trends in terrorist activities (increase, decrease, stable) and identification of nature of future attacks.</a:t>
            </a:r>
            <a:endParaRPr sz="1300">
              <a:solidFill>
                <a:srgbClr val="ECECEC"/>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300">
              <a:solidFill>
                <a:schemeClr val="lt1"/>
              </a:solidFill>
              <a:latin typeface="Times"/>
              <a:ea typeface="Times"/>
              <a:cs typeface="Times"/>
              <a:sym typeface="Times"/>
            </a:endParaRPr>
          </a:p>
        </p:txBody>
      </p:sp>
      <p:sp>
        <p:nvSpPr>
          <p:cNvPr id="257" name="Google Shape;257;p7"/>
          <p:cNvSpPr txBox="1"/>
          <p:nvPr/>
        </p:nvSpPr>
        <p:spPr>
          <a:xfrm>
            <a:off x="1022945" y="3853613"/>
            <a:ext cx="45885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ECECEC"/>
                </a:solidFill>
                <a:latin typeface="Calibri"/>
                <a:ea typeface="Calibri"/>
                <a:cs typeface="Calibri"/>
                <a:sym typeface="Calibri"/>
              </a:rPr>
              <a:t>Problem Statement</a:t>
            </a:r>
            <a:endParaRPr b="1" sz="1600">
              <a:latin typeface="Calibri"/>
              <a:ea typeface="Calibri"/>
              <a:cs typeface="Calibri"/>
              <a:sym typeface="Calibri"/>
            </a:endParaRPr>
          </a:p>
        </p:txBody>
      </p:sp>
      <p:sp>
        <p:nvSpPr>
          <p:cNvPr id="258" name="Google Shape;258;p7"/>
          <p:cNvSpPr/>
          <p:nvPr/>
        </p:nvSpPr>
        <p:spPr>
          <a:xfrm>
            <a:off x="6202800" y="3799550"/>
            <a:ext cx="5471700" cy="2837100"/>
          </a:xfrm>
          <a:prstGeom prst="roundRect">
            <a:avLst>
              <a:gd fmla="val 12618" name="adj"/>
            </a:avLst>
          </a:prstGeom>
          <a:solidFill>
            <a:schemeClr val="accent5"/>
          </a:solidFill>
          <a:ln>
            <a:noFill/>
          </a:ln>
          <a:effectLst>
            <a:outerShdw blurRad="50800" rotWithShape="0" algn="t" dir="54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7"/>
          <p:cNvSpPr txBox="1"/>
          <p:nvPr/>
        </p:nvSpPr>
        <p:spPr>
          <a:xfrm>
            <a:off x="6352175" y="4138251"/>
            <a:ext cx="5167200" cy="1900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lang="en-US" sz="1500">
                <a:solidFill>
                  <a:srgbClr val="ECECEC"/>
                </a:solidFill>
                <a:latin typeface="Calibri"/>
                <a:ea typeface="Calibri"/>
                <a:cs typeface="Calibri"/>
                <a:sym typeface="Calibri"/>
              </a:rPr>
              <a:t>-The task involves predicting complex and evolving terrorism activities influenced by a vast array of factors.</a:t>
            </a:r>
            <a:endParaRPr sz="1500">
              <a:solidFill>
                <a:srgbClr val="ECECEC"/>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rgbClr val="ECECEC"/>
              </a:solidFill>
              <a:latin typeface="Calibri"/>
              <a:ea typeface="Calibri"/>
              <a:cs typeface="Calibri"/>
              <a:sym typeface="Calibri"/>
            </a:endParaRPr>
          </a:p>
          <a:p>
            <a:pPr indent="0" lvl="0" marL="0" rtl="0" algn="l">
              <a:lnSpc>
                <a:spcPct val="115000"/>
              </a:lnSpc>
              <a:spcBef>
                <a:spcPts val="0"/>
              </a:spcBef>
              <a:spcAft>
                <a:spcPts val="0"/>
              </a:spcAft>
              <a:buNone/>
            </a:pPr>
            <a:r>
              <a:rPr lang="en-US" sz="1500">
                <a:solidFill>
                  <a:srgbClr val="ECECEC"/>
                </a:solidFill>
                <a:latin typeface="Calibri"/>
                <a:ea typeface="Calibri"/>
                <a:cs typeface="Calibri"/>
                <a:sym typeface="Calibri"/>
              </a:rPr>
              <a:t>-It requires processing large volumes of historical data to identify patterns, a challenging endeavor that involves sophisticated deep learning and data analysis techniques.</a:t>
            </a:r>
            <a:endParaRPr sz="1500">
              <a:solidFill>
                <a:srgbClr val="ECECEC"/>
              </a:solidFill>
              <a:latin typeface="Calibri"/>
              <a:ea typeface="Calibri"/>
              <a:cs typeface="Calibri"/>
              <a:sym typeface="Calibri"/>
            </a:endParaRPr>
          </a:p>
          <a:p>
            <a:pPr indent="0" lvl="0" marL="0" rtl="0" algn="l">
              <a:lnSpc>
                <a:spcPct val="115000"/>
              </a:lnSpc>
              <a:spcBef>
                <a:spcPts val="0"/>
              </a:spcBef>
              <a:spcAft>
                <a:spcPts val="0"/>
              </a:spcAft>
              <a:buNone/>
            </a:pPr>
            <a:r>
              <a:t/>
            </a:r>
            <a:endParaRPr>
              <a:solidFill>
                <a:schemeClr val="lt1"/>
              </a:solidFill>
              <a:latin typeface="Calibri"/>
              <a:ea typeface="Calibri"/>
              <a:cs typeface="Calibri"/>
              <a:sym typeface="Calibri"/>
            </a:endParaRPr>
          </a:p>
        </p:txBody>
      </p:sp>
      <p:sp>
        <p:nvSpPr>
          <p:cNvPr id="260" name="Google Shape;260;p7"/>
          <p:cNvSpPr txBox="1"/>
          <p:nvPr/>
        </p:nvSpPr>
        <p:spPr>
          <a:xfrm>
            <a:off x="6734339" y="3799547"/>
            <a:ext cx="45885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lt1"/>
                </a:solidFill>
                <a:latin typeface="Montserrat SemiBold"/>
                <a:ea typeface="Montserrat SemiBold"/>
                <a:cs typeface="Montserrat SemiBold"/>
                <a:sym typeface="Montserrat SemiBold"/>
              </a:rPr>
              <a:t>Expectation of project</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grpSp>
        <p:nvGrpSpPr>
          <p:cNvPr id="265" name="Google Shape;265;p8"/>
          <p:cNvGrpSpPr/>
          <p:nvPr/>
        </p:nvGrpSpPr>
        <p:grpSpPr>
          <a:xfrm>
            <a:off x="539395" y="507100"/>
            <a:ext cx="4895269" cy="5233174"/>
            <a:chOff x="539424" y="507153"/>
            <a:chExt cx="6338559" cy="6084378"/>
          </a:xfrm>
        </p:grpSpPr>
        <p:sp>
          <p:nvSpPr>
            <p:cNvPr id="266" name="Google Shape;266;p8"/>
            <p:cNvSpPr/>
            <p:nvPr/>
          </p:nvSpPr>
          <p:spPr>
            <a:xfrm>
              <a:off x="539424" y="507153"/>
              <a:ext cx="4303903" cy="5509907"/>
            </a:xfrm>
            <a:prstGeom prst="roundRect">
              <a:avLst>
                <a:gd fmla="val 11475" name="adj"/>
              </a:avLst>
            </a:prstGeom>
            <a:solidFill>
              <a:schemeClr val="accent5"/>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67" name="Google Shape;267;p8"/>
            <p:cNvGrpSpPr/>
            <p:nvPr/>
          </p:nvGrpSpPr>
          <p:grpSpPr>
            <a:xfrm>
              <a:off x="916766" y="885923"/>
              <a:ext cx="5961217" cy="5705608"/>
              <a:chOff x="916766" y="885923"/>
              <a:chExt cx="5961217" cy="5705608"/>
            </a:xfrm>
          </p:grpSpPr>
          <p:sp>
            <p:nvSpPr>
              <p:cNvPr id="268" name="Google Shape;268;p8"/>
              <p:cNvSpPr/>
              <p:nvPr/>
            </p:nvSpPr>
            <p:spPr>
              <a:xfrm>
                <a:off x="916766" y="885923"/>
                <a:ext cx="4303903" cy="5509907"/>
              </a:xfrm>
              <a:prstGeom prst="roundRect">
                <a:avLst>
                  <a:gd fmla="val 11475" name="adj"/>
                </a:avLst>
              </a:prstGeom>
              <a:solidFill>
                <a:schemeClr val="accent2"/>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69" name="Google Shape;269;p8"/>
              <p:cNvGrpSpPr/>
              <p:nvPr/>
            </p:nvGrpSpPr>
            <p:grpSpPr>
              <a:xfrm>
                <a:off x="1624892" y="2255884"/>
                <a:ext cx="5253091" cy="4335647"/>
                <a:chOff x="1960086" y="3425972"/>
                <a:chExt cx="1246069" cy="1028445"/>
              </a:xfrm>
            </p:grpSpPr>
            <p:sp>
              <p:nvSpPr>
                <p:cNvPr id="270" name="Google Shape;270;p8"/>
                <p:cNvSpPr/>
                <p:nvPr/>
              </p:nvSpPr>
              <p:spPr>
                <a:xfrm>
                  <a:off x="2890250" y="3545314"/>
                  <a:ext cx="59672" cy="38612"/>
                </a:xfrm>
                <a:prstGeom prst="rect">
                  <a:avLst/>
                </a:pr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8"/>
                <p:cNvSpPr/>
                <p:nvPr/>
              </p:nvSpPr>
              <p:spPr>
                <a:xfrm>
                  <a:off x="2426923" y="3429481"/>
                  <a:ext cx="470347" cy="35100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8"/>
                <p:cNvSpPr/>
                <p:nvPr/>
              </p:nvSpPr>
              <p:spPr>
                <a:xfrm>
                  <a:off x="2423414" y="3425972"/>
                  <a:ext cx="477367" cy="358026"/>
                </a:xfrm>
                <a:custGeom>
                  <a:rect b="b" l="l" r="r" t="t"/>
                  <a:pathLst>
                    <a:path extrusionOk="0" h="1683" w="2257">
                      <a:moveTo>
                        <a:pt x="2244" y="1683"/>
                      </a:moveTo>
                      <a:cubicBezTo>
                        <a:pt x="2237" y="1683"/>
                        <a:pt x="2232" y="1677"/>
                        <a:pt x="2232" y="1670"/>
                      </a:cubicBezTo>
                      <a:lnTo>
                        <a:pt x="2232" y="26"/>
                      </a:lnTo>
                      <a:lnTo>
                        <a:pt x="13" y="26"/>
                      </a:lnTo>
                      <a:cubicBezTo>
                        <a:pt x="6" y="26"/>
                        <a:pt x="0" y="20"/>
                        <a:pt x="0" y="13"/>
                      </a:cubicBezTo>
                      <a:cubicBezTo>
                        <a:pt x="0" y="6"/>
                        <a:pt x="6" y="0"/>
                        <a:pt x="13" y="0"/>
                      </a:cubicBezTo>
                      <a:lnTo>
                        <a:pt x="2244" y="0"/>
                      </a:lnTo>
                      <a:cubicBezTo>
                        <a:pt x="2251" y="0"/>
                        <a:pt x="2257" y="6"/>
                        <a:pt x="2257" y="13"/>
                      </a:cubicBezTo>
                      <a:lnTo>
                        <a:pt x="2257" y="1670"/>
                      </a:lnTo>
                      <a:cubicBezTo>
                        <a:pt x="2257" y="1677"/>
                        <a:pt x="2251" y="1683"/>
                        <a:pt x="2244" y="1683"/>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8"/>
                <p:cNvSpPr/>
                <p:nvPr/>
              </p:nvSpPr>
              <p:spPr>
                <a:xfrm>
                  <a:off x="2865681" y="3482133"/>
                  <a:ext cx="56161" cy="35101"/>
                </a:xfrm>
                <a:prstGeom prst="rect">
                  <a:avLst/>
                </a:prstGeom>
                <a:solidFill>
                  <a:srgbClr val="F579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8"/>
                <p:cNvSpPr/>
                <p:nvPr/>
              </p:nvSpPr>
              <p:spPr>
                <a:xfrm>
                  <a:off x="2409374" y="3447032"/>
                  <a:ext cx="473859" cy="35100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8"/>
                <p:cNvSpPr/>
                <p:nvPr/>
              </p:nvSpPr>
              <p:spPr>
                <a:xfrm>
                  <a:off x="2437454" y="3492662"/>
                  <a:ext cx="143913" cy="189543"/>
                </a:xfrm>
                <a:prstGeom prst="rect">
                  <a:avLst/>
                </a:pr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8"/>
                <p:cNvSpPr/>
                <p:nvPr/>
              </p:nvSpPr>
              <p:spPr>
                <a:xfrm>
                  <a:off x="2634017" y="3506702"/>
                  <a:ext cx="56161" cy="7020"/>
                </a:xfrm>
                <a:custGeom>
                  <a:rect b="b" l="l" r="r" t="t"/>
                  <a:pathLst>
                    <a:path extrusionOk="0" h="25" w="274">
                      <a:moveTo>
                        <a:pt x="261" y="25"/>
                      </a:moveTo>
                      <a:lnTo>
                        <a:pt x="13" y="25"/>
                      </a:lnTo>
                      <a:cubicBezTo>
                        <a:pt x="6" y="25"/>
                        <a:pt x="0" y="20"/>
                        <a:pt x="0" y="13"/>
                      </a:cubicBezTo>
                      <a:cubicBezTo>
                        <a:pt x="0" y="6"/>
                        <a:pt x="6" y="0"/>
                        <a:pt x="13" y="0"/>
                      </a:cubicBezTo>
                      <a:lnTo>
                        <a:pt x="261" y="0"/>
                      </a:lnTo>
                      <a:cubicBezTo>
                        <a:pt x="268" y="0"/>
                        <a:pt x="274" y="6"/>
                        <a:pt x="274" y="13"/>
                      </a:cubicBezTo>
                      <a:cubicBezTo>
                        <a:pt x="274" y="20"/>
                        <a:pt x="268" y="25"/>
                        <a:pt x="261" y="25"/>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8"/>
                <p:cNvSpPr/>
                <p:nvPr/>
              </p:nvSpPr>
              <p:spPr>
                <a:xfrm>
                  <a:off x="2704218" y="3506702"/>
                  <a:ext cx="112322" cy="7020"/>
                </a:xfrm>
                <a:custGeom>
                  <a:rect b="b" l="l" r="r" t="t"/>
                  <a:pathLst>
                    <a:path extrusionOk="0" h="25" w="531">
                      <a:moveTo>
                        <a:pt x="518" y="25"/>
                      </a:moveTo>
                      <a:lnTo>
                        <a:pt x="13" y="25"/>
                      </a:lnTo>
                      <a:cubicBezTo>
                        <a:pt x="6" y="25"/>
                        <a:pt x="0" y="20"/>
                        <a:pt x="0" y="13"/>
                      </a:cubicBezTo>
                      <a:cubicBezTo>
                        <a:pt x="0" y="6"/>
                        <a:pt x="6" y="0"/>
                        <a:pt x="13" y="0"/>
                      </a:cubicBezTo>
                      <a:lnTo>
                        <a:pt x="518" y="0"/>
                      </a:lnTo>
                      <a:cubicBezTo>
                        <a:pt x="525" y="0"/>
                        <a:pt x="531" y="6"/>
                        <a:pt x="531" y="13"/>
                      </a:cubicBezTo>
                      <a:cubicBezTo>
                        <a:pt x="531" y="20"/>
                        <a:pt x="525" y="25"/>
                        <a:pt x="518" y="25"/>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8"/>
                <p:cNvSpPr/>
                <p:nvPr/>
              </p:nvSpPr>
              <p:spPr>
                <a:xfrm>
                  <a:off x="2634017" y="3527762"/>
                  <a:ext cx="108813" cy="3511"/>
                </a:xfrm>
                <a:custGeom>
                  <a:rect b="b" l="l" r="r" t="t"/>
                  <a:pathLst>
                    <a:path extrusionOk="0" h="25" w="517">
                      <a:moveTo>
                        <a:pt x="504" y="25"/>
                      </a:moveTo>
                      <a:lnTo>
                        <a:pt x="13" y="25"/>
                      </a:lnTo>
                      <a:cubicBezTo>
                        <a:pt x="6" y="25"/>
                        <a:pt x="0" y="19"/>
                        <a:pt x="0" y="12"/>
                      </a:cubicBezTo>
                      <a:cubicBezTo>
                        <a:pt x="0" y="5"/>
                        <a:pt x="6" y="0"/>
                        <a:pt x="13" y="0"/>
                      </a:cubicBezTo>
                      <a:lnTo>
                        <a:pt x="504" y="0"/>
                      </a:lnTo>
                      <a:cubicBezTo>
                        <a:pt x="511" y="0"/>
                        <a:pt x="517" y="5"/>
                        <a:pt x="517" y="12"/>
                      </a:cubicBezTo>
                      <a:cubicBezTo>
                        <a:pt x="517" y="19"/>
                        <a:pt x="511" y="25"/>
                        <a:pt x="504" y="25"/>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8"/>
                <p:cNvSpPr/>
                <p:nvPr/>
              </p:nvSpPr>
              <p:spPr>
                <a:xfrm>
                  <a:off x="2753359" y="3527762"/>
                  <a:ext cx="87752" cy="3511"/>
                </a:xfrm>
                <a:custGeom>
                  <a:rect b="b" l="l" r="r" t="t"/>
                  <a:pathLst>
                    <a:path extrusionOk="0" h="25" w="417">
                      <a:moveTo>
                        <a:pt x="404" y="25"/>
                      </a:moveTo>
                      <a:lnTo>
                        <a:pt x="12" y="25"/>
                      </a:lnTo>
                      <a:cubicBezTo>
                        <a:pt x="6" y="25"/>
                        <a:pt x="0" y="19"/>
                        <a:pt x="0" y="12"/>
                      </a:cubicBezTo>
                      <a:cubicBezTo>
                        <a:pt x="0" y="5"/>
                        <a:pt x="6" y="0"/>
                        <a:pt x="12" y="0"/>
                      </a:cubicBezTo>
                      <a:lnTo>
                        <a:pt x="404" y="0"/>
                      </a:lnTo>
                      <a:cubicBezTo>
                        <a:pt x="411" y="0"/>
                        <a:pt x="417" y="5"/>
                        <a:pt x="417" y="12"/>
                      </a:cubicBezTo>
                      <a:cubicBezTo>
                        <a:pt x="417" y="19"/>
                        <a:pt x="411" y="25"/>
                        <a:pt x="404" y="25"/>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8"/>
                <p:cNvSpPr/>
                <p:nvPr/>
              </p:nvSpPr>
              <p:spPr>
                <a:xfrm>
                  <a:off x="2634017" y="3545314"/>
                  <a:ext cx="80732" cy="7020"/>
                </a:xfrm>
                <a:custGeom>
                  <a:rect b="b" l="l" r="r" t="t"/>
                  <a:pathLst>
                    <a:path extrusionOk="0" h="26" w="377">
                      <a:moveTo>
                        <a:pt x="364" y="26"/>
                      </a:moveTo>
                      <a:lnTo>
                        <a:pt x="13" y="26"/>
                      </a:lnTo>
                      <a:cubicBezTo>
                        <a:pt x="6" y="26"/>
                        <a:pt x="0" y="20"/>
                        <a:pt x="0" y="13"/>
                      </a:cubicBezTo>
                      <a:cubicBezTo>
                        <a:pt x="0" y="6"/>
                        <a:pt x="6" y="0"/>
                        <a:pt x="13" y="0"/>
                      </a:cubicBezTo>
                      <a:lnTo>
                        <a:pt x="364" y="0"/>
                      </a:lnTo>
                      <a:cubicBezTo>
                        <a:pt x="371" y="0"/>
                        <a:pt x="377" y="6"/>
                        <a:pt x="377" y="13"/>
                      </a:cubicBezTo>
                      <a:cubicBezTo>
                        <a:pt x="377" y="20"/>
                        <a:pt x="371" y="26"/>
                        <a:pt x="364" y="26"/>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8"/>
                <p:cNvSpPr/>
                <p:nvPr/>
              </p:nvSpPr>
              <p:spPr>
                <a:xfrm>
                  <a:off x="2725278" y="3545314"/>
                  <a:ext cx="73712" cy="7020"/>
                </a:xfrm>
                <a:custGeom>
                  <a:rect b="b" l="l" r="r" t="t"/>
                  <a:pathLst>
                    <a:path extrusionOk="0" h="26" w="351">
                      <a:moveTo>
                        <a:pt x="338" y="26"/>
                      </a:moveTo>
                      <a:lnTo>
                        <a:pt x="12" y="26"/>
                      </a:lnTo>
                      <a:cubicBezTo>
                        <a:pt x="5" y="26"/>
                        <a:pt x="0" y="20"/>
                        <a:pt x="0" y="13"/>
                      </a:cubicBezTo>
                      <a:cubicBezTo>
                        <a:pt x="0" y="6"/>
                        <a:pt x="5" y="0"/>
                        <a:pt x="12" y="0"/>
                      </a:cubicBezTo>
                      <a:lnTo>
                        <a:pt x="338" y="0"/>
                      </a:lnTo>
                      <a:cubicBezTo>
                        <a:pt x="345" y="0"/>
                        <a:pt x="351" y="6"/>
                        <a:pt x="351" y="13"/>
                      </a:cubicBezTo>
                      <a:cubicBezTo>
                        <a:pt x="351" y="20"/>
                        <a:pt x="345" y="26"/>
                        <a:pt x="338" y="26"/>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8"/>
                <p:cNvSpPr/>
                <p:nvPr/>
              </p:nvSpPr>
              <p:spPr>
                <a:xfrm>
                  <a:off x="2405862" y="3447032"/>
                  <a:ext cx="477367" cy="354517"/>
                </a:xfrm>
                <a:custGeom>
                  <a:rect b="b" l="l" r="r" t="t"/>
                  <a:pathLst>
                    <a:path extrusionOk="0" h="1682" w="2257">
                      <a:moveTo>
                        <a:pt x="2244" y="1682"/>
                      </a:moveTo>
                      <a:cubicBezTo>
                        <a:pt x="2237" y="1682"/>
                        <a:pt x="2232" y="1677"/>
                        <a:pt x="2232" y="1670"/>
                      </a:cubicBezTo>
                      <a:lnTo>
                        <a:pt x="2232" y="25"/>
                      </a:lnTo>
                      <a:lnTo>
                        <a:pt x="13" y="25"/>
                      </a:lnTo>
                      <a:cubicBezTo>
                        <a:pt x="6" y="25"/>
                        <a:pt x="0" y="20"/>
                        <a:pt x="0" y="13"/>
                      </a:cubicBezTo>
                      <a:cubicBezTo>
                        <a:pt x="0" y="6"/>
                        <a:pt x="6" y="0"/>
                        <a:pt x="13" y="0"/>
                      </a:cubicBezTo>
                      <a:lnTo>
                        <a:pt x="2244" y="0"/>
                      </a:lnTo>
                      <a:cubicBezTo>
                        <a:pt x="2251" y="0"/>
                        <a:pt x="2257" y="6"/>
                        <a:pt x="2257" y="13"/>
                      </a:cubicBezTo>
                      <a:lnTo>
                        <a:pt x="2257" y="1670"/>
                      </a:lnTo>
                      <a:cubicBezTo>
                        <a:pt x="2257" y="1677"/>
                        <a:pt x="2251" y="1682"/>
                        <a:pt x="2244" y="1682"/>
                      </a:cubicBezTo>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8"/>
                <p:cNvSpPr/>
                <p:nvPr/>
              </p:nvSpPr>
              <p:spPr>
                <a:xfrm>
                  <a:off x="2377782" y="3520742"/>
                  <a:ext cx="484388" cy="301865"/>
                </a:xfrm>
                <a:custGeom>
                  <a:rect b="b" l="l" r="r" t="t"/>
                  <a:pathLst>
                    <a:path extrusionOk="0" h="86" w="138">
                      <a:moveTo>
                        <a:pt x="0" y="0"/>
                      </a:moveTo>
                      <a:lnTo>
                        <a:pt x="0" y="86"/>
                      </a:lnTo>
                      <a:lnTo>
                        <a:pt x="138" y="86"/>
                      </a:lnTo>
                      <a:lnTo>
                        <a:pt x="138" y="13"/>
                      </a:lnTo>
                      <a:lnTo>
                        <a:pt x="52" y="13"/>
                      </a:lnTo>
                      <a:lnTo>
                        <a:pt x="39" y="0"/>
                      </a:lnTo>
                      <a:lnTo>
                        <a:pt x="0" y="0"/>
                      </a:lnTo>
                      <a:close/>
                    </a:path>
                  </a:pathLst>
                </a:custGeom>
                <a:solidFill>
                  <a:srgbClr val="FBC8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8"/>
                <p:cNvSpPr/>
                <p:nvPr/>
              </p:nvSpPr>
              <p:spPr>
                <a:xfrm>
                  <a:off x="2746339" y="3650615"/>
                  <a:ext cx="424718" cy="424718"/>
                </a:xfrm>
                <a:prstGeom prst="ellipse">
                  <a:avLst/>
                </a:prstGeom>
                <a:solidFill>
                  <a:schemeClr val="lt1"/>
                </a:solidFill>
                <a:ln cap="flat" cmpd="sng" w="19050">
                  <a:solidFill>
                    <a:srgbClr val="B9C7FB"/>
                  </a:solidFill>
                  <a:prstDash val="solid"/>
                  <a:miter lim="800000"/>
                  <a:headEnd len="sm" w="sm" type="none"/>
                  <a:tailEnd len="sm" w="sm" type="none"/>
                </a:ln>
                <a:effectLst>
                  <a:outerShdw blurRad="50800" rotWithShape="0" algn="t" dir="5400000" dist="38100">
                    <a:srgbClr val="09279B">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Montserrat SemiBold"/>
                    <a:ea typeface="Montserrat SemiBold"/>
                    <a:cs typeface="Montserrat SemiBold"/>
                    <a:sym typeface="Montserrat SemiBold"/>
                  </a:endParaRPr>
                </a:p>
              </p:txBody>
            </p:sp>
            <p:sp>
              <p:nvSpPr>
                <p:cNvPr id="285" name="Google Shape;285;p8"/>
                <p:cNvSpPr/>
                <p:nvPr/>
              </p:nvSpPr>
              <p:spPr>
                <a:xfrm>
                  <a:off x="3058733" y="3819098"/>
                  <a:ext cx="80732" cy="98282"/>
                </a:xfrm>
                <a:custGeom>
                  <a:rect b="b" l="l" r="r" t="t"/>
                  <a:pathLst>
                    <a:path extrusionOk="0" h="458" w="369">
                      <a:moveTo>
                        <a:pt x="0" y="458"/>
                      </a:moveTo>
                      <a:lnTo>
                        <a:pt x="181" y="458"/>
                      </a:lnTo>
                      <a:cubicBezTo>
                        <a:pt x="285" y="458"/>
                        <a:pt x="369" y="374"/>
                        <a:pt x="369" y="270"/>
                      </a:cubicBezTo>
                      <a:lnTo>
                        <a:pt x="369" y="188"/>
                      </a:lnTo>
                      <a:cubicBezTo>
                        <a:pt x="369" y="84"/>
                        <a:pt x="285" y="0"/>
                        <a:pt x="181" y="0"/>
                      </a:cubicBezTo>
                      <a:lnTo>
                        <a:pt x="0" y="0"/>
                      </a:lnTo>
                      <a:lnTo>
                        <a:pt x="0" y="458"/>
                      </a:ln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8"/>
                <p:cNvSpPr/>
                <p:nvPr/>
              </p:nvSpPr>
              <p:spPr>
                <a:xfrm>
                  <a:off x="2777928" y="3819098"/>
                  <a:ext cx="80732" cy="98282"/>
                </a:xfrm>
                <a:custGeom>
                  <a:rect b="b" l="l" r="r" t="t"/>
                  <a:pathLst>
                    <a:path extrusionOk="0" h="458" w="370">
                      <a:moveTo>
                        <a:pt x="370" y="458"/>
                      </a:moveTo>
                      <a:lnTo>
                        <a:pt x="189" y="458"/>
                      </a:lnTo>
                      <a:cubicBezTo>
                        <a:pt x="85" y="458"/>
                        <a:pt x="0" y="374"/>
                        <a:pt x="0" y="270"/>
                      </a:cubicBezTo>
                      <a:lnTo>
                        <a:pt x="0" y="188"/>
                      </a:lnTo>
                      <a:cubicBezTo>
                        <a:pt x="0" y="84"/>
                        <a:pt x="85" y="0"/>
                        <a:pt x="189" y="0"/>
                      </a:cubicBezTo>
                      <a:lnTo>
                        <a:pt x="370" y="0"/>
                      </a:lnTo>
                      <a:lnTo>
                        <a:pt x="370" y="458"/>
                      </a:ln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8"/>
                <p:cNvSpPr/>
                <p:nvPr/>
              </p:nvSpPr>
              <p:spPr>
                <a:xfrm>
                  <a:off x="2820049" y="3766446"/>
                  <a:ext cx="277295" cy="196563"/>
                </a:xfrm>
                <a:custGeom>
                  <a:rect b="b" l="l" r="r" t="t"/>
                  <a:pathLst>
                    <a:path extrusionOk="0" h="932" w="1297">
                      <a:moveTo>
                        <a:pt x="255" y="0"/>
                      </a:moveTo>
                      <a:lnTo>
                        <a:pt x="1041" y="0"/>
                      </a:lnTo>
                      <a:cubicBezTo>
                        <a:pt x="1143" y="0"/>
                        <a:pt x="1227" y="77"/>
                        <a:pt x="1237" y="178"/>
                      </a:cubicBezTo>
                      <a:lnTo>
                        <a:pt x="1286" y="718"/>
                      </a:lnTo>
                      <a:cubicBezTo>
                        <a:pt x="1297" y="833"/>
                        <a:pt x="1206" y="932"/>
                        <a:pt x="1091" y="932"/>
                      </a:cubicBezTo>
                      <a:lnTo>
                        <a:pt x="206" y="932"/>
                      </a:lnTo>
                      <a:cubicBezTo>
                        <a:pt x="90" y="932"/>
                        <a:pt x="0" y="833"/>
                        <a:pt x="11" y="718"/>
                      </a:cubicBezTo>
                      <a:lnTo>
                        <a:pt x="60" y="178"/>
                      </a:lnTo>
                      <a:cubicBezTo>
                        <a:pt x="69" y="77"/>
                        <a:pt x="154" y="0"/>
                        <a:pt x="255" y="0"/>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8"/>
                <p:cNvSpPr/>
                <p:nvPr/>
              </p:nvSpPr>
              <p:spPr>
                <a:xfrm>
                  <a:off x="2883230" y="3829627"/>
                  <a:ext cx="150933" cy="94773"/>
                </a:xfrm>
                <a:custGeom>
                  <a:rect b="b" l="l" r="r" t="t"/>
                  <a:pathLst>
                    <a:path extrusionOk="0" h="458" w="724">
                      <a:moveTo>
                        <a:pt x="26" y="458"/>
                      </a:moveTo>
                      <a:lnTo>
                        <a:pt x="699" y="458"/>
                      </a:lnTo>
                      <a:cubicBezTo>
                        <a:pt x="713" y="458"/>
                        <a:pt x="724" y="447"/>
                        <a:pt x="724" y="432"/>
                      </a:cubicBezTo>
                      <a:lnTo>
                        <a:pt x="724" y="25"/>
                      </a:lnTo>
                      <a:cubicBezTo>
                        <a:pt x="724" y="11"/>
                        <a:pt x="713" y="0"/>
                        <a:pt x="699" y="0"/>
                      </a:cubicBezTo>
                      <a:lnTo>
                        <a:pt x="26" y="0"/>
                      </a:lnTo>
                      <a:cubicBezTo>
                        <a:pt x="12" y="0"/>
                        <a:pt x="0" y="11"/>
                        <a:pt x="0" y="25"/>
                      </a:cubicBezTo>
                      <a:lnTo>
                        <a:pt x="0" y="432"/>
                      </a:lnTo>
                      <a:cubicBezTo>
                        <a:pt x="0" y="447"/>
                        <a:pt x="12" y="458"/>
                        <a:pt x="26" y="45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8"/>
                <p:cNvSpPr/>
                <p:nvPr/>
              </p:nvSpPr>
              <p:spPr>
                <a:xfrm>
                  <a:off x="2879721" y="3826118"/>
                  <a:ext cx="157954" cy="101793"/>
                </a:xfrm>
                <a:custGeom>
                  <a:rect b="b" l="l" r="r" t="t"/>
                  <a:pathLst>
                    <a:path extrusionOk="0" h="484" w="749">
                      <a:moveTo>
                        <a:pt x="44" y="25"/>
                      </a:moveTo>
                      <a:cubicBezTo>
                        <a:pt x="33" y="25"/>
                        <a:pt x="25" y="34"/>
                        <a:pt x="25" y="44"/>
                      </a:cubicBezTo>
                      <a:lnTo>
                        <a:pt x="25" y="440"/>
                      </a:lnTo>
                      <a:cubicBezTo>
                        <a:pt x="25" y="450"/>
                        <a:pt x="33" y="459"/>
                        <a:pt x="44" y="459"/>
                      </a:cubicBezTo>
                      <a:lnTo>
                        <a:pt x="705" y="459"/>
                      </a:lnTo>
                      <a:cubicBezTo>
                        <a:pt x="715" y="459"/>
                        <a:pt x="724" y="450"/>
                        <a:pt x="724" y="440"/>
                      </a:cubicBezTo>
                      <a:lnTo>
                        <a:pt x="724" y="44"/>
                      </a:lnTo>
                      <a:cubicBezTo>
                        <a:pt x="724" y="34"/>
                        <a:pt x="715" y="25"/>
                        <a:pt x="705" y="25"/>
                      </a:cubicBezTo>
                      <a:lnTo>
                        <a:pt x="44" y="25"/>
                      </a:lnTo>
                      <a:close/>
                      <a:moveTo>
                        <a:pt x="705" y="484"/>
                      </a:moveTo>
                      <a:lnTo>
                        <a:pt x="44" y="484"/>
                      </a:lnTo>
                      <a:cubicBezTo>
                        <a:pt x="19" y="484"/>
                        <a:pt x="0" y="464"/>
                        <a:pt x="0" y="440"/>
                      </a:cubicBezTo>
                      <a:lnTo>
                        <a:pt x="0" y="44"/>
                      </a:lnTo>
                      <a:cubicBezTo>
                        <a:pt x="0" y="20"/>
                        <a:pt x="19" y="0"/>
                        <a:pt x="44" y="0"/>
                      </a:cubicBezTo>
                      <a:lnTo>
                        <a:pt x="705" y="0"/>
                      </a:lnTo>
                      <a:cubicBezTo>
                        <a:pt x="729" y="0"/>
                        <a:pt x="749" y="20"/>
                        <a:pt x="749" y="44"/>
                      </a:cubicBezTo>
                      <a:lnTo>
                        <a:pt x="749" y="440"/>
                      </a:lnTo>
                      <a:cubicBezTo>
                        <a:pt x="749" y="464"/>
                        <a:pt x="729" y="484"/>
                        <a:pt x="705" y="484"/>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8"/>
                <p:cNvSpPr/>
                <p:nvPr/>
              </p:nvSpPr>
              <p:spPr>
                <a:xfrm>
                  <a:off x="2988531" y="3861219"/>
                  <a:ext cx="10531" cy="24571"/>
                </a:xfrm>
                <a:custGeom>
                  <a:rect b="b" l="l" r="r" t="t"/>
                  <a:pathLst>
                    <a:path extrusionOk="0" h="120" w="58">
                      <a:moveTo>
                        <a:pt x="24" y="120"/>
                      </a:moveTo>
                      <a:lnTo>
                        <a:pt x="34" y="120"/>
                      </a:lnTo>
                      <a:cubicBezTo>
                        <a:pt x="47" y="120"/>
                        <a:pt x="58" y="110"/>
                        <a:pt x="58" y="97"/>
                      </a:cubicBezTo>
                      <a:lnTo>
                        <a:pt x="58" y="24"/>
                      </a:lnTo>
                      <a:cubicBezTo>
                        <a:pt x="58" y="11"/>
                        <a:pt x="47" y="0"/>
                        <a:pt x="34" y="0"/>
                      </a:cubicBezTo>
                      <a:lnTo>
                        <a:pt x="24" y="0"/>
                      </a:lnTo>
                      <a:cubicBezTo>
                        <a:pt x="11" y="0"/>
                        <a:pt x="0" y="11"/>
                        <a:pt x="0" y="24"/>
                      </a:cubicBezTo>
                      <a:lnTo>
                        <a:pt x="0" y="97"/>
                      </a:lnTo>
                      <a:cubicBezTo>
                        <a:pt x="0" y="110"/>
                        <a:pt x="11" y="120"/>
                        <a:pt x="24" y="120"/>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8"/>
                <p:cNvSpPr/>
                <p:nvPr/>
              </p:nvSpPr>
              <p:spPr>
                <a:xfrm>
                  <a:off x="2918330" y="3861219"/>
                  <a:ext cx="14040" cy="24571"/>
                </a:xfrm>
                <a:custGeom>
                  <a:rect b="b" l="l" r="r" t="t"/>
                  <a:pathLst>
                    <a:path extrusionOk="0" h="120" w="58">
                      <a:moveTo>
                        <a:pt x="24" y="120"/>
                      </a:moveTo>
                      <a:lnTo>
                        <a:pt x="34" y="120"/>
                      </a:lnTo>
                      <a:cubicBezTo>
                        <a:pt x="47" y="120"/>
                        <a:pt x="58" y="110"/>
                        <a:pt x="58" y="97"/>
                      </a:cubicBezTo>
                      <a:lnTo>
                        <a:pt x="58" y="24"/>
                      </a:lnTo>
                      <a:cubicBezTo>
                        <a:pt x="58" y="11"/>
                        <a:pt x="47" y="0"/>
                        <a:pt x="34" y="0"/>
                      </a:cubicBezTo>
                      <a:lnTo>
                        <a:pt x="24" y="0"/>
                      </a:lnTo>
                      <a:cubicBezTo>
                        <a:pt x="11" y="0"/>
                        <a:pt x="0" y="11"/>
                        <a:pt x="0" y="24"/>
                      </a:cubicBezTo>
                      <a:lnTo>
                        <a:pt x="0" y="97"/>
                      </a:lnTo>
                      <a:cubicBezTo>
                        <a:pt x="0" y="110"/>
                        <a:pt x="11" y="120"/>
                        <a:pt x="24" y="120"/>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8"/>
                <p:cNvSpPr/>
                <p:nvPr/>
              </p:nvSpPr>
              <p:spPr>
                <a:xfrm>
                  <a:off x="2935882" y="3885788"/>
                  <a:ext cx="49141" cy="28080"/>
                </a:xfrm>
                <a:custGeom>
                  <a:rect b="b" l="l" r="r" t="t"/>
                  <a:pathLst>
                    <a:path extrusionOk="0" h="134" w="243">
                      <a:moveTo>
                        <a:pt x="34" y="25"/>
                      </a:moveTo>
                      <a:cubicBezTo>
                        <a:pt x="31" y="25"/>
                        <a:pt x="29" y="27"/>
                        <a:pt x="28" y="27"/>
                      </a:cubicBezTo>
                      <a:cubicBezTo>
                        <a:pt x="27" y="29"/>
                        <a:pt x="26" y="31"/>
                        <a:pt x="27" y="34"/>
                      </a:cubicBezTo>
                      <a:cubicBezTo>
                        <a:pt x="37" y="77"/>
                        <a:pt x="77" y="109"/>
                        <a:pt x="121" y="109"/>
                      </a:cubicBezTo>
                      <a:cubicBezTo>
                        <a:pt x="166" y="109"/>
                        <a:pt x="206" y="77"/>
                        <a:pt x="216" y="34"/>
                      </a:cubicBezTo>
                      <a:cubicBezTo>
                        <a:pt x="216" y="31"/>
                        <a:pt x="216" y="29"/>
                        <a:pt x="214" y="27"/>
                      </a:cubicBezTo>
                      <a:cubicBezTo>
                        <a:pt x="214" y="27"/>
                        <a:pt x="212" y="25"/>
                        <a:pt x="209" y="25"/>
                      </a:cubicBezTo>
                      <a:lnTo>
                        <a:pt x="34" y="25"/>
                      </a:lnTo>
                      <a:close/>
                      <a:moveTo>
                        <a:pt x="121" y="134"/>
                      </a:moveTo>
                      <a:cubicBezTo>
                        <a:pt x="65" y="134"/>
                        <a:pt x="15" y="94"/>
                        <a:pt x="2" y="39"/>
                      </a:cubicBezTo>
                      <a:cubicBezTo>
                        <a:pt x="0" y="29"/>
                        <a:pt x="3" y="20"/>
                        <a:pt x="9" y="12"/>
                      </a:cubicBezTo>
                      <a:cubicBezTo>
                        <a:pt x="15" y="4"/>
                        <a:pt x="24" y="0"/>
                        <a:pt x="34" y="0"/>
                      </a:cubicBezTo>
                      <a:lnTo>
                        <a:pt x="209" y="0"/>
                      </a:lnTo>
                      <a:cubicBezTo>
                        <a:pt x="219" y="0"/>
                        <a:pt x="228" y="4"/>
                        <a:pt x="234" y="12"/>
                      </a:cubicBezTo>
                      <a:cubicBezTo>
                        <a:pt x="240" y="20"/>
                        <a:pt x="243" y="29"/>
                        <a:pt x="240" y="39"/>
                      </a:cubicBezTo>
                      <a:cubicBezTo>
                        <a:pt x="228" y="94"/>
                        <a:pt x="178" y="134"/>
                        <a:pt x="121" y="134"/>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8"/>
                <p:cNvSpPr/>
                <p:nvPr/>
              </p:nvSpPr>
              <p:spPr>
                <a:xfrm>
                  <a:off x="2655077" y="4005130"/>
                  <a:ext cx="59672" cy="59672"/>
                </a:xfrm>
                <a:custGeom>
                  <a:rect b="b" l="l" r="r" t="t"/>
                  <a:pathLst>
                    <a:path extrusionOk="0" h="280" w="280">
                      <a:moveTo>
                        <a:pt x="9" y="149"/>
                      </a:moveTo>
                      <a:cubicBezTo>
                        <a:pt x="83" y="172"/>
                        <a:pt x="108" y="198"/>
                        <a:pt x="131" y="272"/>
                      </a:cubicBezTo>
                      <a:cubicBezTo>
                        <a:pt x="134" y="280"/>
                        <a:pt x="146" y="280"/>
                        <a:pt x="149" y="272"/>
                      </a:cubicBezTo>
                      <a:cubicBezTo>
                        <a:pt x="172" y="198"/>
                        <a:pt x="197" y="172"/>
                        <a:pt x="271" y="149"/>
                      </a:cubicBezTo>
                      <a:cubicBezTo>
                        <a:pt x="280" y="146"/>
                        <a:pt x="280" y="134"/>
                        <a:pt x="271" y="131"/>
                      </a:cubicBezTo>
                      <a:cubicBezTo>
                        <a:pt x="197" y="108"/>
                        <a:pt x="172" y="83"/>
                        <a:pt x="149" y="9"/>
                      </a:cubicBezTo>
                      <a:cubicBezTo>
                        <a:pt x="146" y="0"/>
                        <a:pt x="134" y="0"/>
                        <a:pt x="131" y="9"/>
                      </a:cubicBezTo>
                      <a:cubicBezTo>
                        <a:pt x="108" y="83"/>
                        <a:pt x="83" y="108"/>
                        <a:pt x="9" y="131"/>
                      </a:cubicBezTo>
                      <a:cubicBezTo>
                        <a:pt x="0" y="134"/>
                        <a:pt x="0" y="146"/>
                        <a:pt x="9" y="149"/>
                      </a:cubicBezTo>
                      <a:close/>
                    </a:path>
                  </a:pathLst>
                </a:custGeom>
                <a:solidFill>
                  <a:srgbClr val="FBC8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8"/>
                <p:cNvSpPr/>
                <p:nvPr/>
              </p:nvSpPr>
              <p:spPr>
                <a:xfrm>
                  <a:off x="2261951" y="3531273"/>
                  <a:ext cx="49141" cy="45632"/>
                </a:xfrm>
                <a:custGeom>
                  <a:rect b="b" l="l" r="r" t="t"/>
                  <a:pathLst>
                    <a:path extrusionOk="0" h="225" w="224">
                      <a:moveTo>
                        <a:pt x="7" y="120"/>
                      </a:moveTo>
                      <a:cubicBezTo>
                        <a:pt x="66" y="138"/>
                        <a:pt x="86" y="158"/>
                        <a:pt x="105" y="218"/>
                      </a:cubicBezTo>
                      <a:cubicBezTo>
                        <a:pt x="107" y="225"/>
                        <a:pt x="117" y="225"/>
                        <a:pt x="119" y="218"/>
                      </a:cubicBezTo>
                      <a:cubicBezTo>
                        <a:pt x="138" y="158"/>
                        <a:pt x="158" y="138"/>
                        <a:pt x="217" y="120"/>
                      </a:cubicBezTo>
                      <a:cubicBezTo>
                        <a:pt x="224" y="117"/>
                        <a:pt x="224" y="108"/>
                        <a:pt x="217" y="105"/>
                      </a:cubicBezTo>
                      <a:cubicBezTo>
                        <a:pt x="158" y="87"/>
                        <a:pt x="138" y="66"/>
                        <a:pt x="119" y="7"/>
                      </a:cubicBezTo>
                      <a:cubicBezTo>
                        <a:pt x="117" y="0"/>
                        <a:pt x="107" y="0"/>
                        <a:pt x="105" y="7"/>
                      </a:cubicBezTo>
                      <a:cubicBezTo>
                        <a:pt x="86" y="66"/>
                        <a:pt x="66" y="87"/>
                        <a:pt x="7" y="105"/>
                      </a:cubicBezTo>
                      <a:cubicBezTo>
                        <a:pt x="0" y="108"/>
                        <a:pt x="0" y="117"/>
                        <a:pt x="7" y="120"/>
                      </a:cubicBezTo>
                      <a:close/>
                    </a:path>
                  </a:pathLst>
                </a:custGeom>
                <a:solidFill>
                  <a:srgbClr val="FBC8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8"/>
                <p:cNvSpPr/>
                <p:nvPr/>
              </p:nvSpPr>
              <p:spPr>
                <a:xfrm>
                  <a:off x="3142974" y="3671676"/>
                  <a:ext cx="63181" cy="59672"/>
                </a:xfrm>
                <a:custGeom>
                  <a:rect b="b" l="l" r="r" t="t"/>
                  <a:pathLst>
                    <a:path extrusionOk="0" h="293" w="293">
                      <a:moveTo>
                        <a:pt x="9" y="156"/>
                      </a:moveTo>
                      <a:cubicBezTo>
                        <a:pt x="86" y="180"/>
                        <a:pt x="113" y="206"/>
                        <a:pt x="137" y="284"/>
                      </a:cubicBezTo>
                      <a:cubicBezTo>
                        <a:pt x="140" y="293"/>
                        <a:pt x="153" y="293"/>
                        <a:pt x="155" y="284"/>
                      </a:cubicBezTo>
                      <a:cubicBezTo>
                        <a:pt x="180" y="206"/>
                        <a:pt x="206" y="180"/>
                        <a:pt x="284" y="156"/>
                      </a:cubicBezTo>
                      <a:cubicBezTo>
                        <a:pt x="293" y="153"/>
                        <a:pt x="293" y="140"/>
                        <a:pt x="284" y="137"/>
                      </a:cubicBezTo>
                      <a:cubicBezTo>
                        <a:pt x="206" y="113"/>
                        <a:pt x="180" y="86"/>
                        <a:pt x="155" y="9"/>
                      </a:cubicBezTo>
                      <a:cubicBezTo>
                        <a:pt x="153" y="0"/>
                        <a:pt x="140" y="0"/>
                        <a:pt x="137" y="9"/>
                      </a:cubicBezTo>
                      <a:cubicBezTo>
                        <a:pt x="113" y="86"/>
                        <a:pt x="86" y="113"/>
                        <a:pt x="9" y="137"/>
                      </a:cubicBezTo>
                      <a:cubicBezTo>
                        <a:pt x="0" y="140"/>
                        <a:pt x="0" y="153"/>
                        <a:pt x="9" y="156"/>
                      </a:cubicBezTo>
                      <a:close/>
                    </a:path>
                  </a:pathLst>
                </a:custGeom>
                <a:solidFill>
                  <a:srgbClr val="FBC8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8"/>
                <p:cNvSpPr/>
                <p:nvPr/>
              </p:nvSpPr>
              <p:spPr>
                <a:xfrm>
                  <a:off x="3139465" y="3654124"/>
                  <a:ext cx="3511" cy="7020"/>
                </a:xfrm>
                <a:custGeom>
                  <a:rect b="b" l="l" r="r" t="t"/>
                  <a:pathLst>
                    <a:path extrusionOk="0" h="35" w="24">
                      <a:moveTo>
                        <a:pt x="12" y="35"/>
                      </a:moveTo>
                      <a:cubicBezTo>
                        <a:pt x="6" y="35"/>
                        <a:pt x="0" y="30"/>
                        <a:pt x="0" y="24"/>
                      </a:cubicBezTo>
                      <a:lnTo>
                        <a:pt x="0" y="12"/>
                      </a:lnTo>
                      <a:cubicBezTo>
                        <a:pt x="0" y="6"/>
                        <a:pt x="5" y="1"/>
                        <a:pt x="12" y="0"/>
                      </a:cubicBezTo>
                      <a:lnTo>
                        <a:pt x="12" y="0"/>
                      </a:lnTo>
                      <a:cubicBezTo>
                        <a:pt x="18" y="0"/>
                        <a:pt x="24" y="6"/>
                        <a:pt x="24" y="12"/>
                      </a:cubicBezTo>
                      <a:lnTo>
                        <a:pt x="24" y="24"/>
                      </a:lnTo>
                      <a:cubicBezTo>
                        <a:pt x="24" y="30"/>
                        <a:pt x="19" y="35"/>
                        <a:pt x="12" y="35"/>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8"/>
                <p:cNvSpPr/>
                <p:nvPr/>
              </p:nvSpPr>
              <p:spPr>
                <a:xfrm>
                  <a:off x="2942902" y="3447032"/>
                  <a:ext cx="200074" cy="196563"/>
                </a:xfrm>
                <a:custGeom>
                  <a:rect b="b" l="l" r="r" t="t"/>
                  <a:pathLst>
                    <a:path extrusionOk="0" h="939" w="939">
                      <a:moveTo>
                        <a:pt x="36" y="26"/>
                      </a:moveTo>
                      <a:lnTo>
                        <a:pt x="34" y="26"/>
                      </a:lnTo>
                      <a:cubicBezTo>
                        <a:pt x="27" y="25"/>
                        <a:pt x="19" y="24"/>
                        <a:pt x="12" y="24"/>
                      </a:cubicBezTo>
                      <a:cubicBezTo>
                        <a:pt x="5" y="23"/>
                        <a:pt x="0" y="17"/>
                        <a:pt x="1" y="11"/>
                      </a:cubicBezTo>
                      <a:cubicBezTo>
                        <a:pt x="1" y="5"/>
                        <a:pt x="7" y="0"/>
                        <a:pt x="14" y="0"/>
                      </a:cubicBezTo>
                      <a:cubicBezTo>
                        <a:pt x="21" y="1"/>
                        <a:pt x="29" y="2"/>
                        <a:pt x="37" y="2"/>
                      </a:cubicBezTo>
                      <a:cubicBezTo>
                        <a:pt x="43" y="3"/>
                        <a:pt x="48" y="9"/>
                        <a:pt x="47" y="15"/>
                      </a:cubicBezTo>
                      <a:cubicBezTo>
                        <a:pt x="47" y="21"/>
                        <a:pt x="41" y="26"/>
                        <a:pt x="36" y="26"/>
                      </a:cubicBezTo>
                      <a:close/>
                      <a:moveTo>
                        <a:pt x="127" y="39"/>
                      </a:moveTo>
                      <a:lnTo>
                        <a:pt x="124" y="39"/>
                      </a:lnTo>
                      <a:cubicBezTo>
                        <a:pt x="117" y="38"/>
                        <a:pt x="110" y="36"/>
                        <a:pt x="102" y="35"/>
                      </a:cubicBezTo>
                      <a:cubicBezTo>
                        <a:pt x="96" y="34"/>
                        <a:pt x="91" y="28"/>
                        <a:pt x="93" y="22"/>
                      </a:cubicBezTo>
                      <a:cubicBezTo>
                        <a:pt x="94" y="15"/>
                        <a:pt x="100" y="11"/>
                        <a:pt x="106" y="12"/>
                      </a:cubicBezTo>
                      <a:cubicBezTo>
                        <a:pt x="114" y="13"/>
                        <a:pt x="121" y="15"/>
                        <a:pt x="129" y="16"/>
                      </a:cubicBezTo>
                      <a:cubicBezTo>
                        <a:pt x="135" y="18"/>
                        <a:pt x="139" y="24"/>
                        <a:pt x="138" y="30"/>
                      </a:cubicBezTo>
                      <a:cubicBezTo>
                        <a:pt x="137" y="36"/>
                        <a:pt x="132" y="39"/>
                        <a:pt x="127" y="39"/>
                      </a:cubicBezTo>
                      <a:close/>
                      <a:moveTo>
                        <a:pt x="216" y="62"/>
                      </a:moveTo>
                      <a:lnTo>
                        <a:pt x="213" y="61"/>
                      </a:lnTo>
                      <a:cubicBezTo>
                        <a:pt x="206" y="59"/>
                        <a:pt x="198" y="57"/>
                        <a:pt x="191" y="55"/>
                      </a:cubicBezTo>
                      <a:cubicBezTo>
                        <a:pt x="185" y="53"/>
                        <a:pt x="181" y="47"/>
                        <a:pt x="183" y="41"/>
                      </a:cubicBezTo>
                      <a:cubicBezTo>
                        <a:pt x="185" y="34"/>
                        <a:pt x="191" y="31"/>
                        <a:pt x="197" y="32"/>
                      </a:cubicBezTo>
                      <a:cubicBezTo>
                        <a:pt x="205" y="34"/>
                        <a:pt x="212" y="37"/>
                        <a:pt x="220" y="39"/>
                      </a:cubicBezTo>
                      <a:cubicBezTo>
                        <a:pt x="226" y="41"/>
                        <a:pt x="229" y="47"/>
                        <a:pt x="228" y="53"/>
                      </a:cubicBezTo>
                      <a:cubicBezTo>
                        <a:pt x="226" y="58"/>
                        <a:pt x="221" y="62"/>
                        <a:pt x="216" y="62"/>
                      </a:cubicBezTo>
                      <a:close/>
                      <a:moveTo>
                        <a:pt x="303" y="92"/>
                      </a:moveTo>
                      <a:lnTo>
                        <a:pt x="299" y="91"/>
                      </a:lnTo>
                      <a:cubicBezTo>
                        <a:pt x="292" y="88"/>
                        <a:pt x="285" y="86"/>
                        <a:pt x="278" y="83"/>
                      </a:cubicBezTo>
                      <a:cubicBezTo>
                        <a:pt x="272" y="81"/>
                        <a:pt x="269" y="74"/>
                        <a:pt x="271" y="68"/>
                      </a:cubicBezTo>
                      <a:cubicBezTo>
                        <a:pt x="273" y="62"/>
                        <a:pt x="280" y="59"/>
                        <a:pt x="286" y="61"/>
                      </a:cubicBezTo>
                      <a:cubicBezTo>
                        <a:pt x="293" y="64"/>
                        <a:pt x="300" y="67"/>
                        <a:pt x="308" y="69"/>
                      </a:cubicBezTo>
                      <a:cubicBezTo>
                        <a:pt x="314" y="72"/>
                        <a:pt x="317" y="79"/>
                        <a:pt x="314" y="85"/>
                      </a:cubicBezTo>
                      <a:cubicBezTo>
                        <a:pt x="312" y="89"/>
                        <a:pt x="308" y="92"/>
                        <a:pt x="303" y="92"/>
                      </a:cubicBezTo>
                      <a:close/>
                      <a:moveTo>
                        <a:pt x="387" y="130"/>
                      </a:moveTo>
                      <a:cubicBezTo>
                        <a:pt x="385" y="130"/>
                        <a:pt x="383" y="130"/>
                        <a:pt x="382" y="129"/>
                      </a:cubicBezTo>
                      <a:cubicBezTo>
                        <a:pt x="375" y="125"/>
                        <a:pt x="368" y="122"/>
                        <a:pt x="361" y="119"/>
                      </a:cubicBezTo>
                      <a:cubicBezTo>
                        <a:pt x="356" y="116"/>
                        <a:pt x="353" y="109"/>
                        <a:pt x="356" y="103"/>
                      </a:cubicBezTo>
                      <a:cubicBezTo>
                        <a:pt x="359" y="97"/>
                        <a:pt x="366" y="95"/>
                        <a:pt x="372" y="98"/>
                      </a:cubicBezTo>
                      <a:cubicBezTo>
                        <a:pt x="379" y="101"/>
                        <a:pt x="386" y="105"/>
                        <a:pt x="392" y="108"/>
                      </a:cubicBezTo>
                      <a:cubicBezTo>
                        <a:pt x="398" y="111"/>
                        <a:pt x="400" y="118"/>
                        <a:pt x="397" y="124"/>
                      </a:cubicBezTo>
                      <a:cubicBezTo>
                        <a:pt x="395" y="128"/>
                        <a:pt x="391" y="130"/>
                        <a:pt x="387" y="130"/>
                      </a:cubicBezTo>
                      <a:close/>
                      <a:moveTo>
                        <a:pt x="467" y="176"/>
                      </a:moveTo>
                      <a:cubicBezTo>
                        <a:pt x="465" y="176"/>
                        <a:pt x="463" y="176"/>
                        <a:pt x="461" y="174"/>
                      </a:cubicBezTo>
                      <a:cubicBezTo>
                        <a:pt x="454" y="170"/>
                        <a:pt x="448" y="166"/>
                        <a:pt x="441" y="162"/>
                      </a:cubicBezTo>
                      <a:cubicBezTo>
                        <a:pt x="436" y="159"/>
                        <a:pt x="434" y="152"/>
                        <a:pt x="437" y="146"/>
                      </a:cubicBezTo>
                      <a:cubicBezTo>
                        <a:pt x="441" y="141"/>
                        <a:pt x="448" y="139"/>
                        <a:pt x="453" y="142"/>
                      </a:cubicBezTo>
                      <a:cubicBezTo>
                        <a:pt x="460" y="146"/>
                        <a:pt x="467" y="150"/>
                        <a:pt x="473" y="155"/>
                      </a:cubicBezTo>
                      <a:cubicBezTo>
                        <a:pt x="479" y="158"/>
                        <a:pt x="480" y="165"/>
                        <a:pt x="477" y="171"/>
                      </a:cubicBezTo>
                      <a:cubicBezTo>
                        <a:pt x="475" y="174"/>
                        <a:pt x="471" y="176"/>
                        <a:pt x="467" y="176"/>
                      </a:cubicBezTo>
                      <a:close/>
                      <a:moveTo>
                        <a:pt x="542" y="229"/>
                      </a:moveTo>
                      <a:cubicBezTo>
                        <a:pt x="540" y="229"/>
                        <a:pt x="537" y="228"/>
                        <a:pt x="535" y="227"/>
                      </a:cubicBezTo>
                      <a:cubicBezTo>
                        <a:pt x="529" y="222"/>
                        <a:pt x="523" y="217"/>
                        <a:pt x="517" y="213"/>
                      </a:cubicBezTo>
                      <a:cubicBezTo>
                        <a:pt x="512" y="209"/>
                        <a:pt x="511" y="202"/>
                        <a:pt x="515" y="197"/>
                      </a:cubicBezTo>
                      <a:cubicBezTo>
                        <a:pt x="519" y="191"/>
                        <a:pt x="526" y="190"/>
                        <a:pt x="531" y="194"/>
                      </a:cubicBezTo>
                      <a:cubicBezTo>
                        <a:pt x="537" y="199"/>
                        <a:pt x="543" y="204"/>
                        <a:pt x="550" y="208"/>
                      </a:cubicBezTo>
                      <a:cubicBezTo>
                        <a:pt x="555" y="212"/>
                        <a:pt x="556" y="220"/>
                        <a:pt x="552" y="225"/>
                      </a:cubicBezTo>
                      <a:cubicBezTo>
                        <a:pt x="549" y="228"/>
                        <a:pt x="546" y="229"/>
                        <a:pt x="542" y="229"/>
                      </a:cubicBezTo>
                      <a:close/>
                      <a:moveTo>
                        <a:pt x="613" y="289"/>
                      </a:moveTo>
                      <a:cubicBezTo>
                        <a:pt x="610" y="289"/>
                        <a:pt x="607" y="288"/>
                        <a:pt x="605" y="286"/>
                      </a:cubicBezTo>
                      <a:cubicBezTo>
                        <a:pt x="599" y="281"/>
                        <a:pt x="594" y="275"/>
                        <a:pt x="588" y="270"/>
                      </a:cubicBezTo>
                      <a:cubicBezTo>
                        <a:pt x="583" y="266"/>
                        <a:pt x="583" y="259"/>
                        <a:pt x="587" y="254"/>
                      </a:cubicBezTo>
                      <a:cubicBezTo>
                        <a:pt x="591" y="249"/>
                        <a:pt x="599" y="249"/>
                        <a:pt x="603" y="253"/>
                      </a:cubicBezTo>
                      <a:cubicBezTo>
                        <a:pt x="609" y="258"/>
                        <a:pt x="615" y="263"/>
                        <a:pt x="621" y="269"/>
                      </a:cubicBezTo>
                      <a:cubicBezTo>
                        <a:pt x="625" y="273"/>
                        <a:pt x="626" y="281"/>
                        <a:pt x="621" y="285"/>
                      </a:cubicBezTo>
                      <a:cubicBezTo>
                        <a:pt x="619" y="288"/>
                        <a:pt x="616" y="289"/>
                        <a:pt x="613" y="289"/>
                      </a:cubicBezTo>
                      <a:close/>
                      <a:moveTo>
                        <a:pt x="677" y="355"/>
                      </a:moveTo>
                      <a:cubicBezTo>
                        <a:pt x="674" y="355"/>
                        <a:pt x="671" y="354"/>
                        <a:pt x="668" y="351"/>
                      </a:cubicBezTo>
                      <a:cubicBezTo>
                        <a:pt x="663" y="345"/>
                        <a:pt x="658" y="340"/>
                        <a:pt x="653" y="334"/>
                      </a:cubicBezTo>
                      <a:cubicBezTo>
                        <a:pt x="649" y="329"/>
                        <a:pt x="649" y="322"/>
                        <a:pt x="654" y="318"/>
                      </a:cubicBezTo>
                      <a:cubicBezTo>
                        <a:pt x="658" y="313"/>
                        <a:pt x="666" y="313"/>
                        <a:pt x="670" y="318"/>
                      </a:cubicBezTo>
                      <a:cubicBezTo>
                        <a:pt x="675" y="324"/>
                        <a:pt x="681" y="330"/>
                        <a:pt x="686" y="335"/>
                      </a:cubicBezTo>
                      <a:cubicBezTo>
                        <a:pt x="690" y="340"/>
                        <a:pt x="690" y="348"/>
                        <a:pt x="685" y="352"/>
                      </a:cubicBezTo>
                      <a:cubicBezTo>
                        <a:pt x="683" y="354"/>
                        <a:pt x="680" y="355"/>
                        <a:pt x="677" y="355"/>
                      </a:cubicBezTo>
                      <a:close/>
                      <a:moveTo>
                        <a:pt x="735" y="427"/>
                      </a:moveTo>
                      <a:cubicBezTo>
                        <a:pt x="732" y="427"/>
                        <a:pt x="728" y="425"/>
                        <a:pt x="726" y="422"/>
                      </a:cubicBezTo>
                      <a:cubicBezTo>
                        <a:pt x="721" y="416"/>
                        <a:pt x="717" y="410"/>
                        <a:pt x="712" y="404"/>
                      </a:cubicBezTo>
                      <a:cubicBezTo>
                        <a:pt x="708" y="398"/>
                        <a:pt x="709" y="391"/>
                        <a:pt x="714" y="387"/>
                      </a:cubicBezTo>
                      <a:cubicBezTo>
                        <a:pt x="719" y="383"/>
                        <a:pt x="727" y="384"/>
                        <a:pt x="731" y="389"/>
                      </a:cubicBezTo>
                      <a:cubicBezTo>
                        <a:pt x="735" y="395"/>
                        <a:pt x="740" y="402"/>
                        <a:pt x="745" y="408"/>
                      </a:cubicBezTo>
                      <a:cubicBezTo>
                        <a:pt x="748" y="413"/>
                        <a:pt x="747" y="420"/>
                        <a:pt x="742" y="424"/>
                      </a:cubicBezTo>
                      <a:cubicBezTo>
                        <a:pt x="740" y="426"/>
                        <a:pt x="738" y="427"/>
                        <a:pt x="735" y="427"/>
                      </a:cubicBezTo>
                      <a:close/>
                      <a:moveTo>
                        <a:pt x="787" y="503"/>
                      </a:moveTo>
                      <a:cubicBezTo>
                        <a:pt x="783" y="503"/>
                        <a:pt x="779" y="501"/>
                        <a:pt x="777" y="498"/>
                      </a:cubicBezTo>
                      <a:cubicBezTo>
                        <a:pt x="773" y="491"/>
                        <a:pt x="769" y="485"/>
                        <a:pt x="765" y="478"/>
                      </a:cubicBezTo>
                      <a:cubicBezTo>
                        <a:pt x="761" y="473"/>
                        <a:pt x="763" y="466"/>
                        <a:pt x="768" y="462"/>
                      </a:cubicBezTo>
                      <a:cubicBezTo>
                        <a:pt x="774" y="459"/>
                        <a:pt x="781" y="460"/>
                        <a:pt x="784" y="466"/>
                      </a:cubicBezTo>
                      <a:cubicBezTo>
                        <a:pt x="788" y="472"/>
                        <a:pt x="793" y="479"/>
                        <a:pt x="797" y="485"/>
                      </a:cubicBezTo>
                      <a:cubicBezTo>
                        <a:pt x="800" y="491"/>
                        <a:pt x="798" y="498"/>
                        <a:pt x="793" y="502"/>
                      </a:cubicBezTo>
                      <a:cubicBezTo>
                        <a:pt x="791" y="503"/>
                        <a:pt x="789" y="503"/>
                        <a:pt x="787" y="503"/>
                      </a:cubicBezTo>
                      <a:close/>
                      <a:moveTo>
                        <a:pt x="831" y="584"/>
                      </a:moveTo>
                      <a:cubicBezTo>
                        <a:pt x="826" y="584"/>
                        <a:pt x="822" y="582"/>
                        <a:pt x="820" y="578"/>
                      </a:cubicBezTo>
                      <a:cubicBezTo>
                        <a:pt x="817" y="571"/>
                        <a:pt x="813" y="564"/>
                        <a:pt x="810" y="557"/>
                      </a:cubicBezTo>
                      <a:cubicBezTo>
                        <a:pt x="807" y="552"/>
                        <a:pt x="809" y="545"/>
                        <a:pt x="815" y="542"/>
                      </a:cubicBezTo>
                      <a:cubicBezTo>
                        <a:pt x="821" y="539"/>
                        <a:pt x="828" y="541"/>
                        <a:pt x="831" y="547"/>
                      </a:cubicBezTo>
                      <a:cubicBezTo>
                        <a:pt x="834" y="554"/>
                        <a:pt x="838" y="561"/>
                        <a:pt x="841" y="568"/>
                      </a:cubicBezTo>
                      <a:cubicBezTo>
                        <a:pt x="844" y="573"/>
                        <a:pt x="842" y="580"/>
                        <a:pt x="836" y="583"/>
                      </a:cubicBezTo>
                      <a:cubicBezTo>
                        <a:pt x="834" y="584"/>
                        <a:pt x="832" y="584"/>
                        <a:pt x="831" y="584"/>
                      </a:cubicBezTo>
                      <a:close/>
                      <a:moveTo>
                        <a:pt x="867" y="669"/>
                      </a:moveTo>
                      <a:cubicBezTo>
                        <a:pt x="862" y="669"/>
                        <a:pt x="858" y="666"/>
                        <a:pt x="856" y="662"/>
                      </a:cubicBezTo>
                      <a:cubicBezTo>
                        <a:pt x="853" y="655"/>
                        <a:pt x="851" y="647"/>
                        <a:pt x="848" y="640"/>
                      </a:cubicBezTo>
                      <a:cubicBezTo>
                        <a:pt x="845" y="634"/>
                        <a:pt x="848" y="628"/>
                        <a:pt x="854" y="625"/>
                      </a:cubicBezTo>
                      <a:cubicBezTo>
                        <a:pt x="860" y="623"/>
                        <a:pt x="867" y="626"/>
                        <a:pt x="869" y="632"/>
                      </a:cubicBezTo>
                      <a:cubicBezTo>
                        <a:pt x="872" y="639"/>
                        <a:pt x="875" y="646"/>
                        <a:pt x="878" y="653"/>
                      </a:cubicBezTo>
                      <a:cubicBezTo>
                        <a:pt x="880" y="659"/>
                        <a:pt x="877" y="666"/>
                        <a:pt x="871" y="668"/>
                      </a:cubicBezTo>
                      <a:lnTo>
                        <a:pt x="867" y="669"/>
                      </a:lnTo>
                      <a:close/>
                      <a:moveTo>
                        <a:pt x="895" y="757"/>
                      </a:moveTo>
                      <a:cubicBezTo>
                        <a:pt x="890" y="757"/>
                        <a:pt x="885" y="754"/>
                        <a:pt x="884" y="748"/>
                      </a:cubicBezTo>
                      <a:cubicBezTo>
                        <a:pt x="882" y="741"/>
                        <a:pt x="880" y="734"/>
                        <a:pt x="878" y="727"/>
                      </a:cubicBezTo>
                      <a:cubicBezTo>
                        <a:pt x="876" y="720"/>
                        <a:pt x="880" y="714"/>
                        <a:pt x="886" y="712"/>
                      </a:cubicBezTo>
                      <a:cubicBezTo>
                        <a:pt x="892" y="710"/>
                        <a:pt x="898" y="714"/>
                        <a:pt x="900" y="720"/>
                      </a:cubicBezTo>
                      <a:cubicBezTo>
                        <a:pt x="902" y="727"/>
                        <a:pt x="905" y="735"/>
                        <a:pt x="907" y="742"/>
                      </a:cubicBezTo>
                      <a:cubicBezTo>
                        <a:pt x="908" y="749"/>
                        <a:pt x="905" y="755"/>
                        <a:pt x="898" y="757"/>
                      </a:cubicBezTo>
                      <a:lnTo>
                        <a:pt x="895" y="757"/>
                      </a:lnTo>
                      <a:close/>
                      <a:moveTo>
                        <a:pt x="915" y="847"/>
                      </a:moveTo>
                      <a:cubicBezTo>
                        <a:pt x="910" y="847"/>
                        <a:pt x="905" y="843"/>
                        <a:pt x="904" y="837"/>
                      </a:cubicBezTo>
                      <a:cubicBezTo>
                        <a:pt x="903" y="830"/>
                        <a:pt x="901" y="822"/>
                        <a:pt x="900" y="815"/>
                      </a:cubicBezTo>
                      <a:cubicBezTo>
                        <a:pt x="898" y="809"/>
                        <a:pt x="903" y="803"/>
                        <a:pt x="909" y="801"/>
                      </a:cubicBezTo>
                      <a:cubicBezTo>
                        <a:pt x="915" y="800"/>
                        <a:pt x="921" y="804"/>
                        <a:pt x="923" y="811"/>
                      </a:cubicBezTo>
                      <a:cubicBezTo>
                        <a:pt x="924" y="818"/>
                        <a:pt x="926" y="826"/>
                        <a:pt x="927" y="833"/>
                      </a:cubicBezTo>
                      <a:cubicBezTo>
                        <a:pt x="928" y="840"/>
                        <a:pt x="924" y="846"/>
                        <a:pt x="917" y="847"/>
                      </a:cubicBezTo>
                      <a:lnTo>
                        <a:pt x="915" y="847"/>
                      </a:lnTo>
                      <a:close/>
                      <a:moveTo>
                        <a:pt x="927" y="939"/>
                      </a:moveTo>
                      <a:cubicBezTo>
                        <a:pt x="921" y="939"/>
                        <a:pt x="916" y="934"/>
                        <a:pt x="915" y="928"/>
                      </a:cubicBezTo>
                      <a:cubicBezTo>
                        <a:pt x="915" y="920"/>
                        <a:pt x="914" y="913"/>
                        <a:pt x="913" y="905"/>
                      </a:cubicBezTo>
                      <a:cubicBezTo>
                        <a:pt x="913" y="899"/>
                        <a:pt x="917" y="893"/>
                        <a:pt x="924" y="892"/>
                      </a:cubicBezTo>
                      <a:cubicBezTo>
                        <a:pt x="930" y="892"/>
                        <a:pt x="936" y="896"/>
                        <a:pt x="936" y="903"/>
                      </a:cubicBezTo>
                      <a:cubicBezTo>
                        <a:pt x="937" y="911"/>
                        <a:pt x="938" y="918"/>
                        <a:pt x="939" y="926"/>
                      </a:cubicBezTo>
                      <a:cubicBezTo>
                        <a:pt x="939" y="932"/>
                        <a:pt x="934" y="938"/>
                        <a:pt x="928" y="939"/>
                      </a:cubicBezTo>
                      <a:lnTo>
                        <a:pt x="927" y="939"/>
                      </a:ln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8"/>
                <p:cNvSpPr/>
                <p:nvPr/>
              </p:nvSpPr>
              <p:spPr>
                <a:xfrm>
                  <a:off x="2928862" y="3447032"/>
                  <a:ext cx="7020" cy="3511"/>
                </a:xfrm>
                <a:custGeom>
                  <a:rect b="b" l="l" r="r" t="t"/>
                  <a:pathLst>
                    <a:path extrusionOk="0" h="23" w="35">
                      <a:moveTo>
                        <a:pt x="24" y="23"/>
                      </a:moveTo>
                      <a:lnTo>
                        <a:pt x="23" y="23"/>
                      </a:lnTo>
                      <a:lnTo>
                        <a:pt x="12" y="23"/>
                      </a:lnTo>
                      <a:cubicBezTo>
                        <a:pt x="5" y="23"/>
                        <a:pt x="0" y="18"/>
                        <a:pt x="0" y="12"/>
                      </a:cubicBezTo>
                      <a:cubicBezTo>
                        <a:pt x="0" y="5"/>
                        <a:pt x="5" y="0"/>
                        <a:pt x="12" y="0"/>
                      </a:cubicBezTo>
                      <a:lnTo>
                        <a:pt x="24" y="0"/>
                      </a:lnTo>
                      <a:cubicBezTo>
                        <a:pt x="30" y="0"/>
                        <a:pt x="35" y="5"/>
                        <a:pt x="35" y="12"/>
                      </a:cubicBezTo>
                      <a:cubicBezTo>
                        <a:pt x="35" y="18"/>
                        <a:pt x="30" y="23"/>
                        <a:pt x="24" y="23"/>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8"/>
                <p:cNvSpPr/>
                <p:nvPr/>
              </p:nvSpPr>
              <p:spPr>
                <a:xfrm>
                  <a:off x="2504144" y="3896319"/>
                  <a:ext cx="7020" cy="7020"/>
                </a:xfrm>
                <a:custGeom>
                  <a:rect b="b" l="l" r="r" t="t"/>
                  <a:pathLst>
                    <a:path extrusionOk="0" h="35" w="24">
                      <a:moveTo>
                        <a:pt x="12" y="35"/>
                      </a:moveTo>
                      <a:cubicBezTo>
                        <a:pt x="6" y="35"/>
                        <a:pt x="0" y="29"/>
                        <a:pt x="0" y="23"/>
                      </a:cubicBezTo>
                      <a:lnTo>
                        <a:pt x="0" y="11"/>
                      </a:lnTo>
                      <a:cubicBezTo>
                        <a:pt x="0" y="5"/>
                        <a:pt x="6" y="0"/>
                        <a:pt x="12" y="0"/>
                      </a:cubicBezTo>
                      <a:cubicBezTo>
                        <a:pt x="18" y="0"/>
                        <a:pt x="24" y="5"/>
                        <a:pt x="24" y="11"/>
                      </a:cubicBezTo>
                      <a:lnTo>
                        <a:pt x="24" y="23"/>
                      </a:lnTo>
                      <a:cubicBezTo>
                        <a:pt x="24" y="29"/>
                        <a:pt x="19" y="35"/>
                        <a:pt x="12" y="35"/>
                      </a:cubicBezTo>
                      <a:lnTo>
                        <a:pt x="12" y="35"/>
                      </a:ln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8"/>
                <p:cNvSpPr/>
                <p:nvPr/>
              </p:nvSpPr>
              <p:spPr>
                <a:xfrm>
                  <a:off x="2507655" y="3910359"/>
                  <a:ext cx="196563" cy="200074"/>
                </a:xfrm>
                <a:custGeom>
                  <a:rect b="b" l="l" r="r" t="t"/>
                  <a:pathLst>
                    <a:path extrusionOk="0" h="939" w="939">
                      <a:moveTo>
                        <a:pt x="14" y="47"/>
                      </a:moveTo>
                      <a:cubicBezTo>
                        <a:pt x="8" y="47"/>
                        <a:pt x="3" y="42"/>
                        <a:pt x="3" y="36"/>
                      </a:cubicBezTo>
                      <a:cubicBezTo>
                        <a:pt x="2" y="29"/>
                        <a:pt x="1" y="21"/>
                        <a:pt x="1" y="13"/>
                      </a:cubicBezTo>
                      <a:cubicBezTo>
                        <a:pt x="0" y="7"/>
                        <a:pt x="5" y="1"/>
                        <a:pt x="11" y="0"/>
                      </a:cubicBezTo>
                      <a:cubicBezTo>
                        <a:pt x="18" y="0"/>
                        <a:pt x="23" y="5"/>
                        <a:pt x="24" y="11"/>
                      </a:cubicBezTo>
                      <a:cubicBezTo>
                        <a:pt x="24" y="19"/>
                        <a:pt x="25" y="26"/>
                        <a:pt x="26" y="34"/>
                      </a:cubicBezTo>
                      <a:cubicBezTo>
                        <a:pt x="27" y="40"/>
                        <a:pt x="22" y="46"/>
                        <a:pt x="15" y="47"/>
                      </a:cubicBezTo>
                      <a:lnTo>
                        <a:pt x="14" y="47"/>
                      </a:lnTo>
                      <a:close/>
                      <a:moveTo>
                        <a:pt x="28" y="138"/>
                      </a:moveTo>
                      <a:cubicBezTo>
                        <a:pt x="22" y="138"/>
                        <a:pt x="18" y="134"/>
                        <a:pt x="17" y="129"/>
                      </a:cubicBezTo>
                      <a:cubicBezTo>
                        <a:pt x="15" y="121"/>
                        <a:pt x="14" y="113"/>
                        <a:pt x="12" y="106"/>
                      </a:cubicBezTo>
                      <a:cubicBezTo>
                        <a:pt x="11" y="99"/>
                        <a:pt x="15" y="93"/>
                        <a:pt x="22" y="92"/>
                      </a:cubicBezTo>
                      <a:cubicBezTo>
                        <a:pt x="28" y="91"/>
                        <a:pt x="34" y="95"/>
                        <a:pt x="35" y="102"/>
                      </a:cubicBezTo>
                      <a:cubicBezTo>
                        <a:pt x="37" y="109"/>
                        <a:pt x="38" y="117"/>
                        <a:pt x="39" y="124"/>
                      </a:cubicBezTo>
                      <a:cubicBezTo>
                        <a:pt x="41" y="130"/>
                        <a:pt x="37" y="136"/>
                        <a:pt x="30" y="138"/>
                      </a:cubicBezTo>
                      <a:lnTo>
                        <a:pt x="28" y="138"/>
                      </a:lnTo>
                      <a:close/>
                      <a:moveTo>
                        <a:pt x="50" y="227"/>
                      </a:moveTo>
                      <a:cubicBezTo>
                        <a:pt x="45" y="227"/>
                        <a:pt x="40" y="224"/>
                        <a:pt x="39" y="219"/>
                      </a:cubicBezTo>
                      <a:cubicBezTo>
                        <a:pt x="37" y="212"/>
                        <a:pt x="34" y="204"/>
                        <a:pt x="32" y="197"/>
                      </a:cubicBezTo>
                      <a:cubicBezTo>
                        <a:pt x="31" y="190"/>
                        <a:pt x="34" y="184"/>
                        <a:pt x="41" y="182"/>
                      </a:cubicBezTo>
                      <a:cubicBezTo>
                        <a:pt x="47" y="181"/>
                        <a:pt x="53" y="184"/>
                        <a:pt x="55" y="191"/>
                      </a:cubicBezTo>
                      <a:cubicBezTo>
                        <a:pt x="57" y="198"/>
                        <a:pt x="59" y="205"/>
                        <a:pt x="61" y="212"/>
                      </a:cubicBezTo>
                      <a:cubicBezTo>
                        <a:pt x="63" y="219"/>
                        <a:pt x="60" y="225"/>
                        <a:pt x="53" y="227"/>
                      </a:cubicBezTo>
                      <a:lnTo>
                        <a:pt x="50" y="227"/>
                      </a:lnTo>
                      <a:close/>
                      <a:moveTo>
                        <a:pt x="80" y="315"/>
                      </a:moveTo>
                      <a:cubicBezTo>
                        <a:pt x="76" y="315"/>
                        <a:pt x="71" y="312"/>
                        <a:pt x="70" y="307"/>
                      </a:cubicBezTo>
                      <a:cubicBezTo>
                        <a:pt x="67" y="300"/>
                        <a:pt x="64" y="293"/>
                        <a:pt x="61" y="286"/>
                      </a:cubicBezTo>
                      <a:cubicBezTo>
                        <a:pt x="59" y="280"/>
                        <a:pt x="62" y="273"/>
                        <a:pt x="68" y="271"/>
                      </a:cubicBezTo>
                      <a:cubicBezTo>
                        <a:pt x="74" y="268"/>
                        <a:pt x="81" y="271"/>
                        <a:pt x="83" y="277"/>
                      </a:cubicBezTo>
                      <a:cubicBezTo>
                        <a:pt x="86" y="285"/>
                        <a:pt x="88" y="292"/>
                        <a:pt x="91" y="299"/>
                      </a:cubicBezTo>
                      <a:cubicBezTo>
                        <a:pt x="94" y="305"/>
                        <a:pt x="91" y="311"/>
                        <a:pt x="85" y="314"/>
                      </a:cubicBezTo>
                      <a:lnTo>
                        <a:pt x="80" y="315"/>
                      </a:lnTo>
                      <a:close/>
                      <a:moveTo>
                        <a:pt x="119" y="399"/>
                      </a:moveTo>
                      <a:cubicBezTo>
                        <a:pt x="114" y="399"/>
                        <a:pt x="110" y="396"/>
                        <a:pt x="108" y="392"/>
                      </a:cubicBezTo>
                      <a:cubicBezTo>
                        <a:pt x="105" y="385"/>
                        <a:pt x="101" y="378"/>
                        <a:pt x="98" y="371"/>
                      </a:cubicBezTo>
                      <a:cubicBezTo>
                        <a:pt x="95" y="366"/>
                        <a:pt x="98" y="359"/>
                        <a:pt x="103" y="356"/>
                      </a:cubicBezTo>
                      <a:cubicBezTo>
                        <a:pt x="109" y="353"/>
                        <a:pt x="116" y="355"/>
                        <a:pt x="119" y="361"/>
                      </a:cubicBezTo>
                      <a:cubicBezTo>
                        <a:pt x="122" y="368"/>
                        <a:pt x="126" y="375"/>
                        <a:pt x="129" y="382"/>
                      </a:cubicBezTo>
                      <a:cubicBezTo>
                        <a:pt x="132" y="387"/>
                        <a:pt x="130" y="394"/>
                        <a:pt x="124" y="397"/>
                      </a:cubicBezTo>
                      <a:cubicBezTo>
                        <a:pt x="122" y="398"/>
                        <a:pt x="121" y="399"/>
                        <a:pt x="119" y="399"/>
                      </a:cubicBezTo>
                      <a:close/>
                      <a:moveTo>
                        <a:pt x="165" y="479"/>
                      </a:moveTo>
                      <a:cubicBezTo>
                        <a:pt x="161" y="479"/>
                        <a:pt x="157" y="477"/>
                        <a:pt x="155" y="473"/>
                      </a:cubicBezTo>
                      <a:cubicBezTo>
                        <a:pt x="151" y="467"/>
                        <a:pt x="147" y="460"/>
                        <a:pt x="142" y="454"/>
                      </a:cubicBezTo>
                      <a:cubicBezTo>
                        <a:pt x="139" y="448"/>
                        <a:pt x="141" y="441"/>
                        <a:pt x="146" y="438"/>
                      </a:cubicBezTo>
                      <a:cubicBezTo>
                        <a:pt x="152" y="434"/>
                        <a:pt x="159" y="436"/>
                        <a:pt x="162" y="441"/>
                      </a:cubicBezTo>
                      <a:cubicBezTo>
                        <a:pt x="166" y="448"/>
                        <a:pt x="170" y="454"/>
                        <a:pt x="175" y="461"/>
                      </a:cubicBezTo>
                      <a:cubicBezTo>
                        <a:pt x="178" y="466"/>
                        <a:pt x="176" y="474"/>
                        <a:pt x="171" y="477"/>
                      </a:cubicBezTo>
                      <a:cubicBezTo>
                        <a:pt x="169" y="478"/>
                        <a:pt x="167" y="479"/>
                        <a:pt x="165" y="479"/>
                      </a:cubicBezTo>
                      <a:close/>
                      <a:moveTo>
                        <a:pt x="218" y="554"/>
                      </a:moveTo>
                      <a:cubicBezTo>
                        <a:pt x="214" y="554"/>
                        <a:pt x="211" y="553"/>
                        <a:pt x="208" y="550"/>
                      </a:cubicBezTo>
                      <a:cubicBezTo>
                        <a:pt x="204" y="544"/>
                        <a:pt x="199" y="537"/>
                        <a:pt x="194" y="531"/>
                      </a:cubicBezTo>
                      <a:cubicBezTo>
                        <a:pt x="191" y="526"/>
                        <a:pt x="192" y="519"/>
                        <a:pt x="197" y="515"/>
                      </a:cubicBezTo>
                      <a:cubicBezTo>
                        <a:pt x="202" y="511"/>
                        <a:pt x="209" y="512"/>
                        <a:pt x="213" y="517"/>
                      </a:cubicBezTo>
                      <a:cubicBezTo>
                        <a:pt x="218" y="523"/>
                        <a:pt x="222" y="529"/>
                        <a:pt x="227" y="535"/>
                      </a:cubicBezTo>
                      <a:cubicBezTo>
                        <a:pt x="231" y="541"/>
                        <a:pt x="230" y="548"/>
                        <a:pt x="225" y="552"/>
                      </a:cubicBezTo>
                      <a:cubicBezTo>
                        <a:pt x="223" y="553"/>
                        <a:pt x="220" y="554"/>
                        <a:pt x="218" y="554"/>
                      </a:cubicBezTo>
                      <a:close/>
                      <a:moveTo>
                        <a:pt x="278" y="625"/>
                      </a:moveTo>
                      <a:cubicBezTo>
                        <a:pt x="274" y="625"/>
                        <a:pt x="271" y="623"/>
                        <a:pt x="269" y="621"/>
                      </a:cubicBezTo>
                      <a:cubicBezTo>
                        <a:pt x="264" y="615"/>
                        <a:pt x="258" y="609"/>
                        <a:pt x="253" y="604"/>
                      </a:cubicBezTo>
                      <a:cubicBezTo>
                        <a:pt x="249" y="599"/>
                        <a:pt x="249" y="591"/>
                        <a:pt x="254" y="587"/>
                      </a:cubicBezTo>
                      <a:cubicBezTo>
                        <a:pt x="259" y="583"/>
                        <a:pt x="266" y="583"/>
                        <a:pt x="271" y="588"/>
                      </a:cubicBezTo>
                      <a:cubicBezTo>
                        <a:pt x="276" y="594"/>
                        <a:pt x="281" y="599"/>
                        <a:pt x="286" y="605"/>
                      </a:cubicBezTo>
                      <a:cubicBezTo>
                        <a:pt x="290" y="610"/>
                        <a:pt x="290" y="617"/>
                        <a:pt x="286" y="621"/>
                      </a:cubicBezTo>
                      <a:cubicBezTo>
                        <a:pt x="283" y="623"/>
                        <a:pt x="280" y="625"/>
                        <a:pt x="278" y="625"/>
                      </a:cubicBezTo>
                      <a:close/>
                      <a:moveTo>
                        <a:pt x="343" y="689"/>
                      </a:moveTo>
                      <a:cubicBezTo>
                        <a:pt x="341" y="689"/>
                        <a:pt x="338" y="688"/>
                        <a:pt x="336" y="686"/>
                      </a:cubicBezTo>
                      <a:cubicBezTo>
                        <a:pt x="330" y="681"/>
                        <a:pt x="324" y="676"/>
                        <a:pt x="318" y="670"/>
                      </a:cubicBezTo>
                      <a:cubicBezTo>
                        <a:pt x="314" y="666"/>
                        <a:pt x="314" y="659"/>
                        <a:pt x="318" y="654"/>
                      </a:cubicBezTo>
                      <a:cubicBezTo>
                        <a:pt x="322" y="649"/>
                        <a:pt x="330" y="649"/>
                        <a:pt x="334" y="653"/>
                      </a:cubicBezTo>
                      <a:cubicBezTo>
                        <a:pt x="340" y="658"/>
                        <a:pt x="346" y="664"/>
                        <a:pt x="351" y="669"/>
                      </a:cubicBezTo>
                      <a:cubicBezTo>
                        <a:pt x="356" y="673"/>
                        <a:pt x="357" y="680"/>
                        <a:pt x="352" y="685"/>
                      </a:cubicBezTo>
                      <a:cubicBezTo>
                        <a:pt x="350" y="688"/>
                        <a:pt x="347" y="689"/>
                        <a:pt x="343" y="689"/>
                      </a:cubicBezTo>
                      <a:close/>
                      <a:moveTo>
                        <a:pt x="415" y="747"/>
                      </a:moveTo>
                      <a:cubicBezTo>
                        <a:pt x="413" y="747"/>
                        <a:pt x="410" y="746"/>
                        <a:pt x="408" y="745"/>
                      </a:cubicBezTo>
                      <a:cubicBezTo>
                        <a:pt x="402" y="740"/>
                        <a:pt x="396" y="736"/>
                        <a:pt x="390" y="731"/>
                      </a:cubicBezTo>
                      <a:cubicBezTo>
                        <a:pt x="384" y="727"/>
                        <a:pt x="383" y="720"/>
                        <a:pt x="387" y="714"/>
                      </a:cubicBezTo>
                      <a:cubicBezTo>
                        <a:pt x="391" y="709"/>
                        <a:pt x="399" y="708"/>
                        <a:pt x="404" y="712"/>
                      </a:cubicBezTo>
                      <a:cubicBezTo>
                        <a:pt x="410" y="717"/>
                        <a:pt x="416" y="722"/>
                        <a:pt x="422" y="726"/>
                      </a:cubicBezTo>
                      <a:cubicBezTo>
                        <a:pt x="427" y="730"/>
                        <a:pt x="428" y="737"/>
                        <a:pt x="424" y="742"/>
                      </a:cubicBezTo>
                      <a:cubicBezTo>
                        <a:pt x="422" y="746"/>
                        <a:pt x="419" y="747"/>
                        <a:pt x="415" y="747"/>
                      </a:cubicBezTo>
                      <a:close/>
                      <a:moveTo>
                        <a:pt x="492" y="798"/>
                      </a:moveTo>
                      <a:cubicBezTo>
                        <a:pt x="490" y="798"/>
                        <a:pt x="488" y="798"/>
                        <a:pt x="486" y="797"/>
                      </a:cubicBezTo>
                      <a:cubicBezTo>
                        <a:pt x="479" y="793"/>
                        <a:pt x="472" y="789"/>
                        <a:pt x="466" y="784"/>
                      </a:cubicBezTo>
                      <a:cubicBezTo>
                        <a:pt x="460" y="781"/>
                        <a:pt x="459" y="774"/>
                        <a:pt x="462" y="768"/>
                      </a:cubicBezTo>
                      <a:cubicBezTo>
                        <a:pt x="466" y="763"/>
                        <a:pt x="473" y="761"/>
                        <a:pt x="478" y="765"/>
                      </a:cubicBezTo>
                      <a:cubicBezTo>
                        <a:pt x="485" y="769"/>
                        <a:pt x="491" y="773"/>
                        <a:pt x="498" y="777"/>
                      </a:cubicBezTo>
                      <a:cubicBezTo>
                        <a:pt x="503" y="780"/>
                        <a:pt x="505" y="787"/>
                        <a:pt x="502" y="793"/>
                      </a:cubicBezTo>
                      <a:cubicBezTo>
                        <a:pt x="499" y="796"/>
                        <a:pt x="496" y="798"/>
                        <a:pt x="492" y="798"/>
                      </a:cubicBezTo>
                      <a:close/>
                      <a:moveTo>
                        <a:pt x="573" y="842"/>
                      </a:moveTo>
                      <a:cubicBezTo>
                        <a:pt x="571" y="842"/>
                        <a:pt x="569" y="842"/>
                        <a:pt x="567" y="841"/>
                      </a:cubicBezTo>
                      <a:cubicBezTo>
                        <a:pt x="561" y="838"/>
                        <a:pt x="554" y="834"/>
                        <a:pt x="547" y="831"/>
                      </a:cubicBezTo>
                      <a:cubicBezTo>
                        <a:pt x="541" y="828"/>
                        <a:pt x="539" y="821"/>
                        <a:pt x="542" y="815"/>
                      </a:cubicBezTo>
                      <a:cubicBezTo>
                        <a:pt x="545" y="809"/>
                        <a:pt x="552" y="807"/>
                        <a:pt x="557" y="810"/>
                      </a:cubicBezTo>
                      <a:cubicBezTo>
                        <a:pt x="564" y="814"/>
                        <a:pt x="571" y="817"/>
                        <a:pt x="578" y="820"/>
                      </a:cubicBezTo>
                      <a:cubicBezTo>
                        <a:pt x="583" y="823"/>
                        <a:pt x="586" y="830"/>
                        <a:pt x="583" y="836"/>
                      </a:cubicBezTo>
                      <a:cubicBezTo>
                        <a:pt x="581" y="840"/>
                        <a:pt x="577" y="842"/>
                        <a:pt x="573" y="842"/>
                      </a:cubicBezTo>
                      <a:close/>
                      <a:moveTo>
                        <a:pt x="657" y="879"/>
                      </a:moveTo>
                      <a:lnTo>
                        <a:pt x="653" y="878"/>
                      </a:lnTo>
                      <a:cubicBezTo>
                        <a:pt x="646" y="875"/>
                        <a:pt x="639" y="872"/>
                        <a:pt x="631" y="870"/>
                      </a:cubicBezTo>
                      <a:cubicBezTo>
                        <a:pt x="625" y="867"/>
                        <a:pt x="623" y="860"/>
                        <a:pt x="625" y="854"/>
                      </a:cubicBezTo>
                      <a:cubicBezTo>
                        <a:pt x="627" y="848"/>
                        <a:pt x="634" y="846"/>
                        <a:pt x="640" y="848"/>
                      </a:cubicBezTo>
                      <a:cubicBezTo>
                        <a:pt x="647" y="851"/>
                        <a:pt x="654" y="853"/>
                        <a:pt x="661" y="856"/>
                      </a:cubicBezTo>
                      <a:cubicBezTo>
                        <a:pt x="667" y="858"/>
                        <a:pt x="670" y="865"/>
                        <a:pt x="668" y="871"/>
                      </a:cubicBezTo>
                      <a:cubicBezTo>
                        <a:pt x="666" y="876"/>
                        <a:pt x="662" y="879"/>
                        <a:pt x="657" y="879"/>
                      </a:cubicBezTo>
                      <a:close/>
                      <a:moveTo>
                        <a:pt x="745" y="907"/>
                      </a:moveTo>
                      <a:lnTo>
                        <a:pt x="742" y="907"/>
                      </a:lnTo>
                      <a:cubicBezTo>
                        <a:pt x="734" y="905"/>
                        <a:pt x="727" y="903"/>
                        <a:pt x="719" y="900"/>
                      </a:cubicBezTo>
                      <a:cubicBezTo>
                        <a:pt x="713" y="898"/>
                        <a:pt x="710" y="892"/>
                        <a:pt x="712" y="886"/>
                      </a:cubicBezTo>
                      <a:cubicBezTo>
                        <a:pt x="713" y="880"/>
                        <a:pt x="720" y="876"/>
                        <a:pt x="726" y="878"/>
                      </a:cubicBezTo>
                      <a:cubicBezTo>
                        <a:pt x="733" y="880"/>
                        <a:pt x="741" y="882"/>
                        <a:pt x="748" y="884"/>
                      </a:cubicBezTo>
                      <a:cubicBezTo>
                        <a:pt x="754" y="886"/>
                        <a:pt x="758" y="892"/>
                        <a:pt x="756" y="898"/>
                      </a:cubicBezTo>
                      <a:cubicBezTo>
                        <a:pt x="755" y="904"/>
                        <a:pt x="750" y="907"/>
                        <a:pt x="745" y="907"/>
                      </a:cubicBezTo>
                      <a:close/>
                      <a:moveTo>
                        <a:pt x="835" y="927"/>
                      </a:moveTo>
                      <a:lnTo>
                        <a:pt x="833" y="927"/>
                      </a:lnTo>
                      <a:cubicBezTo>
                        <a:pt x="825" y="926"/>
                        <a:pt x="818" y="924"/>
                        <a:pt x="810" y="923"/>
                      </a:cubicBezTo>
                      <a:cubicBezTo>
                        <a:pt x="804" y="921"/>
                        <a:pt x="800" y="915"/>
                        <a:pt x="801" y="909"/>
                      </a:cubicBezTo>
                      <a:cubicBezTo>
                        <a:pt x="802" y="903"/>
                        <a:pt x="808" y="899"/>
                        <a:pt x="815" y="900"/>
                      </a:cubicBezTo>
                      <a:cubicBezTo>
                        <a:pt x="822" y="901"/>
                        <a:pt x="829" y="903"/>
                        <a:pt x="837" y="904"/>
                      </a:cubicBezTo>
                      <a:cubicBezTo>
                        <a:pt x="843" y="905"/>
                        <a:pt x="848" y="911"/>
                        <a:pt x="846" y="918"/>
                      </a:cubicBezTo>
                      <a:cubicBezTo>
                        <a:pt x="845" y="923"/>
                        <a:pt x="841" y="927"/>
                        <a:pt x="835" y="927"/>
                      </a:cubicBezTo>
                      <a:close/>
                      <a:moveTo>
                        <a:pt x="926" y="939"/>
                      </a:moveTo>
                      <a:lnTo>
                        <a:pt x="926" y="939"/>
                      </a:lnTo>
                      <a:cubicBezTo>
                        <a:pt x="918" y="938"/>
                        <a:pt x="910" y="937"/>
                        <a:pt x="902" y="937"/>
                      </a:cubicBezTo>
                      <a:cubicBezTo>
                        <a:pt x="896" y="936"/>
                        <a:pt x="891" y="930"/>
                        <a:pt x="892" y="924"/>
                      </a:cubicBezTo>
                      <a:cubicBezTo>
                        <a:pt x="893" y="917"/>
                        <a:pt x="898" y="913"/>
                        <a:pt x="905" y="913"/>
                      </a:cubicBezTo>
                      <a:cubicBezTo>
                        <a:pt x="912" y="914"/>
                        <a:pt x="920" y="915"/>
                        <a:pt x="927" y="916"/>
                      </a:cubicBezTo>
                      <a:cubicBezTo>
                        <a:pt x="934" y="916"/>
                        <a:pt x="939" y="922"/>
                        <a:pt x="938" y="928"/>
                      </a:cubicBezTo>
                      <a:cubicBezTo>
                        <a:pt x="938" y="934"/>
                        <a:pt x="932" y="939"/>
                        <a:pt x="926" y="939"/>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8"/>
                <p:cNvSpPr/>
                <p:nvPr/>
              </p:nvSpPr>
              <p:spPr>
                <a:xfrm>
                  <a:off x="2714747" y="4106922"/>
                  <a:ext cx="7020" cy="3511"/>
                </a:xfrm>
                <a:custGeom>
                  <a:rect b="b" l="l" r="r" t="t"/>
                  <a:pathLst>
                    <a:path extrusionOk="0" h="23" w="35">
                      <a:moveTo>
                        <a:pt x="23" y="23"/>
                      </a:moveTo>
                      <a:lnTo>
                        <a:pt x="11" y="23"/>
                      </a:lnTo>
                      <a:cubicBezTo>
                        <a:pt x="5" y="23"/>
                        <a:pt x="0" y="18"/>
                        <a:pt x="0" y="11"/>
                      </a:cubicBezTo>
                      <a:cubicBezTo>
                        <a:pt x="0" y="5"/>
                        <a:pt x="5" y="0"/>
                        <a:pt x="11" y="0"/>
                      </a:cubicBezTo>
                      <a:lnTo>
                        <a:pt x="12" y="0"/>
                      </a:lnTo>
                      <a:lnTo>
                        <a:pt x="23" y="0"/>
                      </a:lnTo>
                      <a:cubicBezTo>
                        <a:pt x="30" y="0"/>
                        <a:pt x="35" y="5"/>
                        <a:pt x="35" y="11"/>
                      </a:cubicBezTo>
                      <a:cubicBezTo>
                        <a:pt x="35" y="18"/>
                        <a:pt x="30" y="23"/>
                        <a:pt x="23" y="23"/>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8"/>
                <p:cNvSpPr/>
                <p:nvPr/>
              </p:nvSpPr>
              <p:spPr>
                <a:xfrm>
                  <a:off x="2539244" y="3843667"/>
                  <a:ext cx="182523" cy="49141"/>
                </a:xfrm>
                <a:custGeom>
                  <a:rect b="b" l="l" r="r" t="t"/>
                  <a:pathLst>
                    <a:path extrusionOk="0" h="233" w="867">
                      <a:moveTo>
                        <a:pt x="851" y="222"/>
                      </a:moveTo>
                      <a:cubicBezTo>
                        <a:pt x="861" y="213"/>
                        <a:pt x="867" y="201"/>
                        <a:pt x="867" y="187"/>
                      </a:cubicBezTo>
                      <a:cubicBezTo>
                        <a:pt x="867" y="161"/>
                        <a:pt x="847" y="140"/>
                        <a:pt x="821" y="140"/>
                      </a:cubicBezTo>
                      <a:lnTo>
                        <a:pt x="172" y="139"/>
                      </a:lnTo>
                      <a:lnTo>
                        <a:pt x="231" y="87"/>
                      </a:lnTo>
                      <a:cubicBezTo>
                        <a:pt x="250" y="70"/>
                        <a:pt x="252" y="40"/>
                        <a:pt x="235" y="21"/>
                      </a:cubicBezTo>
                      <a:cubicBezTo>
                        <a:pt x="217" y="2"/>
                        <a:pt x="187" y="0"/>
                        <a:pt x="169" y="17"/>
                      </a:cubicBezTo>
                      <a:lnTo>
                        <a:pt x="19" y="151"/>
                      </a:lnTo>
                      <a:cubicBezTo>
                        <a:pt x="5" y="164"/>
                        <a:pt x="0" y="184"/>
                        <a:pt x="6" y="202"/>
                      </a:cubicBezTo>
                      <a:cubicBezTo>
                        <a:pt x="13" y="220"/>
                        <a:pt x="31" y="232"/>
                        <a:pt x="50" y="232"/>
                      </a:cubicBezTo>
                      <a:lnTo>
                        <a:pt x="821" y="233"/>
                      </a:lnTo>
                      <a:cubicBezTo>
                        <a:pt x="832" y="233"/>
                        <a:pt x="843" y="229"/>
                        <a:pt x="851" y="222"/>
                      </a:cubicBezTo>
                    </a:path>
                  </a:pathLst>
                </a:custGeom>
                <a:solidFill>
                  <a:srgbClr val="E8F7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8"/>
                <p:cNvSpPr/>
                <p:nvPr/>
              </p:nvSpPr>
              <p:spPr>
                <a:xfrm>
                  <a:off x="2532224" y="3903339"/>
                  <a:ext cx="182523" cy="49141"/>
                </a:xfrm>
                <a:custGeom>
                  <a:rect b="b" l="l" r="r" t="t"/>
                  <a:pathLst>
                    <a:path extrusionOk="0" h="233" w="867">
                      <a:moveTo>
                        <a:pt x="698" y="216"/>
                      </a:moveTo>
                      <a:lnTo>
                        <a:pt x="698" y="216"/>
                      </a:lnTo>
                      <a:lnTo>
                        <a:pt x="848" y="82"/>
                      </a:lnTo>
                      <a:cubicBezTo>
                        <a:pt x="862" y="69"/>
                        <a:pt x="867" y="49"/>
                        <a:pt x="861" y="31"/>
                      </a:cubicBezTo>
                      <a:cubicBezTo>
                        <a:pt x="854" y="12"/>
                        <a:pt x="836" y="0"/>
                        <a:pt x="817" y="0"/>
                      </a:cubicBezTo>
                      <a:lnTo>
                        <a:pt x="46" y="0"/>
                      </a:lnTo>
                      <a:cubicBezTo>
                        <a:pt x="21" y="0"/>
                        <a:pt x="0" y="20"/>
                        <a:pt x="0" y="46"/>
                      </a:cubicBezTo>
                      <a:cubicBezTo>
                        <a:pt x="0" y="72"/>
                        <a:pt x="20" y="93"/>
                        <a:pt x="46" y="93"/>
                      </a:cubicBezTo>
                      <a:lnTo>
                        <a:pt x="695" y="94"/>
                      </a:lnTo>
                      <a:lnTo>
                        <a:pt x="636" y="146"/>
                      </a:lnTo>
                      <a:cubicBezTo>
                        <a:pt x="617" y="163"/>
                        <a:pt x="615" y="193"/>
                        <a:pt x="632" y="212"/>
                      </a:cubicBezTo>
                      <a:cubicBezTo>
                        <a:pt x="649" y="231"/>
                        <a:pt x="678" y="233"/>
                        <a:pt x="698" y="216"/>
                      </a:cubicBezTo>
                    </a:path>
                  </a:pathLst>
                </a:custGeom>
                <a:solidFill>
                  <a:srgbClr val="E8F7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8"/>
                <p:cNvSpPr/>
                <p:nvPr/>
              </p:nvSpPr>
              <p:spPr>
                <a:xfrm>
                  <a:off x="2279500" y="3597963"/>
                  <a:ext cx="87752" cy="52652"/>
                </a:xfrm>
                <a:custGeom>
                  <a:rect b="b" l="l" r="r" t="t"/>
                  <a:pathLst>
                    <a:path extrusionOk="0" h="246" w="407">
                      <a:moveTo>
                        <a:pt x="114" y="46"/>
                      </a:moveTo>
                      <a:lnTo>
                        <a:pt x="17" y="197"/>
                      </a:lnTo>
                      <a:lnTo>
                        <a:pt x="0" y="246"/>
                      </a:lnTo>
                      <a:lnTo>
                        <a:pt x="407" y="158"/>
                      </a:lnTo>
                      <a:lnTo>
                        <a:pt x="256" y="34"/>
                      </a:lnTo>
                      <a:cubicBezTo>
                        <a:pt x="213" y="0"/>
                        <a:pt x="151" y="5"/>
                        <a:pt x="114" y="46"/>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8"/>
                <p:cNvSpPr/>
                <p:nvPr/>
              </p:nvSpPr>
              <p:spPr>
                <a:xfrm>
                  <a:off x="2205790" y="3580414"/>
                  <a:ext cx="171994" cy="333456"/>
                </a:xfrm>
                <a:custGeom>
                  <a:rect b="b" l="l" r="r" t="t"/>
                  <a:pathLst>
                    <a:path extrusionOk="0" h="1575" w="818">
                      <a:moveTo>
                        <a:pt x="595" y="78"/>
                      </a:moveTo>
                      <a:cubicBezTo>
                        <a:pt x="591" y="83"/>
                        <a:pt x="588" y="89"/>
                        <a:pt x="586" y="94"/>
                      </a:cubicBezTo>
                      <a:cubicBezTo>
                        <a:pt x="580" y="108"/>
                        <a:pt x="580" y="152"/>
                        <a:pt x="569" y="160"/>
                      </a:cubicBezTo>
                      <a:lnTo>
                        <a:pt x="361" y="310"/>
                      </a:lnTo>
                      <a:lnTo>
                        <a:pt x="376" y="266"/>
                      </a:lnTo>
                      <a:lnTo>
                        <a:pt x="321" y="295"/>
                      </a:lnTo>
                      <a:cubicBezTo>
                        <a:pt x="296" y="308"/>
                        <a:pt x="274" y="324"/>
                        <a:pt x="254" y="343"/>
                      </a:cubicBezTo>
                      <a:lnTo>
                        <a:pt x="173" y="419"/>
                      </a:lnTo>
                      <a:lnTo>
                        <a:pt x="95" y="585"/>
                      </a:lnTo>
                      <a:cubicBezTo>
                        <a:pt x="72" y="634"/>
                        <a:pt x="64" y="689"/>
                        <a:pt x="73" y="743"/>
                      </a:cubicBezTo>
                      <a:lnTo>
                        <a:pt x="123" y="1062"/>
                      </a:lnTo>
                      <a:lnTo>
                        <a:pt x="0" y="1324"/>
                      </a:lnTo>
                      <a:cubicBezTo>
                        <a:pt x="99" y="1461"/>
                        <a:pt x="260" y="1575"/>
                        <a:pt x="388" y="1551"/>
                      </a:cubicBezTo>
                      <a:lnTo>
                        <a:pt x="690" y="1248"/>
                      </a:lnTo>
                      <a:lnTo>
                        <a:pt x="752" y="1142"/>
                      </a:lnTo>
                      <a:lnTo>
                        <a:pt x="754" y="1128"/>
                      </a:lnTo>
                      <a:lnTo>
                        <a:pt x="818" y="666"/>
                      </a:lnTo>
                      <a:lnTo>
                        <a:pt x="807" y="385"/>
                      </a:lnTo>
                      <a:lnTo>
                        <a:pt x="818" y="51"/>
                      </a:lnTo>
                      <a:cubicBezTo>
                        <a:pt x="805" y="24"/>
                        <a:pt x="780" y="5"/>
                        <a:pt x="750" y="3"/>
                      </a:cubicBezTo>
                      <a:cubicBezTo>
                        <a:pt x="707" y="0"/>
                        <a:pt x="663" y="16"/>
                        <a:pt x="629" y="42"/>
                      </a:cubicBezTo>
                      <a:cubicBezTo>
                        <a:pt x="616" y="52"/>
                        <a:pt x="604" y="64"/>
                        <a:pt x="595" y="78"/>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8"/>
                <p:cNvSpPr/>
                <p:nvPr/>
              </p:nvSpPr>
              <p:spPr>
                <a:xfrm>
                  <a:off x="2353213" y="3597963"/>
                  <a:ext cx="91261" cy="249215"/>
                </a:xfrm>
                <a:custGeom>
                  <a:rect b="b" l="l" r="r" t="t"/>
                  <a:pathLst>
                    <a:path extrusionOk="0" h="1172" w="428">
                      <a:moveTo>
                        <a:pt x="0" y="1172"/>
                      </a:moveTo>
                      <a:cubicBezTo>
                        <a:pt x="0" y="1172"/>
                        <a:pt x="235" y="976"/>
                        <a:pt x="281" y="887"/>
                      </a:cubicBezTo>
                      <a:cubicBezTo>
                        <a:pt x="372" y="715"/>
                        <a:pt x="418" y="121"/>
                        <a:pt x="418" y="121"/>
                      </a:cubicBezTo>
                      <a:cubicBezTo>
                        <a:pt x="428" y="67"/>
                        <a:pt x="392" y="0"/>
                        <a:pt x="330" y="13"/>
                      </a:cubicBezTo>
                      <a:cubicBezTo>
                        <a:pt x="286" y="23"/>
                        <a:pt x="244" y="61"/>
                        <a:pt x="224" y="100"/>
                      </a:cubicBezTo>
                      <a:lnTo>
                        <a:pt x="29" y="483"/>
                      </a:lnTo>
                      <a:lnTo>
                        <a:pt x="0" y="1172"/>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8"/>
                <p:cNvSpPr/>
                <p:nvPr/>
              </p:nvSpPr>
              <p:spPr>
                <a:xfrm>
                  <a:off x="2314601" y="3604983"/>
                  <a:ext cx="17551" cy="63181"/>
                </a:xfrm>
                <a:custGeom>
                  <a:rect b="b" l="l" r="r" t="t"/>
                  <a:pathLst>
                    <a:path extrusionOk="0" h="299" w="82">
                      <a:moveTo>
                        <a:pt x="1" y="289"/>
                      </a:moveTo>
                      <a:cubicBezTo>
                        <a:pt x="3" y="293"/>
                        <a:pt x="6" y="297"/>
                        <a:pt x="11" y="297"/>
                      </a:cubicBezTo>
                      <a:cubicBezTo>
                        <a:pt x="17" y="299"/>
                        <a:pt x="24" y="294"/>
                        <a:pt x="26" y="288"/>
                      </a:cubicBezTo>
                      <a:lnTo>
                        <a:pt x="81" y="16"/>
                      </a:lnTo>
                      <a:cubicBezTo>
                        <a:pt x="82" y="9"/>
                        <a:pt x="78" y="3"/>
                        <a:pt x="71" y="1"/>
                      </a:cubicBezTo>
                      <a:cubicBezTo>
                        <a:pt x="64" y="0"/>
                        <a:pt x="58" y="4"/>
                        <a:pt x="56" y="11"/>
                      </a:cubicBezTo>
                      <a:lnTo>
                        <a:pt x="1" y="282"/>
                      </a:lnTo>
                      <a:cubicBezTo>
                        <a:pt x="0" y="285"/>
                        <a:pt x="0" y="287"/>
                        <a:pt x="1" y="289"/>
                      </a:cubicBezTo>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8"/>
                <p:cNvSpPr/>
                <p:nvPr/>
              </p:nvSpPr>
              <p:spPr>
                <a:xfrm>
                  <a:off x="2268971" y="3640084"/>
                  <a:ext cx="17551" cy="38612"/>
                </a:xfrm>
                <a:custGeom>
                  <a:rect b="b" l="l" r="r" t="t"/>
                  <a:pathLst>
                    <a:path extrusionOk="0" h="196" w="86">
                      <a:moveTo>
                        <a:pt x="1" y="186"/>
                      </a:moveTo>
                      <a:cubicBezTo>
                        <a:pt x="2" y="189"/>
                        <a:pt x="5" y="192"/>
                        <a:pt x="9" y="193"/>
                      </a:cubicBezTo>
                      <a:cubicBezTo>
                        <a:pt x="15" y="196"/>
                        <a:pt x="23" y="192"/>
                        <a:pt x="25" y="186"/>
                      </a:cubicBezTo>
                      <a:lnTo>
                        <a:pt x="84" y="18"/>
                      </a:lnTo>
                      <a:cubicBezTo>
                        <a:pt x="86" y="12"/>
                        <a:pt x="82" y="4"/>
                        <a:pt x="76" y="2"/>
                      </a:cubicBezTo>
                      <a:cubicBezTo>
                        <a:pt x="69" y="0"/>
                        <a:pt x="62" y="3"/>
                        <a:pt x="60" y="10"/>
                      </a:cubicBezTo>
                      <a:lnTo>
                        <a:pt x="1" y="177"/>
                      </a:lnTo>
                      <a:cubicBezTo>
                        <a:pt x="0" y="180"/>
                        <a:pt x="0" y="183"/>
                        <a:pt x="1" y="186"/>
                      </a:cubicBezTo>
                      <a:close/>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8"/>
                <p:cNvSpPr/>
                <p:nvPr/>
              </p:nvSpPr>
              <p:spPr>
                <a:xfrm>
                  <a:off x="2237380" y="3668164"/>
                  <a:ext cx="14040" cy="24571"/>
                </a:xfrm>
                <a:custGeom>
                  <a:rect b="b" l="l" r="r" t="t"/>
                  <a:pathLst>
                    <a:path extrusionOk="0" h="117" w="58">
                      <a:moveTo>
                        <a:pt x="1" y="107"/>
                      </a:moveTo>
                      <a:cubicBezTo>
                        <a:pt x="2" y="111"/>
                        <a:pt x="5" y="114"/>
                        <a:pt x="9" y="115"/>
                      </a:cubicBezTo>
                      <a:cubicBezTo>
                        <a:pt x="15" y="117"/>
                        <a:pt x="23" y="114"/>
                        <a:pt x="25" y="107"/>
                      </a:cubicBezTo>
                      <a:lnTo>
                        <a:pt x="55" y="18"/>
                      </a:lnTo>
                      <a:cubicBezTo>
                        <a:pt x="58" y="12"/>
                        <a:pt x="54" y="5"/>
                        <a:pt x="47" y="2"/>
                      </a:cubicBezTo>
                      <a:cubicBezTo>
                        <a:pt x="41" y="0"/>
                        <a:pt x="34" y="4"/>
                        <a:pt x="31" y="10"/>
                      </a:cubicBezTo>
                      <a:lnTo>
                        <a:pt x="1" y="99"/>
                      </a:lnTo>
                      <a:cubicBezTo>
                        <a:pt x="0" y="102"/>
                        <a:pt x="0" y="105"/>
                        <a:pt x="1" y="107"/>
                      </a:cubicBezTo>
                      <a:close/>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8"/>
                <p:cNvSpPr/>
                <p:nvPr/>
              </p:nvSpPr>
              <p:spPr>
                <a:xfrm>
                  <a:off x="2374273" y="3664655"/>
                  <a:ext cx="17551" cy="63181"/>
                </a:xfrm>
                <a:custGeom>
                  <a:rect b="b" l="l" r="r" t="t"/>
                  <a:pathLst>
                    <a:path extrusionOk="0" h="296" w="85">
                      <a:moveTo>
                        <a:pt x="59" y="286"/>
                      </a:moveTo>
                      <a:cubicBezTo>
                        <a:pt x="61" y="293"/>
                        <a:pt x="68" y="296"/>
                        <a:pt x="75" y="294"/>
                      </a:cubicBezTo>
                      <a:cubicBezTo>
                        <a:pt x="81" y="292"/>
                        <a:pt x="85" y="285"/>
                        <a:pt x="83" y="278"/>
                      </a:cubicBezTo>
                      <a:cubicBezTo>
                        <a:pt x="80" y="268"/>
                        <a:pt x="76" y="257"/>
                        <a:pt x="72" y="246"/>
                      </a:cubicBezTo>
                      <a:cubicBezTo>
                        <a:pt x="52" y="185"/>
                        <a:pt x="29" y="116"/>
                        <a:pt x="26" y="12"/>
                      </a:cubicBezTo>
                      <a:cubicBezTo>
                        <a:pt x="26" y="5"/>
                        <a:pt x="20" y="0"/>
                        <a:pt x="13" y="0"/>
                      </a:cubicBezTo>
                      <a:cubicBezTo>
                        <a:pt x="6" y="0"/>
                        <a:pt x="0" y="6"/>
                        <a:pt x="0" y="13"/>
                      </a:cubicBezTo>
                      <a:cubicBezTo>
                        <a:pt x="3" y="120"/>
                        <a:pt x="27" y="191"/>
                        <a:pt x="48" y="254"/>
                      </a:cubicBezTo>
                      <a:cubicBezTo>
                        <a:pt x="52" y="265"/>
                        <a:pt x="55" y="275"/>
                        <a:pt x="59" y="286"/>
                      </a:cubicBezTo>
                      <a:lnTo>
                        <a:pt x="59" y="286"/>
                      </a:lnTo>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8"/>
                <p:cNvSpPr/>
                <p:nvPr/>
              </p:nvSpPr>
              <p:spPr>
                <a:xfrm>
                  <a:off x="1960086" y="3829627"/>
                  <a:ext cx="365046" cy="421207"/>
                </a:xfrm>
                <a:custGeom>
                  <a:rect b="b" l="l" r="r" t="t"/>
                  <a:pathLst>
                    <a:path extrusionOk="0" h="1991" w="1732">
                      <a:moveTo>
                        <a:pt x="1732" y="200"/>
                      </a:moveTo>
                      <a:cubicBezTo>
                        <a:pt x="1707" y="184"/>
                        <a:pt x="1049" y="0"/>
                        <a:pt x="1049" y="0"/>
                      </a:cubicBezTo>
                      <a:cubicBezTo>
                        <a:pt x="1049" y="0"/>
                        <a:pt x="208" y="844"/>
                        <a:pt x="108" y="1283"/>
                      </a:cubicBezTo>
                      <a:cubicBezTo>
                        <a:pt x="0" y="1757"/>
                        <a:pt x="937" y="1991"/>
                        <a:pt x="937" y="1991"/>
                      </a:cubicBezTo>
                      <a:lnTo>
                        <a:pt x="1732" y="200"/>
                      </a:ln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8"/>
                <p:cNvSpPr/>
                <p:nvPr/>
              </p:nvSpPr>
              <p:spPr>
                <a:xfrm>
                  <a:off x="2240891" y="3927909"/>
                  <a:ext cx="147422" cy="122853"/>
                </a:xfrm>
                <a:custGeom>
                  <a:rect b="b" l="l" r="r" t="t"/>
                  <a:pathLst>
                    <a:path extrusionOk="0" h="574" w="701">
                      <a:moveTo>
                        <a:pt x="183" y="0"/>
                      </a:moveTo>
                      <a:lnTo>
                        <a:pt x="0" y="416"/>
                      </a:lnTo>
                      <a:lnTo>
                        <a:pt x="640" y="574"/>
                      </a:lnTo>
                      <a:lnTo>
                        <a:pt x="701" y="280"/>
                      </a:lnTo>
                      <a:cubicBezTo>
                        <a:pt x="536" y="232"/>
                        <a:pt x="381" y="138"/>
                        <a:pt x="237" y="40"/>
                      </a:cubicBezTo>
                      <a:lnTo>
                        <a:pt x="183" y="0"/>
                      </a:ln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8"/>
                <p:cNvSpPr/>
                <p:nvPr/>
              </p:nvSpPr>
              <p:spPr>
                <a:xfrm>
                  <a:off x="2290032" y="3938438"/>
                  <a:ext cx="108813" cy="49141"/>
                </a:xfrm>
                <a:custGeom>
                  <a:rect b="b" l="l" r="r" t="t"/>
                  <a:pathLst>
                    <a:path extrusionOk="0" h="240" w="510">
                      <a:moveTo>
                        <a:pt x="0" y="0"/>
                      </a:moveTo>
                      <a:cubicBezTo>
                        <a:pt x="144" y="98"/>
                        <a:pt x="299" y="192"/>
                        <a:pt x="464" y="240"/>
                      </a:cubicBezTo>
                      <a:lnTo>
                        <a:pt x="510" y="13"/>
                      </a:lnTo>
                      <a:lnTo>
                        <a:pt x="0" y="0"/>
                      </a:lnTo>
                      <a:close/>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8"/>
                <p:cNvSpPr/>
                <p:nvPr/>
              </p:nvSpPr>
              <p:spPr>
                <a:xfrm>
                  <a:off x="2321623" y="3745386"/>
                  <a:ext cx="171994" cy="129873"/>
                </a:xfrm>
                <a:custGeom>
                  <a:rect b="b" l="l" r="r" t="t"/>
                  <a:pathLst>
                    <a:path extrusionOk="0" h="605" w="807">
                      <a:moveTo>
                        <a:pt x="757" y="446"/>
                      </a:moveTo>
                      <a:cubicBezTo>
                        <a:pt x="706" y="569"/>
                        <a:pt x="508" y="605"/>
                        <a:pt x="313" y="526"/>
                      </a:cubicBezTo>
                      <a:cubicBezTo>
                        <a:pt x="118" y="446"/>
                        <a:pt x="0" y="282"/>
                        <a:pt x="50" y="159"/>
                      </a:cubicBezTo>
                      <a:cubicBezTo>
                        <a:pt x="100" y="36"/>
                        <a:pt x="299" y="0"/>
                        <a:pt x="494" y="79"/>
                      </a:cubicBezTo>
                      <a:cubicBezTo>
                        <a:pt x="689" y="158"/>
                        <a:pt x="807" y="322"/>
                        <a:pt x="757" y="446"/>
                      </a:cubicBezTo>
                      <a:close/>
                    </a:path>
                  </a:pathLst>
                </a:custGeom>
                <a:solidFill>
                  <a:srgbClr val="1E12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8"/>
                <p:cNvSpPr/>
                <p:nvPr/>
              </p:nvSpPr>
              <p:spPr>
                <a:xfrm>
                  <a:off x="2254931" y="3776975"/>
                  <a:ext cx="224644" cy="193054"/>
                </a:xfrm>
                <a:custGeom>
                  <a:rect b="b" l="l" r="r" t="t"/>
                  <a:pathLst>
                    <a:path extrusionOk="0" h="906" w="1065">
                      <a:moveTo>
                        <a:pt x="2" y="441"/>
                      </a:moveTo>
                      <a:cubicBezTo>
                        <a:pt x="0" y="685"/>
                        <a:pt x="266" y="901"/>
                        <a:pt x="559" y="903"/>
                      </a:cubicBezTo>
                      <a:cubicBezTo>
                        <a:pt x="852" y="906"/>
                        <a:pt x="1061" y="694"/>
                        <a:pt x="1063" y="449"/>
                      </a:cubicBezTo>
                      <a:cubicBezTo>
                        <a:pt x="1065" y="205"/>
                        <a:pt x="829" y="5"/>
                        <a:pt x="536" y="3"/>
                      </a:cubicBezTo>
                      <a:cubicBezTo>
                        <a:pt x="243" y="0"/>
                        <a:pt x="4" y="196"/>
                        <a:pt x="2" y="44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8"/>
                <p:cNvSpPr/>
                <p:nvPr/>
              </p:nvSpPr>
              <p:spPr>
                <a:xfrm>
                  <a:off x="2381293" y="3875257"/>
                  <a:ext cx="38612" cy="24571"/>
                </a:xfrm>
                <a:custGeom>
                  <a:rect b="b" l="l" r="r" t="t"/>
                  <a:pathLst>
                    <a:path extrusionOk="0" h="109" w="174">
                      <a:moveTo>
                        <a:pt x="6" y="35"/>
                      </a:moveTo>
                      <a:cubicBezTo>
                        <a:pt x="0" y="59"/>
                        <a:pt x="32" y="87"/>
                        <a:pt x="77" y="98"/>
                      </a:cubicBezTo>
                      <a:cubicBezTo>
                        <a:pt x="121" y="109"/>
                        <a:pt x="162" y="98"/>
                        <a:pt x="168" y="74"/>
                      </a:cubicBezTo>
                      <a:cubicBezTo>
                        <a:pt x="174" y="50"/>
                        <a:pt x="142" y="22"/>
                        <a:pt x="98" y="11"/>
                      </a:cubicBezTo>
                      <a:cubicBezTo>
                        <a:pt x="53" y="0"/>
                        <a:pt x="12" y="11"/>
                        <a:pt x="6" y="35"/>
                      </a:cubicBezTo>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8"/>
                <p:cNvSpPr/>
                <p:nvPr/>
              </p:nvSpPr>
              <p:spPr>
                <a:xfrm>
                  <a:off x="2462025" y="3871748"/>
                  <a:ext cx="28080" cy="45632"/>
                </a:xfrm>
                <a:custGeom>
                  <a:rect b="b" l="l" r="r" t="t"/>
                  <a:pathLst>
                    <a:path extrusionOk="0" h="215" w="131">
                      <a:moveTo>
                        <a:pt x="27" y="0"/>
                      </a:moveTo>
                      <a:lnTo>
                        <a:pt x="119" y="141"/>
                      </a:lnTo>
                      <a:cubicBezTo>
                        <a:pt x="131" y="159"/>
                        <a:pt x="122" y="183"/>
                        <a:pt x="101" y="189"/>
                      </a:cubicBezTo>
                      <a:lnTo>
                        <a:pt x="0" y="215"/>
                      </a:lnTo>
                      <a:lnTo>
                        <a:pt x="27"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8"/>
                <p:cNvSpPr/>
                <p:nvPr/>
              </p:nvSpPr>
              <p:spPr>
                <a:xfrm>
                  <a:off x="2409374" y="3910357"/>
                  <a:ext cx="31592" cy="21060"/>
                </a:xfrm>
                <a:custGeom>
                  <a:rect b="b" l="l" r="r" t="t"/>
                  <a:pathLst>
                    <a:path extrusionOk="0" h="109" w="147">
                      <a:moveTo>
                        <a:pt x="133" y="109"/>
                      </a:moveTo>
                      <a:cubicBezTo>
                        <a:pt x="131" y="109"/>
                        <a:pt x="129" y="109"/>
                        <a:pt x="127" y="108"/>
                      </a:cubicBezTo>
                      <a:cubicBezTo>
                        <a:pt x="82" y="86"/>
                        <a:pt x="41" y="57"/>
                        <a:pt x="5" y="23"/>
                      </a:cubicBezTo>
                      <a:cubicBezTo>
                        <a:pt x="0" y="18"/>
                        <a:pt x="0" y="10"/>
                        <a:pt x="4" y="5"/>
                      </a:cubicBezTo>
                      <a:cubicBezTo>
                        <a:pt x="9" y="0"/>
                        <a:pt x="17" y="0"/>
                        <a:pt x="22" y="5"/>
                      </a:cubicBezTo>
                      <a:cubicBezTo>
                        <a:pt x="57" y="37"/>
                        <a:pt x="96" y="64"/>
                        <a:pt x="138" y="85"/>
                      </a:cubicBezTo>
                      <a:cubicBezTo>
                        <a:pt x="145" y="88"/>
                        <a:pt x="147" y="96"/>
                        <a:pt x="144" y="102"/>
                      </a:cubicBezTo>
                      <a:cubicBezTo>
                        <a:pt x="142" y="107"/>
                        <a:pt x="137" y="109"/>
                        <a:pt x="133" y="109"/>
                      </a:cubicBezTo>
                      <a:close/>
                    </a:path>
                  </a:pathLst>
                </a:custGeom>
                <a:solidFill>
                  <a:srgbClr val="C216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8"/>
                <p:cNvSpPr/>
                <p:nvPr/>
              </p:nvSpPr>
              <p:spPr>
                <a:xfrm>
                  <a:off x="2437454" y="3868236"/>
                  <a:ext cx="10531" cy="14040"/>
                </a:xfrm>
                <a:custGeom>
                  <a:rect b="b" l="l" r="r" t="t"/>
                  <a:pathLst>
                    <a:path extrusionOk="0" h="77" w="46">
                      <a:moveTo>
                        <a:pt x="30" y="76"/>
                      </a:moveTo>
                      <a:lnTo>
                        <a:pt x="23" y="76"/>
                      </a:lnTo>
                      <a:cubicBezTo>
                        <a:pt x="13" y="77"/>
                        <a:pt x="5" y="70"/>
                        <a:pt x="4" y="61"/>
                      </a:cubicBezTo>
                      <a:lnTo>
                        <a:pt x="1" y="20"/>
                      </a:lnTo>
                      <a:cubicBezTo>
                        <a:pt x="0" y="11"/>
                        <a:pt x="7" y="2"/>
                        <a:pt x="16" y="2"/>
                      </a:cubicBezTo>
                      <a:lnTo>
                        <a:pt x="24" y="1"/>
                      </a:lnTo>
                      <a:cubicBezTo>
                        <a:pt x="33" y="0"/>
                        <a:pt x="41" y="7"/>
                        <a:pt x="42" y="17"/>
                      </a:cubicBezTo>
                      <a:lnTo>
                        <a:pt x="45" y="57"/>
                      </a:lnTo>
                      <a:cubicBezTo>
                        <a:pt x="46" y="67"/>
                        <a:pt x="39" y="75"/>
                        <a:pt x="30" y="76"/>
                      </a:cubicBezTo>
                      <a:close/>
                    </a:path>
                  </a:pathLst>
                </a:custGeom>
                <a:solidFill>
                  <a:srgbClr val="1E12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8"/>
                <p:cNvSpPr/>
                <p:nvPr/>
              </p:nvSpPr>
              <p:spPr>
                <a:xfrm>
                  <a:off x="2423414" y="3847176"/>
                  <a:ext cx="28080" cy="10531"/>
                </a:xfrm>
                <a:custGeom>
                  <a:rect b="b" l="l" r="r" t="t"/>
                  <a:pathLst>
                    <a:path extrusionOk="0" h="48" w="145">
                      <a:moveTo>
                        <a:pt x="15" y="48"/>
                      </a:moveTo>
                      <a:cubicBezTo>
                        <a:pt x="10" y="48"/>
                        <a:pt x="5" y="46"/>
                        <a:pt x="3" y="41"/>
                      </a:cubicBezTo>
                      <a:cubicBezTo>
                        <a:pt x="0" y="35"/>
                        <a:pt x="3" y="27"/>
                        <a:pt x="10" y="24"/>
                      </a:cubicBezTo>
                      <a:cubicBezTo>
                        <a:pt x="48" y="7"/>
                        <a:pt x="91" y="0"/>
                        <a:pt x="133" y="6"/>
                      </a:cubicBezTo>
                      <a:cubicBezTo>
                        <a:pt x="140" y="7"/>
                        <a:pt x="145" y="13"/>
                        <a:pt x="144" y="20"/>
                      </a:cubicBezTo>
                      <a:cubicBezTo>
                        <a:pt x="143" y="27"/>
                        <a:pt x="137" y="32"/>
                        <a:pt x="130" y="31"/>
                      </a:cubicBezTo>
                      <a:cubicBezTo>
                        <a:pt x="93" y="26"/>
                        <a:pt x="54" y="32"/>
                        <a:pt x="20" y="47"/>
                      </a:cubicBezTo>
                      <a:cubicBezTo>
                        <a:pt x="18" y="48"/>
                        <a:pt x="17" y="48"/>
                        <a:pt x="15" y="48"/>
                      </a:cubicBezTo>
                      <a:close/>
                    </a:path>
                  </a:pathLst>
                </a:custGeom>
                <a:solidFill>
                  <a:srgbClr val="1E12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8"/>
                <p:cNvSpPr/>
                <p:nvPr/>
              </p:nvSpPr>
              <p:spPr>
                <a:xfrm>
                  <a:off x="2321623" y="3769955"/>
                  <a:ext cx="140402" cy="115833"/>
                </a:xfrm>
                <a:custGeom>
                  <a:rect b="b" l="l" r="r" t="t"/>
                  <a:pathLst>
                    <a:path extrusionOk="0" h="545" w="654">
                      <a:moveTo>
                        <a:pt x="654" y="96"/>
                      </a:moveTo>
                      <a:cubicBezTo>
                        <a:pt x="654" y="96"/>
                        <a:pt x="471" y="416"/>
                        <a:pt x="188" y="466"/>
                      </a:cubicBezTo>
                      <a:lnTo>
                        <a:pt x="109" y="545"/>
                      </a:lnTo>
                      <a:lnTo>
                        <a:pt x="0" y="396"/>
                      </a:lnTo>
                      <a:lnTo>
                        <a:pt x="188" y="0"/>
                      </a:lnTo>
                      <a:lnTo>
                        <a:pt x="654" y="96"/>
                      </a:lnTo>
                      <a:close/>
                    </a:path>
                  </a:pathLst>
                </a:custGeom>
                <a:solidFill>
                  <a:srgbClr val="1E12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8"/>
                <p:cNvSpPr/>
                <p:nvPr/>
              </p:nvSpPr>
              <p:spPr>
                <a:xfrm>
                  <a:off x="2219831" y="3738366"/>
                  <a:ext cx="210603" cy="193054"/>
                </a:xfrm>
                <a:custGeom>
                  <a:rect b="b" l="l" r="r" t="t"/>
                  <a:pathLst>
                    <a:path extrusionOk="0" h="899" w="999">
                      <a:moveTo>
                        <a:pt x="999" y="133"/>
                      </a:moveTo>
                      <a:cubicBezTo>
                        <a:pt x="999" y="133"/>
                        <a:pt x="995" y="16"/>
                        <a:pt x="695" y="8"/>
                      </a:cubicBezTo>
                      <a:cubicBezTo>
                        <a:pt x="396" y="0"/>
                        <a:pt x="155" y="213"/>
                        <a:pt x="88" y="387"/>
                      </a:cubicBezTo>
                      <a:cubicBezTo>
                        <a:pt x="0" y="612"/>
                        <a:pt x="212" y="853"/>
                        <a:pt x="292" y="899"/>
                      </a:cubicBezTo>
                      <a:lnTo>
                        <a:pt x="999" y="133"/>
                      </a:lnTo>
                    </a:path>
                  </a:pathLst>
                </a:custGeom>
                <a:solidFill>
                  <a:srgbClr val="1E12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8"/>
                <p:cNvSpPr/>
                <p:nvPr/>
              </p:nvSpPr>
              <p:spPr>
                <a:xfrm>
                  <a:off x="2314603" y="3850687"/>
                  <a:ext cx="49141" cy="52652"/>
                </a:xfrm>
                <a:custGeom>
                  <a:rect b="b" l="l" r="r" t="t"/>
                  <a:pathLst>
                    <a:path extrusionOk="0" h="244" w="244">
                      <a:moveTo>
                        <a:pt x="2" y="117"/>
                      </a:moveTo>
                      <a:cubicBezTo>
                        <a:pt x="0" y="183"/>
                        <a:pt x="51" y="239"/>
                        <a:pt x="117" y="241"/>
                      </a:cubicBezTo>
                      <a:cubicBezTo>
                        <a:pt x="182" y="244"/>
                        <a:pt x="238" y="193"/>
                        <a:pt x="241" y="127"/>
                      </a:cubicBezTo>
                      <a:cubicBezTo>
                        <a:pt x="244" y="61"/>
                        <a:pt x="192" y="6"/>
                        <a:pt x="127" y="3"/>
                      </a:cubicBezTo>
                      <a:cubicBezTo>
                        <a:pt x="61" y="0"/>
                        <a:pt x="5" y="51"/>
                        <a:pt x="2" y="1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8"/>
                <p:cNvSpPr/>
                <p:nvPr/>
              </p:nvSpPr>
              <p:spPr>
                <a:xfrm>
                  <a:off x="2328643" y="3871748"/>
                  <a:ext cx="21060" cy="10531"/>
                </a:xfrm>
                <a:custGeom>
                  <a:rect b="b" l="l" r="r" t="t"/>
                  <a:pathLst>
                    <a:path extrusionOk="0" h="45" w="111">
                      <a:moveTo>
                        <a:pt x="17" y="41"/>
                      </a:moveTo>
                      <a:lnTo>
                        <a:pt x="93" y="44"/>
                      </a:lnTo>
                      <a:cubicBezTo>
                        <a:pt x="102" y="45"/>
                        <a:pt x="110" y="38"/>
                        <a:pt x="110" y="28"/>
                      </a:cubicBezTo>
                      <a:lnTo>
                        <a:pt x="110" y="21"/>
                      </a:lnTo>
                      <a:cubicBezTo>
                        <a:pt x="111" y="12"/>
                        <a:pt x="104" y="4"/>
                        <a:pt x="94" y="4"/>
                      </a:cubicBezTo>
                      <a:lnTo>
                        <a:pt x="18" y="1"/>
                      </a:lnTo>
                      <a:cubicBezTo>
                        <a:pt x="9" y="0"/>
                        <a:pt x="1" y="8"/>
                        <a:pt x="1" y="17"/>
                      </a:cubicBezTo>
                      <a:lnTo>
                        <a:pt x="1" y="24"/>
                      </a:lnTo>
                      <a:cubicBezTo>
                        <a:pt x="0" y="33"/>
                        <a:pt x="7" y="41"/>
                        <a:pt x="17" y="41"/>
                      </a:cubicBezTo>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8"/>
                <p:cNvSpPr/>
                <p:nvPr/>
              </p:nvSpPr>
              <p:spPr>
                <a:xfrm>
                  <a:off x="2037308" y="3776975"/>
                  <a:ext cx="224644" cy="171994"/>
                </a:xfrm>
                <a:custGeom>
                  <a:rect b="b" l="l" r="r" t="t"/>
                  <a:pathLst>
                    <a:path extrusionOk="0" h="803" w="1057">
                      <a:moveTo>
                        <a:pt x="1057" y="120"/>
                      </a:moveTo>
                      <a:cubicBezTo>
                        <a:pt x="1057" y="120"/>
                        <a:pt x="949" y="0"/>
                        <a:pt x="712" y="70"/>
                      </a:cubicBezTo>
                      <a:cubicBezTo>
                        <a:pt x="474" y="141"/>
                        <a:pt x="287" y="520"/>
                        <a:pt x="0" y="524"/>
                      </a:cubicBezTo>
                      <a:cubicBezTo>
                        <a:pt x="0" y="524"/>
                        <a:pt x="274" y="803"/>
                        <a:pt x="624" y="616"/>
                      </a:cubicBezTo>
                      <a:cubicBezTo>
                        <a:pt x="974" y="428"/>
                        <a:pt x="1057" y="120"/>
                        <a:pt x="1057" y="120"/>
                      </a:cubicBezTo>
                      <a:close/>
                    </a:path>
                  </a:pathLst>
                </a:custGeom>
                <a:solidFill>
                  <a:srgbClr val="1E12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8"/>
                <p:cNvSpPr/>
                <p:nvPr/>
              </p:nvSpPr>
              <p:spPr>
                <a:xfrm>
                  <a:off x="2735810" y="4022679"/>
                  <a:ext cx="238684" cy="277295"/>
                </a:xfrm>
                <a:custGeom>
                  <a:rect b="b" l="l" r="r" t="t"/>
                  <a:pathLst>
                    <a:path extrusionOk="0" h="1299" w="1137">
                      <a:moveTo>
                        <a:pt x="0" y="840"/>
                      </a:moveTo>
                      <a:lnTo>
                        <a:pt x="263" y="688"/>
                      </a:lnTo>
                      <a:lnTo>
                        <a:pt x="264" y="557"/>
                      </a:lnTo>
                      <a:cubicBezTo>
                        <a:pt x="265" y="444"/>
                        <a:pt x="295" y="334"/>
                        <a:pt x="351" y="236"/>
                      </a:cubicBezTo>
                      <a:lnTo>
                        <a:pt x="487" y="0"/>
                      </a:lnTo>
                      <a:lnTo>
                        <a:pt x="1137" y="462"/>
                      </a:lnTo>
                      <a:lnTo>
                        <a:pt x="894" y="857"/>
                      </a:lnTo>
                      <a:cubicBezTo>
                        <a:pt x="875" y="888"/>
                        <a:pt x="849" y="914"/>
                        <a:pt x="818" y="932"/>
                      </a:cubicBezTo>
                      <a:lnTo>
                        <a:pt x="738" y="977"/>
                      </a:lnTo>
                      <a:lnTo>
                        <a:pt x="433" y="1299"/>
                      </a:lnTo>
                      <a:lnTo>
                        <a:pt x="0" y="84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8"/>
                <p:cNvSpPr/>
                <p:nvPr/>
              </p:nvSpPr>
              <p:spPr>
                <a:xfrm>
                  <a:off x="2837600" y="3927909"/>
                  <a:ext cx="147422" cy="157954"/>
                </a:xfrm>
                <a:custGeom>
                  <a:rect b="b" l="l" r="r" t="t"/>
                  <a:pathLst>
                    <a:path extrusionOk="0" h="740" w="687">
                      <a:moveTo>
                        <a:pt x="0" y="454"/>
                      </a:moveTo>
                      <a:lnTo>
                        <a:pt x="534" y="29"/>
                      </a:lnTo>
                      <a:cubicBezTo>
                        <a:pt x="571" y="0"/>
                        <a:pt x="623" y="4"/>
                        <a:pt x="654" y="38"/>
                      </a:cubicBezTo>
                      <a:cubicBezTo>
                        <a:pt x="685" y="70"/>
                        <a:pt x="687" y="121"/>
                        <a:pt x="658" y="155"/>
                      </a:cubicBezTo>
                      <a:lnTo>
                        <a:pt x="171" y="740"/>
                      </a:lnTo>
                      <a:lnTo>
                        <a:pt x="0" y="454"/>
                      </a:ln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8"/>
                <p:cNvSpPr/>
                <p:nvPr/>
              </p:nvSpPr>
              <p:spPr>
                <a:xfrm>
                  <a:off x="2841111" y="4005130"/>
                  <a:ext cx="140402" cy="115833"/>
                </a:xfrm>
                <a:custGeom>
                  <a:rect b="b" l="l" r="r" t="t"/>
                  <a:pathLst>
                    <a:path extrusionOk="0" h="560" w="674">
                      <a:moveTo>
                        <a:pt x="427" y="0"/>
                      </a:moveTo>
                      <a:lnTo>
                        <a:pt x="497" y="69"/>
                      </a:lnTo>
                      <a:cubicBezTo>
                        <a:pt x="529" y="100"/>
                        <a:pt x="536" y="149"/>
                        <a:pt x="514" y="189"/>
                      </a:cubicBezTo>
                      <a:lnTo>
                        <a:pt x="512" y="193"/>
                      </a:lnTo>
                      <a:lnTo>
                        <a:pt x="574" y="251"/>
                      </a:lnTo>
                      <a:cubicBezTo>
                        <a:pt x="604" y="280"/>
                        <a:pt x="613" y="323"/>
                        <a:pt x="598" y="361"/>
                      </a:cubicBezTo>
                      <a:lnTo>
                        <a:pt x="597" y="365"/>
                      </a:lnTo>
                      <a:lnTo>
                        <a:pt x="642" y="417"/>
                      </a:lnTo>
                      <a:cubicBezTo>
                        <a:pt x="669" y="449"/>
                        <a:pt x="674" y="495"/>
                        <a:pt x="653" y="532"/>
                      </a:cubicBezTo>
                      <a:lnTo>
                        <a:pt x="638" y="560"/>
                      </a:lnTo>
                      <a:lnTo>
                        <a:pt x="93" y="527"/>
                      </a:lnTo>
                      <a:lnTo>
                        <a:pt x="0" y="372"/>
                      </a:lnTo>
                      <a:lnTo>
                        <a:pt x="427"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8"/>
                <p:cNvSpPr/>
                <p:nvPr/>
              </p:nvSpPr>
              <p:spPr>
                <a:xfrm>
                  <a:off x="2897272" y="4005130"/>
                  <a:ext cx="42121" cy="42121"/>
                </a:xfrm>
                <a:custGeom>
                  <a:rect b="b" l="l" r="r" t="t"/>
                  <a:pathLst>
                    <a:path extrusionOk="0" h="184" w="201">
                      <a:moveTo>
                        <a:pt x="14" y="184"/>
                      </a:moveTo>
                      <a:cubicBezTo>
                        <a:pt x="11" y="184"/>
                        <a:pt x="7" y="183"/>
                        <a:pt x="5" y="180"/>
                      </a:cubicBezTo>
                      <a:cubicBezTo>
                        <a:pt x="0" y="175"/>
                        <a:pt x="1" y="167"/>
                        <a:pt x="6" y="163"/>
                      </a:cubicBezTo>
                      <a:lnTo>
                        <a:pt x="179" y="5"/>
                      </a:lnTo>
                      <a:cubicBezTo>
                        <a:pt x="184" y="0"/>
                        <a:pt x="192" y="1"/>
                        <a:pt x="197" y="6"/>
                      </a:cubicBezTo>
                      <a:cubicBezTo>
                        <a:pt x="201" y="11"/>
                        <a:pt x="201" y="19"/>
                        <a:pt x="196" y="24"/>
                      </a:cubicBezTo>
                      <a:lnTo>
                        <a:pt x="23" y="181"/>
                      </a:lnTo>
                      <a:cubicBezTo>
                        <a:pt x="20" y="183"/>
                        <a:pt x="17" y="184"/>
                        <a:pt x="14" y="184"/>
                      </a:cubicBezTo>
                      <a:close/>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8"/>
                <p:cNvSpPr/>
                <p:nvPr/>
              </p:nvSpPr>
              <p:spPr>
                <a:xfrm>
                  <a:off x="2921842" y="4040230"/>
                  <a:ext cx="31592" cy="31592"/>
                </a:xfrm>
                <a:custGeom>
                  <a:rect b="b" l="l" r="r" t="t"/>
                  <a:pathLst>
                    <a:path extrusionOk="0" h="148" w="147">
                      <a:moveTo>
                        <a:pt x="14" y="148"/>
                      </a:moveTo>
                      <a:cubicBezTo>
                        <a:pt x="10" y="148"/>
                        <a:pt x="7" y="147"/>
                        <a:pt x="5" y="145"/>
                      </a:cubicBezTo>
                      <a:cubicBezTo>
                        <a:pt x="0" y="140"/>
                        <a:pt x="0" y="132"/>
                        <a:pt x="5" y="127"/>
                      </a:cubicBezTo>
                      <a:cubicBezTo>
                        <a:pt x="46" y="88"/>
                        <a:pt x="114" y="21"/>
                        <a:pt x="121" y="8"/>
                      </a:cubicBezTo>
                      <a:cubicBezTo>
                        <a:pt x="125" y="2"/>
                        <a:pt x="133" y="0"/>
                        <a:pt x="139" y="4"/>
                      </a:cubicBezTo>
                      <a:cubicBezTo>
                        <a:pt x="145" y="7"/>
                        <a:pt x="147" y="15"/>
                        <a:pt x="143" y="21"/>
                      </a:cubicBezTo>
                      <a:cubicBezTo>
                        <a:pt x="131" y="41"/>
                        <a:pt x="40" y="128"/>
                        <a:pt x="22" y="145"/>
                      </a:cubicBezTo>
                      <a:cubicBezTo>
                        <a:pt x="20" y="147"/>
                        <a:pt x="17" y="148"/>
                        <a:pt x="14" y="148"/>
                      </a:cubicBezTo>
                      <a:close/>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8"/>
                <p:cNvSpPr/>
                <p:nvPr/>
              </p:nvSpPr>
              <p:spPr>
                <a:xfrm>
                  <a:off x="2942902" y="4078840"/>
                  <a:ext cx="28080" cy="24571"/>
                </a:xfrm>
                <a:custGeom>
                  <a:rect b="b" l="l" r="r" t="t"/>
                  <a:pathLst>
                    <a:path extrusionOk="0" h="124" w="123">
                      <a:moveTo>
                        <a:pt x="14" y="124"/>
                      </a:moveTo>
                      <a:cubicBezTo>
                        <a:pt x="11" y="124"/>
                        <a:pt x="8" y="123"/>
                        <a:pt x="5" y="121"/>
                      </a:cubicBezTo>
                      <a:cubicBezTo>
                        <a:pt x="0" y="116"/>
                        <a:pt x="0" y="108"/>
                        <a:pt x="5" y="103"/>
                      </a:cubicBezTo>
                      <a:lnTo>
                        <a:pt x="100" y="5"/>
                      </a:lnTo>
                      <a:cubicBezTo>
                        <a:pt x="105" y="0"/>
                        <a:pt x="113" y="0"/>
                        <a:pt x="118" y="5"/>
                      </a:cubicBezTo>
                      <a:cubicBezTo>
                        <a:pt x="123" y="9"/>
                        <a:pt x="123" y="17"/>
                        <a:pt x="118" y="22"/>
                      </a:cubicBezTo>
                      <a:lnTo>
                        <a:pt x="23" y="121"/>
                      </a:lnTo>
                      <a:cubicBezTo>
                        <a:pt x="21" y="123"/>
                        <a:pt x="17" y="124"/>
                        <a:pt x="14" y="124"/>
                      </a:cubicBezTo>
                      <a:close/>
                    </a:path>
                  </a:pathLst>
                </a:custGeom>
                <a:solidFill>
                  <a:srgbClr val="F13E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8"/>
                <p:cNvSpPr/>
                <p:nvPr/>
              </p:nvSpPr>
              <p:spPr>
                <a:xfrm>
                  <a:off x="2002207" y="3955989"/>
                  <a:ext cx="874005" cy="498428"/>
                </a:xfrm>
                <a:custGeom>
                  <a:rect b="b" l="l" r="r" t="t"/>
                  <a:pathLst>
                    <a:path extrusionOk="0" h="2359" w="4130">
                      <a:moveTo>
                        <a:pt x="1207" y="0"/>
                      </a:moveTo>
                      <a:cubicBezTo>
                        <a:pt x="1207" y="0"/>
                        <a:pt x="2101" y="215"/>
                        <a:pt x="2423" y="399"/>
                      </a:cubicBezTo>
                      <a:cubicBezTo>
                        <a:pt x="2683" y="548"/>
                        <a:pt x="3239" y="1274"/>
                        <a:pt x="3239" y="1274"/>
                      </a:cubicBezTo>
                      <a:lnTo>
                        <a:pt x="3708" y="1021"/>
                      </a:lnTo>
                      <a:lnTo>
                        <a:pt x="4130" y="1448"/>
                      </a:lnTo>
                      <a:cubicBezTo>
                        <a:pt x="4130" y="1448"/>
                        <a:pt x="3553" y="2359"/>
                        <a:pt x="3064" y="2231"/>
                      </a:cubicBezTo>
                      <a:cubicBezTo>
                        <a:pt x="2748" y="2149"/>
                        <a:pt x="2190" y="1632"/>
                        <a:pt x="2190" y="1632"/>
                      </a:cubicBezTo>
                      <a:lnTo>
                        <a:pt x="1857" y="2148"/>
                      </a:lnTo>
                      <a:lnTo>
                        <a:pt x="0" y="2148"/>
                      </a:lnTo>
                      <a:lnTo>
                        <a:pt x="333" y="453"/>
                      </a:lnTo>
                      <a:lnTo>
                        <a:pt x="1207"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8"/>
                <p:cNvSpPr/>
                <p:nvPr/>
              </p:nvSpPr>
              <p:spPr>
                <a:xfrm>
                  <a:off x="2370764" y="3787506"/>
                  <a:ext cx="56161" cy="49141"/>
                </a:xfrm>
                <a:custGeom>
                  <a:rect b="b" l="l" r="r" t="t"/>
                  <a:pathLst>
                    <a:path extrusionOk="0" h="241" w="264">
                      <a:moveTo>
                        <a:pt x="14" y="241"/>
                      </a:moveTo>
                      <a:cubicBezTo>
                        <a:pt x="9" y="241"/>
                        <a:pt x="4" y="238"/>
                        <a:pt x="3" y="233"/>
                      </a:cubicBezTo>
                      <a:cubicBezTo>
                        <a:pt x="0" y="226"/>
                        <a:pt x="4" y="219"/>
                        <a:pt x="10" y="217"/>
                      </a:cubicBezTo>
                      <a:cubicBezTo>
                        <a:pt x="109" y="182"/>
                        <a:pt x="195" y="105"/>
                        <a:pt x="238" y="9"/>
                      </a:cubicBezTo>
                      <a:cubicBezTo>
                        <a:pt x="241" y="3"/>
                        <a:pt x="249" y="0"/>
                        <a:pt x="255" y="3"/>
                      </a:cubicBezTo>
                      <a:cubicBezTo>
                        <a:pt x="261" y="6"/>
                        <a:pt x="264" y="14"/>
                        <a:pt x="261" y="20"/>
                      </a:cubicBezTo>
                      <a:cubicBezTo>
                        <a:pt x="215" y="121"/>
                        <a:pt x="124" y="204"/>
                        <a:pt x="19" y="241"/>
                      </a:cubicBezTo>
                      <a:lnTo>
                        <a:pt x="14" y="241"/>
                      </a:lnTo>
                    </a:path>
                  </a:pathLst>
                </a:custGeom>
                <a:solidFill>
                  <a:srgbClr val="160B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8"/>
                <p:cNvSpPr/>
                <p:nvPr/>
              </p:nvSpPr>
              <p:spPr>
                <a:xfrm>
                  <a:off x="2268971" y="3787506"/>
                  <a:ext cx="133382" cy="31592"/>
                </a:xfrm>
                <a:custGeom>
                  <a:rect b="b" l="l" r="r" t="t"/>
                  <a:pathLst>
                    <a:path extrusionOk="0" h="159" w="628">
                      <a:moveTo>
                        <a:pt x="98" y="159"/>
                      </a:moveTo>
                      <a:cubicBezTo>
                        <a:pt x="69" y="159"/>
                        <a:pt x="40" y="158"/>
                        <a:pt x="12" y="156"/>
                      </a:cubicBezTo>
                      <a:cubicBezTo>
                        <a:pt x="5" y="155"/>
                        <a:pt x="0" y="149"/>
                        <a:pt x="0" y="142"/>
                      </a:cubicBezTo>
                      <a:cubicBezTo>
                        <a:pt x="1" y="135"/>
                        <a:pt x="7" y="130"/>
                        <a:pt x="14" y="130"/>
                      </a:cubicBezTo>
                      <a:cubicBezTo>
                        <a:pt x="217" y="147"/>
                        <a:pt x="428" y="102"/>
                        <a:pt x="607" y="4"/>
                      </a:cubicBezTo>
                      <a:cubicBezTo>
                        <a:pt x="613" y="0"/>
                        <a:pt x="621" y="3"/>
                        <a:pt x="624" y="9"/>
                      </a:cubicBezTo>
                      <a:cubicBezTo>
                        <a:pt x="628" y="15"/>
                        <a:pt x="626" y="22"/>
                        <a:pt x="619" y="26"/>
                      </a:cubicBezTo>
                      <a:cubicBezTo>
                        <a:pt x="461" y="113"/>
                        <a:pt x="279" y="159"/>
                        <a:pt x="98" y="159"/>
                      </a:cubicBezTo>
                      <a:close/>
                    </a:path>
                  </a:pathLst>
                </a:custGeom>
                <a:solidFill>
                  <a:srgbClr val="160B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8"/>
                <p:cNvSpPr/>
                <p:nvPr/>
              </p:nvSpPr>
              <p:spPr>
                <a:xfrm>
                  <a:off x="2258442" y="3826116"/>
                  <a:ext cx="52652" cy="21060"/>
                </a:xfrm>
                <a:custGeom>
                  <a:rect b="b" l="l" r="r" t="t"/>
                  <a:pathLst>
                    <a:path extrusionOk="0" h="93" w="248">
                      <a:moveTo>
                        <a:pt x="225" y="93"/>
                      </a:moveTo>
                      <a:cubicBezTo>
                        <a:pt x="148" y="93"/>
                        <a:pt x="71" y="69"/>
                        <a:pt x="7" y="25"/>
                      </a:cubicBezTo>
                      <a:cubicBezTo>
                        <a:pt x="2" y="21"/>
                        <a:pt x="0" y="13"/>
                        <a:pt x="4" y="8"/>
                      </a:cubicBezTo>
                      <a:cubicBezTo>
                        <a:pt x="8" y="2"/>
                        <a:pt x="16" y="0"/>
                        <a:pt x="22" y="4"/>
                      </a:cubicBezTo>
                      <a:cubicBezTo>
                        <a:pt x="84" y="48"/>
                        <a:pt x="160" y="70"/>
                        <a:pt x="235" y="68"/>
                      </a:cubicBezTo>
                      <a:cubicBezTo>
                        <a:pt x="242" y="68"/>
                        <a:pt x="248" y="73"/>
                        <a:pt x="248" y="80"/>
                      </a:cubicBezTo>
                      <a:cubicBezTo>
                        <a:pt x="248" y="87"/>
                        <a:pt x="243" y="93"/>
                        <a:pt x="236" y="93"/>
                      </a:cubicBezTo>
                      <a:cubicBezTo>
                        <a:pt x="232" y="93"/>
                        <a:pt x="229" y="93"/>
                        <a:pt x="225" y="93"/>
                      </a:cubicBezTo>
                    </a:path>
                  </a:pathLst>
                </a:custGeom>
                <a:solidFill>
                  <a:srgbClr val="160B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8"/>
                <p:cNvSpPr/>
                <p:nvPr/>
              </p:nvSpPr>
              <p:spPr>
                <a:xfrm>
                  <a:off x="2096980" y="3808567"/>
                  <a:ext cx="136893" cy="73712"/>
                </a:xfrm>
                <a:custGeom>
                  <a:rect b="b" l="l" r="r" t="t"/>
                  <a:pathLst>
                    <a:path extrusionOk="0" h="344" w="659">
                      <a:moveTo>
                        <a:pt x="13" y="344"/>
                      </a:moveTo>
                      <a:cubicBezTo>
                        <a:pt x="7" y="344"/>
                        <a:pt x="2" y="340"/>
                        <a:pt x="1" y="334"/>
                      </a:cubicBezTo>
                      <a:cubicBezTo>
                        <a:pt x="0" y="327"/>
                        <a:pt x="4" y="320"/>
                        <a:pt x="11" y="319"/>
                      </a:cubicBezTo>
                      <a:cubicBezTo>
                        <a:pt x="122" y="303"/>
                        <a:pt x="259" y="282"/>
                        <a:pt x="353" y="199"/>
                      </a:cubicBezTo>
                      <a:cubicBezTo>
                        <a:pt x="374" y="180"/>
                        <a:pt x="393" y="158"/>
                        <a:pt x="411" y="137"/>
                      </a:cubicBezTo>
                      <a:cubicBezTo>
                        <a:pt x="431" y="114"/>
                        <a:pt x="451" y="91"/>
                        <a:pt x="474" y="71"/>
                      </a:cubicBezTo>
                      <a:cubicBezTo>
                        <a:pt x="519" y="32"/>
                        <a:pt x="588" y="0"/>
                        <a:pt x="650" y="27"/>
                      </a:cubicBezTo>
                      <a:cubicBezTo>
                        <a:pt x="656" y="30"/>
                        <a:pt x="659" y="37"/>
                        <a:pt x="657" y="43"/>
                      </a:cubicBezTo>
                      <a:cubicBezTo>
                        <a:pt x="654" y="50"/>
                        <a:pt x="646" y="53"/>
                        <a:pt x="640" y="50"/>
                      </a:cubicBezTo>
                      <a:cubicBezTo>
                        <a:pt x="589" y="28"/>
                        <a:pt x="529" y="56"/>
                        <a:pt x="491" y="90"/>
                      </a:cubicBezTo>
                      <a:cubicBezTo>
                        <a:pt x="469" y="109"/>
                        <a:pt x="449" y="131"/>
                        <a:pt x="430" y="153"/>
                      </a:cubicBezTo>
                      <a:cubicBezTo>
                        <a:pt x="411" y="175"/>
                        <a:pt x="392" y="198"/>
                        <a:pt x="370" y="218"/>
                      </a:cubicBezTo>
                      <a:cubicBezTo>
                        <a:pt x="270" y="306"/>
                        <a:pt x="129" y="327"/>
                        <a:pt x="15" y="344"/>
                      </a:cubicBezTo>
                      <a:lnTo>
                        <a:pt x="13" y="344"/>
                      </a:lnTo>
                    </a:path>
                  </a:pathLst>
                </a:custGeom>
                <a:solidFill>
                  <a:srgbClr val="160B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8"/>
                <p:cNvSpPr/>
                <p:nvPr/>
              </p:nvSpPr>
              <p:spPr>
                <a:xfrm>
                  <a:off x="2079428" y="3878768"/>
                  <a:ext cx="94773" cy="24571"/>
                </a:xfrm>
                <a:custGeom>
                  <a:rect b="b" l="l" r="r" t="t"/>
                  <a:pathLst>
                    <a:path extrusionOk="0" h="126" w="437">
                      <a:moveTo>
                        <a:pt x="94" y="126"/>
                      </a:moveTo>
                      <a:cubicBezTo>
                        <a:pt x="65" y="126"/>
                        <a:pt x="36" y="122"/>
                        <a:pt x="8" y="108"/>
                      </a:cubicBezTo>
                      <a:cubicBezTo>
                        <a:pt x="2" y="105"/>
                        <a:pt x="0" y="97"/>
                        <a:pt x="3" y="91"/>
                      </a:cubicBezTo>
                      <a:cubicBezTo>
                        <a:pt x="6" y="85"/>
                        <a:pt x="13" y="83"/>
                        <a:pt x="20" y="86"/>
                      </a:cubicBezTo>
                      <a:cubicBezTo>
                        <a:pt x="60" y="106"/>
                        <a:pt x="110" y="102"/>
                        <a:pt x="149" y="96"/>
                      </a:cubicBezTo>
                      <a:cubicBezTo>
                        <a:pt x="244" y="82"/>
                        <a:pt x="333" y="51"/>
                        <a:pt x="416" y="3"/>
                      </a:cubicBezTo>
                      <a:cubicBezTo>
                        <a:pt x="422" y="0"/>
                        <a:pt x="430" y="2"/>
                        <a:pt x="433" y="8"/>
                      </a:cubicBezTo>
                      <a:cubicBezTo>
                        <a:pt x="437" y="14"/>
                        <a:pt x="435" y="22"/>
                        <a:pt x="429" y="25"/>
                      </a:cubicBezTo>
                      <a:cubicBezTo>
                        <a:pt x="343" y="74"/>
                        <a:pt x="251" y="107"/>
                        <a:pt x="153" y="121"/>
                      </a:cubicBezTo>
                      <a:cubicBezTo>
                        <a:pt x="135" y="124"/>
                        <a:pt x="115" y="126"/>
                        <a:pt x="94" y="126"/>
                      </a:cubicBezTo>
                      <a:close/>
                    </a:path>
                  </a:pathLst>
                </a:custGeom>
                <a:solidFill>
                  <a:srgbClr val="160B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8"/>
                <p:cNvSpPr/>
                <p:nvPr/>
              </p:nvSpPr>
              <p:spPr>
                <a:xfrm>
                  <a:off x="2462025" y="4208713"/>
                  <a:ext cx="63181" cy="94773"/>
                </a:xfrm>
                <a:custGeom>
                  <a:rect b="b" l="l" r="r" t="t"/>
                  <a:pathLst>
                    <a:path extrusionOk="0" h="443" w="287">
                      <a:moveTo>
                        <a:pt x="14" y="443"/>
                      </a:moveTo>
                      <a:cubicBezTo>
                        <a:pt x="12" y="443"/>
                        <a:pt x="9" y="443"/>
                        <a:pt x="7" y="441"/>
                      </a:cubicBezTo>
                      <a:cubicBezTo>
                        <a:pt x="1" y="438"/>
                        <a:pt x="0" y="430"/>
                        <a:pt x="3" y="424"/>
                      </a:cubicBezTo>
                      <a:lnTo>
                        <a:pt x="261" y="8"/>
                      </a:lnTo>
                      <a:cubicBezTo>
                        <a:pt x="265" y="2"/>
                        <a:pt x="273" y="0"/>
                        <a:pt x="279" y="4"/>
                      </a:cubicBezTo>
                      <a:cubicBezTo>
                        <a:pt x="285" y="7"/>
                        <a:pt x="287" y="15"/>
                        <a:pt x="283" y="21"/>
                      </a:cubicBezTo>
                      <a:lnTo>
                        <a:pt x="25" y="437"/>
                      </a:lnTo>
                      <a:cubicBezTo>
                        <a:pt x="22" y="441"/>
                        <a:pt x="18" y="443"/>
                        <a:pt x="14" y="443"/>
                      </a:cubicBezTo>
                    </a:path>
                  </a:pathLst>
                </a:custGeom>
                <a:solidFill>
                  <a:srgbClr val="63B9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8"/>
                <p:cNvSpPr/>
                <p:nvPr/>
              </p:nvSpPr>
              <p:spPr>
                <a:xfrm>
                  <a:off x="2690178" y="4226262"/>
                  <a:ext cx="49141" cy="59672"/>
                </a:xfrm>
                <a:custGeom>
                  <a:rect b="b" l="l" r="r" t="t"/>
                  <a:pathLst>
                    <a:path extrusionOk="0" h="284" w="237">
                      <a:moveTo>
                        <a:pt x="223" y="284"/>
                      </a:moveTo>
                      <a:cubicBezTo>
                        <a:pt x="219" y="284"/>
                        <a:pt x="215" y="283"/>
                        <a:pt x="212" y="279"/>
                      </a:cubicBezTo>
                      <a:cubicBezTo>
                        <a:pt x="148" y="189"/>
                        <a:pt x="78" y="103"/>
                        <a:pt x="5" y="23"/>
                      </a:cubicBezTo>
                      <a:cubicBezTo>
                        <a:pt x="0" y="18"/>
                        <a:pt x="1" y="10"/>
                        <a:pt x="6" y="5"/>
                      </a:cubicBezTo>
                      <a:cubicBezTo>
                        <a:pt x="11" y="0"/>
                        <a:pt x="19" y="1"/>
                        <a:pt x="24" y="6"/>
                      </a:cubicBezTo>
                      <a:cubicBezTo>
                        <a:pt x="98" y="87"/>
                        <a:pt x="168" y="174"/>
                        <a:pt x="233" y="264"/>
                      </a:cubicBezTo>
                      <a:cubicBezTo>
                        <a:pt x="237" y="270"/>
                        <a:pt x="235" y="278"/>
                        <a:pt x="230" y="282"/>
                      </a:cubicBezTo>
                      <a:cubicBezTo>
                        <a:pt x="228" y="284"/>
                        <a:pt x="225" y="284"/>
                        <a:pt x="223" y="284"/>
                      </a:cubicBezTo>
                    </a:path>
                  </a:pathLst>
                </a:custGeom>
                <a:solidFill>
                  <a:srgbClr val="63B9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8"/>
                <p:cNvSpPr/>
                <p:nvPr/>
              </p:nvSpPr>
              <p:spPr>
                <a:xfrm>
                  <a:off x="2044328" y="3934929"/>
                  <a:ext cx="207094" cy="252724"/>
                </a:xfrm>
                <a:custGeom>
                  <a:rect b="b" l="l" r="r" t="t"/>
                  <a:pathLst>
                    <a:path extrusionOk="0" h="1193" w="976">
                      <a:moveTo>
                        <a:pt x="14" y="1193"/>
                      </a:moveTo>
                      <a:lnTo>
                        <a:pt x="11" y="1192"/>
                      </a:lnTo>
                      <a:cubicBezTo>
                        <a:pt x="4" y="1191"/>
                        <a:pt x="0" y="1184"/>
                        <a:pt x="2" y="1177"/>
                      </a:cubicBezTo>
                      <a:lnTo>
                        <a:pt x="137" y="583"/>
                      </a:lnTo>
                      <a:cubicBezTo>
                        <a:pt x="229" y="181"/>
                        <a:pt x="415" y="0"/>
                        <a:pt x="706" y="28"/>
                      </a:cubicBezTo>
                      <a:cubicBezTo>
                        <a:pt x="768" y="34"/>
                        <a:pt x="828" y="42"/>
                        <a:pt x="880" y="49"/>
                      </a:cubicBezTo>
                      <a:cubicBezTo>
                        <a:pt x="911" y="54"/>
                        <a:pt x="940" y="57"/>
                        <a:pt x="964" y="60"/>
                      </a:cubicBezTo>
                      <a:cubicBezTo>
                        <a:pt x="971" y="61"/>
                        <a:pt x="976" y="67"/>
                        <a:pt x="975" y="74"/>
                      </a:cubicBezTo>
                      <a:cubicBezTo>
                        <a:pt x="974" y="81"/>
                        <a:pt x="968" y="86"/>
                        <a:pt x="961" y="85"/>
                      </a:cubicBezTo>
                      <a:cubicBezTo>
                        <a:pt x="937" y="82"/>
                        <a:pt x="908" y="79"/>
                        <a:pt x="876" y="74"/>
                      </a:cubicBezTo>
                      <a:cubicBezTo>
                        <a:pt x="824" y="67"/>
                        <a:pt x="765" y="59"/>
                        <a:pt x="704" y="53"/>
                      </a:cubicBezTo>
                      <a:cubicBezTo>
                        <a:pt x="423" y="26"/>
                        <a:pt x="251" y="196"/>
                        <a:pt x="162" y="589"/>
                      </a:cubicBezTo>
                      <a:lnTo>
                        <a:pt x="26" y="1183"/>
                      </a:lnTo>
                      <a:cubicBezTo>
                        <a:pt x="25" y="1189"/>
                        <a:pt x="20" y="1193"/>
                        <a:pt x="14" y="1193"/>
                      </a:cubicBezTo>
                    </a:path>
                  </a:pathLst>
                </a:custGeom>
                <a:solidFill>
                  <a:srgbClr val="63B9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341" name="Google Shape;341;p8"/>
            <p:cNvSpPr txBox="1"/>
            <p:nvPr/>
          </p:nvSpPr>
          <p:spPr>
            <a:xfrm>
              <a:off x="1319775" y="1306213"/>
              <a:ext cx="2743200" cy="57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lt1"/>
                  </a:solidFill>
                  <a:latin typeface="Montserrat"/>
                  <a:ea typeface="Montserrat"/>
                  <a:cs typeface="Montserrat"/>
                  <a:sym typeface="Montserrat"/>
                </a:rPr>
                <a:t>Predictive </a:t>
              </a:r>
              <a:endParaRPr sz="1300">
                <a:solidFill>
                  <a:schemeClr val="lt1"/>
                </a:solidFill>
                <a:latin typeface="Montserrat"/>
                <a:ea typeface="Montserrat"/>
                <a:cs typeface="Montserrat"/>
                <a:sym typeface="Montserrat"/>
              </a:endParaRPr>
            </a:p>
            <a:p>
              <a:pPr indent="0" lvl="0" marL="0" marR="0" rtl="0" algn="l">
                <a:spcBef>
                  <a:spcPts val="0"/>
                </a:spcBef>
                <a:spcAft>
                  <a:spcPts val="0"/>
                </a:spcAft>
                <a:buNone/>
              </a:pPr>
              <a:r>
                <a:rPr lang="en-US" sz="1300">
                  <a:solidFill>
                    <a:schemeClr val="lt1"/>
                  </a:solidFill>
                  <a:latin typeface="Montserrat"/>
                  <a:ea typeface="Montserrat"/>
                  <a:cs typeface="Montserrat"/>
                  <a:sym typeface="Montserrat"/>
                </a:rPr>
                <a:t>Analytics</a:t>
              </a:r>
              <a:endParaRPr sz="1300">
                <a:solidFill>
                  <a:schemeClr val="lt1"/>
                </a:solidFill>
                <a:latin typeface="Montserrat"/>
                <a:ea typeface="Montserrat"/>
                <a:cs typeface="Montserrat"/>
                <a:sym typeface="Montserrat"/>
              </a:endParaRPr>
            </a:p>
          </p:txBody>
        </p:sp>
      </p:grpSp>
      <p:sp>
        <p:nvSpPr>
          <p:cNvPr id="342" name="Google Shape;342;p8"/>
          <p:cNvSpPr txBox="1"/>
          <p:nvPr/>
        </p:nvSpPr>
        <p:spPr>
          <a:xfrm>
            <a:off x="7170913" y="382994"/>
            <a:ext cx="4170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Approach</a:t>
            </a:r>
            <a:endParaRPr sz="3600">
              <a:solidFill>
                <a:schemeClr val="dk2"/>
              </a:solidFill>
              <a:latin typeface="Montserrat SemiBold"/>
              <a:ea typeface="Montserrat SemiBold"/>
              <a:cs typeface="Montserrat SemiBold"/>
              <a:sym typeface="Montserrat SemiBold"/>
            </a:endParaRPr>
          </a:p>
        </p:txBody>
      </p:sp>
      <p:sp>
        <p:nvSpPr>
          <p:cNvPr id="343" name="Google Shape;343;p8"/>
          <p:cNvSpPr txBox="1"/>
          <p:nvPr/>
        </p:nvSpPr>
        <p:spPr>
          <a:xfrm>
            <a:off x="6293349" y="1170050"/>
            <a:ext cx="56700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700">
                <a:solidFill>
                  <a:srgbClr val="DD7E6B"/>
                </a:solidFill>
                <a:latin typeface="Calibri"/>
                <a:ea typeface="Calibri"/>
                <a:cs typeface="Calibri"/>
                <a:sym typeface="Calibri"/>
              </a:rPr>
              <a:t>Dataset was source from Global Terrorism Database (GTD)</a:t>
            </a:r>
            <a:endParaRPr b="1" sz="1700">
              <a:solidFill>
                <a:srgbClr val="DD7E6B"/>
              </a:solidFill>
              <a:latin typeface="Calibri"/>
              <a:ea typeface="Calibri"/>
              <a:cs typeface="Calibri"/>
              <a:sym typeface="Calibri"/>
            </a:endParaRPr>
          </a:p>
        </p:txBody>
      </p:sp>
      <p:sp>
        <p:nvSpPr>
          <p:cNvPr id="344" name="Google Shape;344;p8"/>
          <p:cNvSpPr txBox="1"/>
          <p:nvPr/>
        </p:nvSpPr>
        <p:spPr>
          <a:xfrm>
            <a:off x="5564050" y="1970425"/>
            <a:ext cx="6328500" cy="4117500"/>
          </a:xfrm>
          <a:prstGeom prst="rect">
            <a:avLst/>
          </a:prstGeom>
          <a:noFill/>
          <a:ln>
            <a:noFill/>
          </a:ln>
        </p:spPr>
        <p:txBody>
          <a:bodyPr anchorCtr="0" anchor="t" bIns="45700" lIns="91425" spcFirstLastPara="1" rIns="91425" wrap="square" tIns="45700">
            <a:spAutoFit/>
          </a:bodyPr>
          <a:lstStyle/>
          <a:p>
            <a:pPr indent="-323850" lvl="0" marL="457200" rtl="0" algn="just">
              <a:lnSpc>
                <a:spcPct val="115000"/>
              </a:lnSpc>
              <a:spcBef>
                <a:spcPts val="0"/>
              </a:spcBef>
              <a:spcAft>
                <a:spcPts val="0"/>
              </a:spcAft>
              <a:buClr>
                <a:schemeClr val="dk2"/>
              </a:buClr>
              <a:buSzPts val="1500"/>
              <a:buFont typeface="Roboto"/>
              <a:buChar char="●"/>
            </a:pPr>
            <a:r>
              <a:rPr b="1" lang="en-US" sz="1500">
                <a:solidFill>
                  <a:schemeClr val="dk2"/>
                </a:solidFill>
                <a:latin typeface="Calibri"/>
                <a:ea typeface="Calibri"/>
                <a:cs typeface="Calibri"/>
                <a:sym typeface="Calibri"/>
              </a:rPr>
              <a:t>Exploratory Data Analysis (EDA):</a:t>
            </a:r>
            <a:r>
              <a:rPr lang="en-US" sz="1500">
                <a:solidFill>
                  <a:schemeClr val="dk2"/>
                </a:solidFill>
                <a:latin typeface="Calibri"/>
                <a:ea typeface="Calibri"/>
                <a:cs typeface="Calibri"/>
                <a:sym typeface="Calibri"/>
              </a:rPr>
              <a:t> Before diving into Deep Learning modeling, an in-depth exploratory analysis will be conducted to understand the underlying data structure,, and identify significant patterns and correlations. </a:t>
            </a:r>
            <a:endParaRPr sz="1700">
              <a:solidFill>
                <a:schemeClr val="dk2"/>
              </a:solidFill>
              <a:latin typeface="Calibri"/>
              <a:ea typeface="Calibri"/>
              <a:cs typeface="Calibri"/>
              <a:sym typeface="Calibri"/>
            </a:endParaRPr>
          </a:p>
          <a:p>
            <a:pPr indent="-323850" lvl="0" marL="457200" rtl="0" algn="just">
              <a:lnSpc>
                <a:spcPct val="115000"/>
              </a:lnSpc>
              <a:spcBef>
                <a:spcPts val="0"/>
              </a:spcBef>
              <a:spcAft>
                <a:spcPts val="0"/>
              </a:spcAft>
              <a:buClr>
                <a:schemeClr val="dk2"/>
              </a:buClr>
              <a:buSzPts val="1500"/>
              <a:buFont typeface="Roboto"/>
              <a:buChar char="●"/>
            </a:pPr>
            <a:r>
              <a:rPr b="1" lang="en-US" sz="1500">
                <a:solidFill>
                  <a:schemeClr val="dk2"/>
                </a:solidFill>
                <a:latin typeface="Calibri"/>
                <a:ea typeface="Calibri"/>
                <a:cs typeface="Calibri"/>
                <a:sym typeface="Calibri"/>
              </a:rPr>
              <a:t>Time-Series Analysis:</a:t>
            </a:r>
            <a:r>
              <a:rPr lang="en-US" sz="1500">
                <a:solidFill>
                  <a:schemeClr val="dk2"/>
                </a:solidFill>
                <a:latin typeface="Calibri"/>
                <a:ea typeface="Calibri"/>
                <a:cs typeface="Calibri"/>
                <a:sym typeface="Calibri"/>
              </a:rPr>
              <a:t> Utilizing Long Short-Term Memory (LSTM) networks to capture the temporal patterns of terrorist activities, recognizing dependencies and trends over time that may not be apparent through traditional analysis methods.</a:t>
            </a:r>
            <a:endParaRPr sz="1500">
              <a:solidFill>
                <a:schemeClr val="dk2"/>
              </a:solidFill>
              <a:latin typeface="Calibri"/>
              <a:ea typeface="Calibri"/>
              <a:cs typeface="Calibri"/>
              <a:sym typeface="Calibri"/>
            </a:endParaRPr>
          </a:p>
          <a:p>
            <a:pPr indent="-323850" lvl="0" marL="457200" rtl="0" algn="just">
              <a:lnSpc>
                <a:spcPct val="115000"/>
              </a:lnSpc>
              <a:spcBef>
                <a:spcPts val="0"/>
              </a:spcBef>
              <a:spcAft>
                <a:spcPts val="0"/>
              </a:spcAft>
              <a:buClr>
                <a:schemeClr val="dk2"/>
              </a:buClr>
              <a:buSzPts val="1500"/>
              <a:buFont typeface="Roboto"/>
              <a:buChar char="●"/>
            </a:pPr>
            <a:r>
              <a:rPr b="1" lang="en-US" sz="1500">
                <a:solidFill>
                  <a:schemeClr val="dk2"/>
                </a:solidFill>
                <a:latin typeface="Calibri"/>
                <a:ea typeface="Calibri"/>
                <a:cs typeface="Calibri"/>
                <a:sym typeface="Calibri"/>
              </a:rPr>
              <a:t>Graph Neural Networks (GNNs):</a:t>
            </a:r>
            <a:r>
              <a:rPr lang="en-US" sz="1500">
                <a:solidFill>
                  <a:schemeClr val="dk2"/>
                </a:solidFill>
                <a:latin typeface="Calibri"/>
                <a:ea typeface="Calibri"/>
                <a:cs typeface="Calibri"/>
                <a:sym typeface="Calibri"/>
              </a:rPr>
              <a:t> Employing GNNs to understand h</a:t>
            </a:r>
            <a:r>
              <a:rPr lang="en-US" sz="1500">
                <a:solidFill>
                  <a:schemeClr val="dk2"/>
                </a:solidFill>
                <a:latin typeface="Calibri"/>
                <a:ea typeface="Calibri"/>
                <a:cs typeface="Calibri"/>
                <a:sym typeface="Calibri"/>
              </a:rPr>
              <a:t>ow can a GNNs can be utilized to predict the type of terrorist attacks based on the relational data of locations, dates, and attack types.</a:t>
            </a:r>
            <a:r>
              <a:rPr lang="en-US" sz="1500">
                <a:solidFill>
                  <a:schemeClr val="dk2"/>
                </a:solidFill>
                <a:latin typeface="Calibri"/>
                <a:ea typeface="Calibri"/>
                <a:cs typeface="Calibri"/>
                <a:sym typeface="Calibri"/>
              </a:rPr>
              <a:t> This includes creating a graph where nodes represent different entities such as locations, dates, and groups, and edges represent relationships like proximity, similarity in attack methods, or common targets.</a:t>
            </a:r>
            <a:endParaRPr sz="1500">
              <a:solidFill>
                <a:schemeClr val="dk2"/>
              </a:solidFill>
              <a:latin typeface="Calibri"/>
              <a:ea typeface="Calibri"/>
              <a:cs typeface="Calibri"/>
              <a:sym typeface="Calibri"/>
            </a:endParaRPr>
          </a:p>
          <a:p>
            <a:pPr indent="0" lvl="0" marL="0" marR="0" rtl="0" algn="l">
              <a:lnSpc>
                <a:spcPct val="150000"/>
              </a:lnSpc>
              <a:spcBef>
                <a:spcPts val="1200"/>
              </a:spcBef>
              <a:spcAft>
                <a:spcPts val="0"/>
              </a:spcAft>
              <a:buNone/>
            </a:pPr>
            <a:r>
              <a:t/>
            </a:r>
            <a:endParaRPr sz="1000">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9"/>
          <p:cNvSpPr txBox="1"/>
          <p:nvPr/>
        </p:nvSpPr>
        <p:spPr>
          <a:xfrm>
            <a:off x="682723" y="597878"/>
            <a:ext cx="8558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Dataset Overview</a:t>
            </a:r>
            <a:endParaRPr/>
          </a:p>
        </p:txBody>
      </p:sp>
      <p:sp>
        <p:nvSpPr>
          <p:cNvPr id="351" name="Google Shape;351;p9"/>
          <p:cNvSpPr txBox="1"/>
          <p:nvPr/>
        </p:nvSpPr>
        <p:spPr>
          <a:xfrm>
            <a:off x="447000" y="1552750"/>
            <a:ext cx="10681200" cy="43407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dk2"/>
              </a:buClr>
              <a:buSzPts val="1500"/>
              <a:buChar char="●"/>
            </a:pPr>
            <a:r>
              <a:rPr b="1" lang="en-US" sz="1500">
                <a:solidFill>
                  <a:schemeClr val="dk2"/>
                </a:solidFill>
                <a:latin typeface="Calibri"/>
                <a:ea typeface="Calibri"/>
                <a:cs typeface="Calibri"/>
                <a:sym typeface="Calibri"/>
              </a:rPr>
              <a:t>Size</a:t>
            </a:r>
            <a:r>
              <a:rPr lang="en-US" sz="1500">
                <a:solidFill>
                  <a:schemeClr val="dk2"/>
                </a:solidFill>
                <a:latin typeface="Calibri"/>
                <a:ea typeface="Calibri"/>
                <a:cs typeface="Calibri"/>
                <a:sym typeface="Calibri"/>
              </a:rPr>
              <a:t>: The dataset initially contained </a:t>
            </a:r>
            <a:r>
              <a:rPr b="1" lang="en-US" sz="1500">
                <a:solidFill>
                  <a:schemeClr val="dk2"/>
                </a:solidFill>
                <a:latin typeface="Calibri"/>
                <a:ea typeface="Calibri"/>
                <a:cs typeface="Calibri"/>
                <a:sym typeface="Calibri"/>
              </a:rPr>
              <a:t>170,350 rows</a:t>
            </a:r>
            <a:r>
              <a:rPr lang="en-US" sz="1500">
                <a:solidFill>
                  <a:schemeClr val="dk2"/>
                </a:solidFill>
                <a:latin typeface="Calibri"/>
                <a:ea typeface="Calibri"/>
                <a:cs typeface="Calibri"/>
                <a:sym typeface="Calibri"/>
              </a:rPr>
              <a:t> and </a:t>
            </a:r>
            <a:r>
              <a:rPr b="1" lang="en-US" sz="1500">
                <a:solidFill>
                  <a:schemeClr val="dk2"/>
                </a:solidFill>
                <a:latin typeface="Calibri"/>
                <a:ea typeface="Calibri"/>
                <a:cs typeface="Calibri"/>
                <a:sym typeface="Calibri"/>
              </a:rPr>
              <a:t>135 columns</a:t>
            </a:r>
            <a:r>
              <a:rPr lang="en-US" sz="1500">
                <a:solidFill>
                  <a:schemeClr val="dk2"/>
                </a:solidFill>
                <a:latin typeface="Calibri"/>
                <a:ea typeface="Calibri"/>
                <a:cs typeface="Calibri"/>
                <a:sym typeface="Calibri"/>
              </a:rPr>
              <a:t> before cleaning and selection. After the necessary preprocessing, it was reduced to </a:t>
            </a:r>
            <a:r>
              <a:rPr b="1" lang="en-US" sz="1500">
                <a:solidFill>
                  <a:schemeClr val="dk2"/>
                </a:solidFill>
                <a:latin typeface="Calibri"/>
                <a:ea typeface="Calibri"/>
                <a:cs typeface="Calibri"/>
                <a:sym typeface="Calibri"/>
              </a:rPr>
              <a:t>165,744 rows</a:t>
            </a:r>
            <a:r>
              <a:rPr lang="en-US" sz="1500">
                <a:solidFill>
                  <a:schemeClr val="dk2"/>
                </a:solidFill>
                <a:latin typeface="Calibri"/>
                <a:ea typeface="Calibri"/>
                <a:cs typeface="Calibri"/>
                <a:sym typeface="Calibri"/>
              </a:rPr>
              <a:t> and </a:t>
            </a:r>
            <a:r>
              <a:rPr b="1" lang="en-US" sz="1500">
                <a:solidFill>
                  <a:schemeClr val="dk2"/>
                </a:solidFill>
                <a:latin typeface="Calibri"/>
                <a:ea typeface="Calibri"/>
                <a:cs typeface="Calibri"/>
                <a:sym typeface="Calibri"/>
              </a:rPr>
              <a:t>22 columns</a:t>
            </a:r>
            <a:r>
              <a:rPr lang="en-US" sz="1500">
                <a:solidFill>
                  <a:schemeClr val="dk2"/>
                </a:solidFill>
                <a:latin typeface="Calibri"/>
                <a:ea typeface="Calibri"/>
                <a:cs typeface="Calibri"/>
                <a:sym typeface="Calibri"/>
              </a:rPr>
              <a:t>.</a:t>
            </a:r>
            <a:endParaRPr sz="1500">
              <a:solidFill>
                <a:schemeClr val="dk2"/>
              </a:solidFill>
              <a:latin typeface="Calibri"/>
              <a:ea typeface="Calibri"/>
              <a:cs typeface="Calibri"/>
              <a:sym typeface="Calibri"/>
            </a:endParaRPr>
          </a:p>
          <a:p>
            <a:pPr indent="-323850" lvl="0" marL="4572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Time Period</a:t>
            </a:r>
            <a:r>
              <a:rPr lang="en-US" sz="1500">
                <a:solidFill>
                  <a:schemeClr val="dk2"/>
                </a:solidFill>
                <a:latin typeface="Calibri"/>
                <a:ea typeface="Calibri"/>
                <a:cs typeface="Calibri"/>
                <a:sym typeface="Calibri"/>
              </a:rPr>
              <a:t>: The dataset spans from 1970 to 2016, with a median year of 2008, indicating a balanced distribution across recent decades.</a:t>
            </a:r>
            <a:endParaRPr sz="1500">
              <a:solidFill>
                <a:schemeClr val="dk2"/>
              </a:solidFill>
              <a:latin typeface="Calibri"/>
              <a:ea typeface="Calibri"/>
              <a:cs typeface="Calibri"/>
              <a:sym typeface="Calibri"/>
            </a:endParaRPr>
          </a:p>
          <a:p>
            <a:pPr indent="-323850" lvl="0" marL="4572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Main Features Used</a:t>
            </a:r>
            <a:r>
              <a:rPr lang="en-US" sz="1500">
                <a:solidFill>
                  <a:schemeClr val="dk2"/>
                </a:solidFill>
                <a:latin typeface="Calibri"/>
                <a:ea typeface="Calibri"/>
                <a:cs typeface="Calibri"/>
                <a:sym typeface="Calibri"/>
              </a:rPr>
              <a:t>:</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Font typeface="Calibri"/>
              <a:buChar char="○"/>
            </a:pPr>
            <a:r>
              <a:rPr b="1" lang="en-US" sz="1500">
                <a:solidFill>
                  <a:schemeClr val="dk2"/>
                </a:solidFill>
                <a:latin typeface="Calibri"/>
                <a:ea typeface="Calibri"/>
                <a:cs typeface="Calibri"/>
                <a:sym typeface="Calibri"/>
              </a:rPr>
              <a:t>Date</a:t>
            </a:r>
            <a:endParaRPr b="1"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Font typeface="Calibri"/>
              <a:buChar char="○"/>
            </a:pPr>
            <a:r>
              <a:rPr b="1" lang="en-US" sz="1500">
                <a:solidFill>
                  <a:schemeClr val="dk2"/>
                </a:solidFill>
                <a:latin typeface="Calibri"/>
                <a:ea typeface="Calibri"/>
                <a:cs typeface="Calibri"/>
                <a:sym typeface="Calibri"/>
              </a:rPr>
              <a:t>Attack Type</a:t>
            </a:r>
            <a:endParaRPr b="1"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Font typeface="Calibri"/>
              <a:buChar char="○"/>
            </a:pPr>
            <a:r>
              <a:rPr b="1" lang="en-US" sz="1500">
                <a:solidFill>
                  <a:schemeClr val="dk2"/>
                </a:solidFill>
                <a:latin typeface="Calibri"/>
                <a:ea typeface="Calibri"/>
                <a:cs typeface="Calibri"/>
                <a:sym typeface="Calibri"/>
              </a:rPr>
              <a:t>Target_type</a:t>
            </a:r>
            <a:endParaRPr b="1"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Font typeface="Calibri"/>
              <a:buChar char="○"/>
            </a:pPr>
            <a:r>
              <a:rPr b="1" lang="en-US" sz="1500">
                <a:solidFill>
                  <a:schemeClr val="dk2"/>
                </a:solidFill>
                <a:latin typeface="Calibri"/>
                <a:ea typeface="Calibri"/>
                <a:cs typeface="Calibri"/>
                <a:sym typeface="Calibri"/>
              </a:rPr>
              <a:t>Weapon_type</a:t>
            </a:r>
            <a:endParaRPr b="1"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Font typeface="Calibri"/>
              <a:buChar char="○"/>
            </a:pPr>
            <a:r>
              <a:rPr b="1" lang="en-US" sz="1500">
                <a:solidFill>
                  <a:schemeClr val="dk2"/>
                </a:solidFill>
                <a:latin typeface="Calibri"/>
                <a:ea typeface="Calibri"/>
                <a:cs typeface="Calibri"/>
                <a:sym typeface="Calibri"/>
              </a:rPr>
              <a:t>Country</a:t>
            </a:r>
            <a:endParaRPr b="1"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Latitude</a:t>
            </a:r>
            <a:r>
              <a:rPr lang="en-US" sz="1500">
                <a:solidFill>
                  <a:schemeClr val="dk2"/>
                </a:solidFill>
                <a:latin typeface="Calibri"/>
                <a:ea typeface="Calibri"/>
                <a:cs typeface="Calibri"/>
                <a:sym typeface="Calibri"/>
              </a:rPr>
              <a:t> and </a:t>
            </a:r>
            <a:r>
              <a:rPr b="1" lang="en-US" sz="1500">
                <a:solidFill>
                  <a:schemeClr val="dk2"/>
                </a:solidFill>
                <a:latin typeface="Calibri"/>
                <a:ea typeface="Calibri"/>
                <a:cs typeface="Calibri"/>
                <a:sym typeface="Calibri"/>
              </a:rPr>
              <a:t>Longitude</a:t>
            </a:r>
            <a:endParaRPr b="1" sz="1500">
              <a:solidFill>
                <a:schemeClr val="dk2"/>
              </a:solidFill>
              <a:latin typeface="Calibri"/>
              <a:ea typeface="Calibri"/>
              <a:cs typeface="Calibri"/>
              <a:sym typeface="Calibri"/>
            </a:endParaRPr>
          </a:p>
          <a:p>
            <a:pPr indent="-323850" lvl="0" marL="4572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Target Variables</a:t>
            </a:r>
            <a:r>
              <a:rPr lang="en-US" sz="1500">
                <a:solidFill>
                  <a:schemeClr val="dk2"/>
                </a:solidFill>
                <a:latin typeface="Calibri"/>
                <a:ea typeface="Calibri"/>
                <a:cs typeface="Calibri"/>
                <a:sym typeface="Calibri"/>
              </a:rPr>
              <a:t>:</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Attack_type</a:t>
            </a:r>
            <a:r>
              <a:rPr lang="en-US" sz="1500">
                <a:solidFill>
                  <a:schemeClr val="dk2"/>
                </a:solidFill>
                <a:latin typeface="Calibri"/>
                <a:ea typeface="Calibri"/>
                <a:cs typeface="Calibri"/>
                <a:sym typeface="Calibri"/>
              </a:rPr>
              <a:t>: The primary target variable.</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Attack Occurrence</a:t>
            </a:r>
            <a:r>
              <a:rPr lang="en-US" sz="1500">
                <a:solidFill>
                  <a:schemeClr val="dk2"/>
                </a:solidFill>
                <a:latin typeface="Calibri"/>
                <a:ea typeface="Calibri"/>
                <a:cs typeface="Calibri"/>
                <a:sym typeface="Calibri"/>
              </a:rPr>
              <a:t>: Another key target variable.</a:t>
            </a:r>
            <a:endParaRPr sz="15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0"/>
          <p:cNvSpPr txBox="1"/>
          <p:nvPr/>
        </p:nvSpPr>
        <p:spPr>
          <a:xfrm>
            <a:off x="552875" y="1588050"/>
            <a:ext cx="10528200" cy="469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t/>
            </a:r>
            <a:endParaRPr b="1" sz="2300">
              <a:solidFill>
                <a:schemeClr val="dk2"/>
              </a:solidFill>
            </a:endParaRPr>
          </a:p>
          <a:p>
            <a:pPr indent="0" lvl="0" marL="0" rtl="0" algn="l">
              <a:lnSpc>
                <a:spcPct val="115000"/>
              </a:lnSpc>
              <a:spcBef>
                <a:spcPts val="1200"/>
              </a:spcBef>
              <a:spcAft>
                <a:spcPts val="0"/>
              </a:spcAft>
              <a:buNone/>
            </a:pPr>
            <a:r>
              <a:rPr lang="en-US" sz="1500">
                <a:solidFill>
                  <a:schemeClr val="dk2"/>
                </a:solidFill>
                <a:latin typeface="Calibri"/>
                <a:ea typeface="Calibri"/>
                <a:cs typeface="Calibri"/>
                <a:sym typeface="Calibri"/>
              </a:rPr>
              <a:t>To ensure data consistency and completeness, I addressed missing values using the following techniques:</a:t>
            </a:r>
            <a:endParaRPr sz="1500">
              <a:solidFill>
                <a:schemeClr val="dk2"/>
              </a:solidFill>
              <a:latin typeface="Calibri"/>
              <a:ea typeface="Calibri"/>
              <a:cs typeface="Calibri"/>
              <a:sym typeface="Calibri"/>
            </a:endParaRPr>
          </a:p>
          <a:p>
            <a:pPr indent="-323850" lvl="0" marL="457200" rtl="0" algn="l">
              <a:lnSpc>
                <a:spcPct val="115000"/>
              </a:lnSpc>
              <a:spcBef>
                <a:spcPts val="1200"/>
              </a:spcBef>
              <a:spcAft>
                <a:spcPts val="0"/>
              </a:spcAft>
              <a:buClr>
                <a:schemeClr val="dk2"/>
              </a:buClr>
              <a:buSzPts val="1500"/>
              <a:buAutoNum type="arabicPeriod"/>
            </a:pPr>
            <a:r>
              <a:rPr b="1" lang="en-US" sz="1500">
                <a:solidFill>
                  <a:schemeClr val="dk2"/>
                </a:solidFill>
                <a:latin typeface="Calibri"/>
                <a:ea typeface="Calibri"/>
                <a:cs typeface="Calibri"/>
                <a:sym typeface="Calibri"/>
              </a:rPr>
              <a:t>Categorical Features</a:t>
            </a:r>
            <a:r>
              <a:rPr lang="en-US" sz="1500">
                <a:solidFill>
                  <a:schemeClr val="dk2"/>
                </a:solidFill>
                <a:latin typeface="Calibri"/>
                <a:ea typeface="Calibri"/>
                <a:cs typeface="Calibri"/>
                <a:sym typeface="Calibri"/>
              </a:rPr>
              <a:t>:</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city</a:t>
            </a:r>
            <a:r>
              <a:rPr lang="en-US" sz="1500">
                <a:solidFill>
                  <a:schemeClr val="dk2"/>
                </a:solidFill>
                <a:latin typeface="Calibri"/>
                <a:ea typeface="Calibri"/>
                <a:cs typeface="Calibri"/>
                <a:sym typeface="Calibri"/>
              </a:rPr>
              <a:t>: Filled with “Unknown”.</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Target_type</a:t>
            </a:r>
            <a:r>
              <a:rPr lang="en-US" sz="1500">
                <a:solidFill>
                  <a:schemeClr val="dk2"/>
                </a:solidFill>
                <a:latin typeface="Calibri"/>
                <a:ea typeface="Calibri"/>
                <a:cs typeface="Calibri"/>
                <a:sym typeface="Calibri"/>
              </a:rPr>
              <a:t>: Filled with “Other”.</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claimed</a:t>
            </a:r>
            <a:r>
              <a:rPr lang="en-US" sz="1500">
                <a:solidFill>
                  <a:schemeClr val="dk2"/>
                </a:solidFill>
                <a:latin typeface="Calibri"/>
                <a:ea typeface="Calibri"/>
                <a:cs typeface="Calibri"/>
                <a:sym typeface="Calibri"/>
              </a:rPr>
              <a:t>: Filled with 0.</a:t>
            </a:r>
            <a:endParaRPr sz="1500">
              <a:solidFill>
                <a:schemeClr val="dk2"/>
              </a:solidFill>
              <a:latin typeface="Calibri"/>
              <a:ea typeface="Calibri"/>
              <a:cs typeface="Calibri"/>
              <a:sym typeface="Calibri"/>
            </a:endParaRPr>
          </a:p>
          <a:p>
            <a:pPr indent="-323850" lvl="0" marL="457200" rtl="0" algn="l">
              <a:lnSpc>
                <a:spcPct val="115000"/>
              </a:lnSpc>
              <a:spcBef>
                <a:spcPts val="0"/>
              </a:spcBef>
              <a:spcAft>
                <a:spcPts val="0"/>
              </a:spcAft>
              <a:buClr>
                <a:schemeClr val="dk2"/>
              </a:buClr>
              <a:buSzPts val="1500"/>
              <a:buAutoNum type="arabicPeriod"/>
            </a:pPr>
            <a:r>
              <a:rPr b="1" lang="en-US" sz="1500">
                <a:solidFill>
                  <a:schemeClr val="dk2"/>
                </a:solidFill>
                <a:latin typeface="Calibri"/>
                <a:ea typeface="Calibri"/>
                <a:cs typeface="Calibri"/>
                <a:sym typeface="Calibri"/>
              </a:rPr>
              <a:t>Numerical Features</a:t>
            </a:r>
            <a:r>
              <a:rPr lang="en-US" sz="1500">
                <a:solidFill>
                  <a:schemeClr val="dk2"/>
                </a:solidFill>
                <a:latin typeface="Calibri"/>
                <a:ea typeface="Calibri"/>
                <a:cs typeface="Calibri"/>
                <a:sym typeface="Calibri"/>
              </a:rPr>
              <a:t>:</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latitude</a:t>
            </a:r>
            <a:r>
              <a:rPr lang="en-US" sz="1500">
                <a:solidFill>
                  <a:schemeClr val="dk2"/>
                </a:solidFill>
                <a:latin typeface="Calibri"/>
                <a:ea typeface="Calibri"/>
                <a:cs typeface="Calibri"/>
                <a:sym typeface="Calibri"/>
              </a:rPr>
              <a:t>: Filled with the mode of the column.</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b="1" lang="en-US" sz="1500">
                <a:solidFill>
                  <a:schemeClr val="dk2"/>
                </a:solidFill>
                <a:latin typeface="Calibri"/>
                <a:ea typeface="Calibri"/>
                <a:cs typeface="Calibri"/>
                <a:sym typeface="Calibri"/>
              </a:rPr>
              <a:t>longitude</a:t>
            </a:r>
            <a:r>
              <a:rPr lang="en-US" sz="1500">
                <a:solidFill>
                  <a:schemeClr val="dk2"/>
                </a:solidFill>
                <a:latin typeface="Calibri"/>
                <a:ea typeface="Calibri"/>
                <a:cs typeface="Calibri"/>
                <a:sym typeface="Calibri"/>
              </a:rPr>
              <a:t>: Filled with the mode of the column.</a:t>
            </a:r>
            <a:endParaRPr sz="1500">
              <a:solidFill>
                <a:schemeClr val="dk2"/>
              </a:solidFill>
              <a:latin typeface="Calibri"/>
              <a:ea typeface="Calibri"/>
              <a:cs typeface="Calibri"/>
              <a:sym typeface="Calibri"/>
            </a:endParaRPr>
          </a:p>
          <a:p>
            <a:pPr indent="-323850" lvl="0" marL="457200" rtl="0" algn="l">
              <a:lnSpc>
                <a:spcPct val="115000"/>
              </a:lnSpc>
              <a:spcBef>
                <a:spcPts val="0"/>
              </a:spcBef>
              <a:spcAft>
                <a:spcPts val="0"/>
              </a:spcAft>
              <a:buClr>
                <a:schemeClr val="dk2"/>
              </a:buClr>
              <a:buSzPts val="1500"/>
              <a:buAutoNum type="arabicPeriod"/>
            </a:pPr>
            <a:r>
              <a:rPr b="1" lang="en-US" sz="1500">
                <a:solidFill>
                  <a:schemeClr val="dk2"/>
                </a:solidFill>
                <a:latin typeface="Calibri"/>
                <a:ea typeface="Calibri"/>
                <a:cs typeface="Calibri"/>
                <a:sym typeface="Calibri"/>
              </a:rPr>
              <a:t>Dropped Rows</a:t>
            </a:r>
            <a:r>
              <a:rPr lang="en-US" sz="1500">
                <a:solidFill>
                  <a:schemeClr val="dk2"/>
                </a:solidFill>
                <a:latin typeface="Calibri"/>
                <a:ea typeface="Calibri"/>
                <a:cs typeface="Calibri"/>
                <a:sym typeface="Calibri"/>
              </a:rPr>
              <a:t>:</a:t>
            </a:r>
            <a:endParaRPr sz="1500">
              <a:solidFill>
                <a:schemeClr val="dk2"/>
              </a:solidFill>
              <a:latin typeface="Calibri"/>
              <a:ea typeface="Calibri"/>
              <a:cs typeface="Calibri"/>
              <a:sym typeface="Calibri"/>
            </a:endParaRPr>
          </a:p>
          <a:p>
            <a:pPr indent="-323850" lvl="1" marL="914400" rtl="0" algn="l">
              <a:lnSpc>
                <a:spcPct val="115000"/>
              </a:lnSpc>
              <a:spcBef>
                <a:spcPts val="0"/>
              </a:spcBef>
              <a:spcAft>
                <a:spcPts val="0"/>
              </a:spcAft>
              <a:buClr>
                <a:schemeClr val="dk2"/>
              </a:buClr>
              <a:buSzPts val="1500"/>
              <a:buChar char="○"/>
            </a:pPr>
            <a:r>
              <a:rPr lang="en-US" sz="1500">
                <a:solidFill>
                  <a:schemeClr val="dk2"/>
                </a:solidFill>
                <a:latin typeface="Calibri"/>
                <a:ea typeface="Calibri"/>
                <a:cs typeface="Calibri"/>
                <a:sym typeface="Calibri"/>
              </a:rPr>
              <a:t>Rows with missing values in </a:t>
            </a:r>
            <a:r>
              <a:rPr b="1" lang="en-US" sz="1500">
                <a:solidFill>
                  <a:schemeClr val="dk2"/>
                </a:solidFill>
                <a:latin typeface="Calibri"/>
                <a:ea typeface="Calibri"/>
                <a:cs typeface="Calibri"/>
                <a:sym typeface="Calibri"/>
              </a:rPr>
              <a:t>Attack Type</a:t>
            </a:r>
            <a:r>
              <a:rPr lang="en-US" sz="1500">
                <a:solidFill>
                  <a:schemeClr val="dk2"/>
                </a:solidFill>
                <a:latin typeface="Calibri"/>
                <a:ea typeface="Calibri"/>
                <a:cs typeface="Calibri"/>
                <a:sym typeface="Calibri"/>
              </a:rPr>
              <a:t> or </a:t>
            </a:r>
            <a:r>
              <a:rPr b="1" lang="en-US" sz="1500">
                <a:solidFill>
                  <a:schemeClr val="dk2"/>
                </a:solidFill>
                <a:latin typeface="Calibri"/>
                <a:ea typeface="Calibri"/>
                <a:cs typeface="Calibri"/>
                <a:sym typeface="Calibri"/>
              </a:rPr>
              <a:t>Weapon Type</a:t>
            </a:r>
            <a:r>
              <a:rPr lang="en-US" sz="1500">
                <a:solidFill>
                  <a:schemeClr val="dk2"/>
                </a:solidFill>
                <a:latin typeface="Calibri"/>
                <a:ea typeface="Calibri"/>
                <a:cs typeface="Calibri"/>
                <a:sym typeface="Calibri"/>
              </a:rPr>
              <a:t> were removed.</a:t>
            </a:r>
            <a:endParaRPr sz="1500">
              <a:solidFill>
                <a:schemeClr val="dk2"/>
              </a:solidFill>
              <a:latin typeface="Calibri"/>
              <a:ea typeface="Calibri"/>
              <a:cs typeface="Calibri"/>
              <a:sym typeface="Calibri"/>
            </a:endParaRPr>
          </a:p>
          <a:p>
            <a:pPr indent="0" lvl="0" marL="0" rtl="0" algn="l">
              <a:spcBef>
                <a:spcPts val="1200"/>
              </a:spcBef>
              <a:spcAft>
                <a:spcPts val="0"/>
              </a:spcAft>
              <a:buNone/>
            </a:pPr>
            <a:r>
              <a:t/>
            </a:r>
            <a:endParaRPr sz="2800">
              <a:solidFill>
                <a:schemeClr val="dk2"/>
              </a:solidFill>
              <a:latin typeface="Calibri"/>
              <a:ea typeface="Calibri"/>
              <a:cs typeface="Calibri"/>
              <a:sym typeface="Calibri"/>
            </a:endParaRPr>
          </a:p>
        </p:txBody>
      </p:sp>
      <p:sp>
        <p:nvSpPr>
          <p:cNvPr id="358" name="Google Shape;358;p10"/>
          <p:cNvSpPr txBox="1"/>
          <p:nvPr/>
        </p:nvSpPr>
        <p:spPr>
          <a:xfrm>
            <a:off x="682723" y="597878"/>
            <a:ext cx="8558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Handling Missing</a:t>
            </a:r>
            <a:r>
              <a:rPr lang="en-US" sz="3600">
                <a:solidFill>
                  <a:schemeClr val="dk2"/>
                </a:solidFill>
                <a:latin typeface="Montserrat SemiBold"/>
                <a:ea typeface="Montserrat SemiBold"/>
                <a:cs typeface="Montserrat SemiBold"/>
                <a:sym typeface="Montserrat SemiBold"/>
              </a:rPr>
              <a:t> Values</a:t>
            </a:r>
            <a:endParaRPr sz="3600">
              <a:solidFill>
                <a:schemeClr val="dk2"/>
              </a:solidFill>
              <a:latin typeface="Montserrat SemiBold"/>
              <a:ea typeface="Montserrat SemiBold"/>
              <a:cs typeface="Montserrat SemiBold"/>
              <a:sym typeface="Montserrat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1"/>
          <p:cNvSpPr txBox="1"/>
          <p:nvPr/>
        </p:nvSpPr>
        <p:spPr>
          <a:xfrm>
            <a:off x="552875" y="1588050"/>
            <a:ext cx="10116300" cy="404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t/>
            </a:r>
            <a:endParaRPr b="1" sz="1500">
              <a:solidFill>
                <a:schemeClr val="dk1"/>
              </a:solidFill>
              <a:latin typeface="Calibri"/>
              <a:ea typeface="Calibri"/>
              <a:cs typeface="Calibri"/>
              <a:sym typeface="Calibri"/>
            </a:endParaRPr>
          </a:p>
          <a:p>
            <a:pPr indent="-336550" lvl="0" marL="457200" rtl="0" algn="l">
              <a:lnSpc>
                <a:spcPct val="115000"/>
              </a:lnSpc>
              <a:spcBef>
                <a:spcPts val="1200"/>
              </a:spcBef>
              <a:spcAft>
                <a:spcPts val="0"/>
              </a:spcAft>
              <a:buClr>
                <a:schemeClr val="dk2"/>
              </a:buClr>
              <a:buSzPts val="1700"/>
              <a:buAutoNum type="arabicPeriod"/>
            </a:pPr>
            <a:r>
              <a:rPr b="1" lang="en-US" sz="1700">
                <a:solidFill>
                  <a:schemeClr val="dk2"/>
                </a:solidFill>
                <a:latin typeface="Calibri"/>
                <a:ea typeface="Calibri"/>
                <a:cs typeface="Calibri"/>
                <a:sym typeface="Calibri"/>
              </a:rPr>
              <a:t>DaysSinceLatt</a:t>
            </a:r>
            <a:r>
              <a:rPr lang="en-US" sz="1700">
                <a:solidFill>
                  <a:schemeClr val="dk2"/>
                </a:solidFill>
                <a:latin typeface="Calibri"/>
                <a:ea typeface="Calibri"/>
                <a:cs typeface="Calibri"/>
                <a:sym typeface="Calibri"/>
              </a:rPr>
              <a:t>:</a:t>
            </a:r>
            <a:endParaRPr sz="1700">
              <a:solidFill>
                <a:schemeClr val="dk2"/>
              </a:solidFill>
              <a:latin typeface="Calibri"/>
              <a:ea typeface="Calibri"/>
              <a:cs typeface="Calibri"/>
              <a:sym typeface="Calibri"/>
            </a:endParaRPr>
          </a:p>
          <a:p>
            <a:pPr indent="-336550" lvl="1" marL="914400" rtl="0" algn="l">
              <a:lnSpc>
                <a:spcPct val="115000"/>
              </a:lnSpc>
              <a:spcBef>
                <a:spcPts val="0"/>
              </a:spcBef>
              <a:spcAft>
                <a:spcPts val="0"/>
              </a:spcAft>
              <a:buClr>
                <a:schemeClr val="dk2"/>
              </a:buClr>
              <a:buSzPts val="1700"/>
              <a:buFont typeface="Calibri"/>
              <a:buChar char="○"/>
            </a:pPr>
            <a:r>
              <a:rPr lang="en-US" sz="1700">
                <a:solidFill>
                  <a:schemeClr val="dk2"/>
                </a:solidFill>
                <a:latin typeface="Calibri"/>
                <a:ea typeface="Calibri"/>
                <a:cs typeface="Calibri"/>
                <a:sym typeface="Calibri"/>
              </a:rPr>
              <a:t>Calculates the number of days since the last attack in the same region.</a:t>
            </a:r>
            <a:endParaRPr sz="1700">
              <a:solidFill>
                <a:schemeClr val="dk2"/>
              </a:solidFill>
              <a:latin typeface="Calibri"/>
              <a:ea typeface="Calibri"/>
              <a:cs typeface="Calibri"/>
              <a:sym typeface="Calibri"/>
            </a:endParaRPr>
          </a:p>
          <a:p>
            <a:pPr indent="-336550" lvl="1" marL="914400" rtl="0" algn="l">
              <a:lnSpc>
                <a:spcPct val="115000"/>
              </a:lnSpc>
              <a:spcBef>
                <a:spcPts val="0"/>
              </a:spcBef>
              <a:spcAft>
                <a:spcPts val="0"/>
              </a:spcAft>
              <a:buClr>
                <a:schemeClr val="dk2"/>
              </a:buClr>
              <a:buSzPts val="1700"/>
              <a:buChar char="○"/>
            </a:pPr>
            <a:r>
              <a:rPr lang="en-US" sz="1700">
                <a:solidFill>
                  <a:schemeClr val="dk2"/>
                </a:solidFill>
                <a:latin typeface="Calibri"/>
                <a:ea typeface="Calibri"/>
                <a:cs typeface="Calibri"/>
                <a:sym typeface="Calibri"/>
              </a:rPr>
              <a:t>Created using the groupby function on the </a:t>
            </a:r>
            <a:r>
              <a:rPr b="1" lang="en-US" sz="1700">
                <a:solidFill>
                  <a:schemeClr val="dk2"/>
                </a:solidFill>
                <a:latin typeface="Calibri"/>
                <a:ea typeface="Calibri"/>
                <a:cs typeface="Calibri"/>
                <a:sym typeface="Calibri"/>
              </a:rPr>
              <a:t>Region</a:t>
            </a:r>
            <a:r>
              <a:rPr lang="en-US" sz="1700">
                <a:solidFill>
                  <a:schemeClr val="dk2"/>
                </a:solidFill>
                <a:latin typeface="Calibri"/>
                <a:ea typeface="Calibri"/>
                <a:cs typeface="Calibri"/>
                <a:sym typeface="Calibri"/>
              </a:rPr>
              <a:t> column and the diff function on the </a:t>
            </a:r>
            <a:r>
              <a:rPr b="1" lang="en-US" sz="1700">
                <a:solidFill>
                  <a:schemeClr val="dk2"/>
                </a:solidFill>
                <a:latin typeface="Calibri"/>
                <a:ea typeface="Calibri"/>
                <a:cs typeface="Calibri"/>
                <a:sym typeface="Calibri"/>
              </a:rPr>
              <a:t>Date</a:t>
            </a:r>
            <a:r>
              <a:rPr lang="en-US" sz="1700">
                <a:solidFill>
                  <a:schemeClr val="dk2"/>
                </a:solidFill>
                <a:latin typeface="Calibri"/>
                <a:ea typeface="Calibri"/>
                <a:cs typeface="Calibri"/>
                <a:sym typeface="Calibri"/>
              </a:rPr>
              <a:t> column.</a:t>
            </a:r>
            <a:endParaRPr sz="1700">
              <a:solidFill>
                <a:schemeClr val="dk2"/>
              </a:solidFill>
              <a:latin typeface="Calibri"/>
              <a:ea typeface="Calibri"/>
              <a:cs typeface="Calibri"/>
              <a:sym typeface="Calibri"/>
            </a:endParaRPr>
          </a:p>
          <a:p>
            <a:pPr indent="0" lvl="0" marL="0" rtl="0" algn="l">
              <a:lnSpc>
                <a:spcPct val="115000"/>
              </a:lnSpc>
              <a:spcBef>
                <a:spcPts val="1200"/>
              </a:spcBef>
              <a:spcAft>
                <a:spcPts val="0"/>
              </a:spcAft>
              <a:buNone/>
            </a:pPr>
            <a:r>
              <a:t/>
            </a:r>
            <a:endParaRPr sz="1700">
              <a:solidFill>
                <a:schemeClr val="dk2"/>
              </a:solidFill>
              <a:latin typeface="Calibri"/>
              <a:ea typeface="Calibri"/>
              <a:cs typeface="Calibri"/>
              <a:sym typeface="Calibri"/>
            </a:endParaRPr>
          </a:p>
          <a:p>
            <a:pPr indent="-336550" lvl="0" marL="457200" rtl="0" algn="l">
              <a:lnSpc>
                <a:spcPct val="115000"/>
              </a:lnSpc>
              <a:spcBef>
                <a:spcPts val="1200"/>
              </a:spcBef>
              <a:spcAft>
                <a:spcPts val="0"/>
              </a:spcAft>
              <a:buClr>
                <a:schemeClr val="dk2"/>
              </a:buClr>
              <a:buSzPts val="1700"/>
              <a:buAutoNum type="arabicPeriod"/>
            </a:pPr>
            <a:r>
              <a:rPr b="1" lang="en-US" sz="1700">
                <a:solidFill>
                  <a:schemeClr val="dk2"/>
                </a:solidFill>
                <a:latin typeface="Calibri"/>
                <a:ea typeface="Calibri"/>
                <a:cs typeface="Calibri"/>
                <a:sym typeface="Calibri"/>
              </a:rPr>
              <a:t>IsHoliday</a:t>
            </a:r>
            <a:r>
              <a:rPr lang="en-US" sz="1700">
                <a:solidFill>
                  <a:schemeClr val="dk2"/>
                </a:solidFill>
                <a:latin typeface="Calibri"/>
                <a:ea typeface="Calibri"/>
                <a:cs typeface="Calibri"/>
                <a:sym typeface="Calibri"/>
              </a:rPr>
              <a:t>:</a:t>
            </a:r>
            <a:endParaRPr sz="1700">
              <a:solidFill>
                <a:schemeClr val="dk2"/>
              </a:solidFill>
              <a:latin typeface="Calibri"/>
              <a:ea typeface="Calibri"/>
              <a:cs typeface="Calibri"/>
              <a:sym typeface="Calibri"/>
            </a:endParaRPr>
          </a:p>
          <a:p>
            <a:pPr indent="-336550" lvl="1" marL="914400" rtl="0" algn="l">
              <a:lnSpc>
                <a:spcPct val="115000"/>
              </a:lnSpc>
              <a:spcBef>
                <a:spcPts val="0"/>
              </a:spcBef>
              <a:spcAft>
                <a:spcPts val="0"/>
              </a:spcAft>
              <a:buClr>
                <a:schemeClr val="dk2"/>
              </a:buClr>
              <a:buSzPts val="1700"/>
              <a:buFont typeface="Calibri"/>
              <a:buChar char="○"/>
            </a:pPr>
            <a:r>
              <a:rPr lang="en-US" sz="1700">
                <a:solidFill>
                  <a:schemeClr val="dk2"/>
                </a:solidFill>
                <a:latin typeface="Calibri"/>
                <a:ea typeface="Calibri"/>
                <a:cs typeface="Calibri"/>
                <a:sym typeface="Calibri"/>
              </a:rPr>
              <a:t>Indicates whether the attack date corresponds to a holiday in the country.</a:t>
            </a:r>
            <a:endParaRPr sz="1700">
              <a:solidFill>
                <a:schemeClr val="dk2"/>
              </a:solidFill>
              <a:latin typeface="Calibri"/>
              <a:ea typeface="Calibri"/>
              <a:cs typeface="Calibri"/>
              <a:sym typeface="Calibri"/>
            </a:endParaRPr>
          </a:p>
          <a:p>
            <a:pPr indent="-336550" lvl="1" marL="914400" rtl="0" algn="l">
              <a:lnSpc>
                <a:spcPct val="115000"/>
              </a:lnSpc>
              <a:spcBef>
                <a:spcPts val="0"/>
              </a:spcBef>
              <a:spcAft>
                <a:spcPts val="0"/>
              </a:spcAft>
              <a:buClr>
                <a:schemeClr val="dk2"/>
              </a:buClr>
              <a:buSzPts val="1700"/>
              <a:buChar char="○"/>
            </a:pPr>
            <a:r>
              <a:rPr lang="en-US" sz="1700">
                <a:solidFill>
                  <a:schemeClr val="dk2"/>
                </a:solidFill>
                <a:latin typeface="Calibri"/>
                <a:ea typeface="Calibri"/>
                <a:cs typeface="Calibri"/>
                <a:sym typeface="Calibri"/>
              </a:rPr>
              <a:t>Created using a custom function, get_holidays, which retrieves holiday information based on the country code.</a:t>
            </a:r>
            <a:endParaRPr sz="1700">
              <a:solidFill>
                <a:schemeClr val="dk2"/>
              </a:solidFill>
              <a:latin typeface="Calibri"/>
              <a:ea typeface="Calibri"/>
              <a:cs typeface="Calibri"/>
              <a:sym typeface="Calibri"/>
            </a:endParaRPr>
          </a:p>
          <a:p>
            <a:pPr indent="-336550" lvl="1" marL="914400" rtl="0" algn="l">
              <a:lnSpc>
                <a:spcPct val="115000"/>
              </a:lnSpc>
              <a:spcBef>
                <a:spcPts val="0"/>
              </a:spcBef>
              <a:spcAft>
                <a:spcPts val="0"/>
              </a:spcAft>
              <a:buClr>
                <a:schemeClr val="dk2"/>
              </a:buClr>
              <a:buSzPts val="1700"/>
              <a:buFont typeface="Calibri"/>
              <a:buChar char="○"/>
            </a:pPr>
            <a:r>
              <a:rPr lang="en-US" sz="1700">
                <a:solidFill>
                  <a:schemeClr val="dk2"/>
                </a:solidFill>
                <a:latin typeface="Calibri"/>
                <a:ea typeface="Calibri"/>
                <a:cs typeface="Calibri"/>
                <a:sym typeface="Calibri"/>
              </a:rPr>
              <a:t>The resulting column assigns a value of 1 if the date is a holiday and 0 otherwise.</a:t>
            </a:r>
            <a:endParaRPr sz="1700">
              <a:solidFill>
                <a:schemeClr val="dk2"/>
              </a:solidFill>
              <a:latin typeface="Calibri"/>
              <a:ea typeface="Calibri"/>
              <a:cs typeface="Calibri"/>
              <a:sym typeface="Calibri"/>
            </a:endParaRPr>
          </a:p>
          <a:p>
            <a:pPr indent="0" lvl="0" marL="914400" rtl="0" algn="l">
              <a:lnSpc>
                <a:spcPct val="115000"/>
              </a:lnSpc>
              <a:spcBef>
                <a:spcPts val="1200"/>
              </a:spcBef>
              <a:spcAft>
                <a:spcPts val="0"/>
              </a:spcAft>
              <a:buNone/>
            </a:pPr>
            <a:r>
              <a:t/>
            </a:r>
            <a:endParaRPr sz="1500">
              <a:solidFill>
                <a:schemeClr val="dk1"/>
              </a:solidFill>
              <a:latin typeface="Calibri"/>
              <a:ea typeface="Calibri"/>
              <a:cs typeface="Calibri"/>
              <a:sym typeface="Calibri"/>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
        <p:nvSpPr>
          <p:cNvPr id="365" name="Google Shape;365;p11"/>
          <p:cNvSpPr txBox="1"/>
          <p:nvPr/>
        </p:nvSpPr>
        <p:spPr>
          <a:xfrm>
            <a:off x="682723" y="597878"/>
            <a:ext cx="8558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Additional Columns</a:t>
            </a:r>
            <a:r>
              <a:rPr b="1" lang="en-US" sz="2300">
                <a:solidFill>
                  <a:schemeClr val="dk1"/>
                </a:solidFill>
              </a:rPr>
              <a:t> </a:t>
            </a:r>
            <a:endParaRPr sz="3600">
              <a:solidFill>
                <a:schemeClr val="dk2"/>
              </a:solidFill>
              <a:latin typeface="Montserrat SemiBold"/>
              <a:ea typeface="Montserrat SemiBold"/>
              <a:cs typeface="Montserrat SemiBold"/>
              <a:sym typeface="Montserrat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2"/>
          <p:cNvSpPr txBox="1"/>
          <p:nvPr/>
        </p:nvSpPr>
        <p:spPr>
          <a:xfrm>
            <a:off x="606523" y="597878"/>
            <a:ext cx="8558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Dataset</a:t>
            </a:r>
            <a:endParaRPr/>
          </a:p>
        </p:txBody>
      </p:sp>
      <p:pic>
        <p:nvPicPr>
          <p:cNvPr id="371" name="Google Shape;371;p12"/>
          <p:cNvPicPr preferRelativeResize="0"/>
          <p:nvPr/>
        </p:nvPicPr>
        <p:blipFill>
          <a:blip r:embed="rId3">
            <a:alphaModFix/>
          </a:blip>
          <a:stretch>
            <a:fillRect/>
          </a:stretch>
        </p:blipFill>
        <p:spPr>
          <a:xfrm>
            <a:off x="152400" y="1396778"/>
            <a:ext cx="11887201" cy="47595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id="377" name="Google Shape;377;p13"/>
          <p:cNvPicPr preferRelativeResize="0"/>
          <p:nvPr/>
        </p:nvPicPr>
        <p:blipFill>
          <a:blip r:embed="rId3">
            <a:alphaModFix/>
          </a:blip>
          <a:stretch>
            <a:fillRect/>
          </a:stretch>
        </p:blipFill>
        <p:spPr>
          <a:xfrm>
            <a:off x="538225" y="526150"/>
            <a:ext cx="10915650" cy="5600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14"/>
          <p:cNvPicPr preferRelativeResize="0"/>
          <p:nvPr/>
        </p:nvPicPr>
        <p:blipFill>
          <a:blip r:embed="rId3">
            <a:alphaModFix/>
          </a:blip>
          <a:stretch>
            <a:fillRect/>
          </a:stretch>
        </p:blipFill>
        <p:spPr>
          <a:xfrm>
            <a:off x="899925" y="176500"/>
            <a:ext cx="10505951" cy="66016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id="389" name="Google Shape;389;p15"/>
          <p:cNvPicPr preferRelativeResize="0"/>
          <p:nvPr/>
        </p:nvPicPr>
        <p:blipFill>
          <a:blip r:embed="rId3">
            <a:alphaModFix/>
          </a:blip>
          <a:stretch>
            <a:fillRect/>
          </a:stretch>
        </p:blipFill>
        <p:spPr>
          <a:xfrm>
            <a:off x="152400" y="1110731"/>
            <a:ext cx="11887202" cy="463653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16"/>
          <p:cNvPicPr preferRelativeResize="0"/>
          <p:nvPr/>
        </p:nvPicPr>
        <p:blipFill>
          <a:blip r:embed="rId3">
            <a:alphaModFix/>
          </a:blip>
          <a:stretch>
            <a:fillRect/>
          </a:stretch>
        </p:blipFill>
        <p:spPr>
          <a:xfrm>
            <a:off x="152400" y="152400"/>
            <a:ext cx="11632277" cy="6553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id="401" name="Google Shape;401;p17"/>
          <p:cNvPicPr preferRelativeResize="0"/>
          <p:nvPr/>
        </p:nvPicPr>
        <p:blipFill>
          <a:blip r:embed="rId3">
            <a:alphaModFix/>
          </a:blip>
          <a:stretch>
            <a:fillRect/>
          </a:stretch>
        </p:blipFill>
        <p:spPr>
          <a:xfrm>
            <a:off x="152400" y="827575"/>
            <a:ext cx="11887200" cy="54676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8"/>
          <p:cNvSpPr txBox="1"/>
          <p:nvPr/>
        </p:nvSpPr>
        <p:spPr>
          <a:xfrm>
            <a:off x="672822" y="565468"/>
            <a:ext cx="4170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Core Methods</a:t>
            </a:r>
            <a:endParaRPr sz="3600">
              <a:solidFill>
                <a:schemeClr val="dk2"/>
              </a:solidFill>
              <a:latin typeface="Montserrat SemiBold"/>
              <a:ea typeface="Montserrat SemiBold"/>
              <a:cs typeface="Montserrat SemiBold"/>
              <a:sym typeface="Montserrat SemiBold"/>
            </a:endParaRPr>
          </a:p>
        </p:txBody>
      </p:sp>
      <p:sp>
        <p:nvSpPr>
          <p:cNvPr id="407" name="Google Shape;407;p18"/>
          <p:cNvSpPr txBox="1"/>
          <p:nvPr/>
        </p:nvSpPr>
        <p:spPr>
          <a:xfrm>
            <a:off x="744675" y="1211975"/>
            <a:ext cx="11254500" cy="592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300">
                <a:solidFill>
                  <a:schemeClr val="dk2"/>
                </a:solidFill>
                <a:latin typeface="Calibri"/>
                <a:ea typeface="Calibri"/>
                <a:cs typeface="Calibri"/>
                <a:sym typeface="Calibri"/>
              </a:rPr>
              <a:t>I leveraged Time-Series Analysis, which utilizes temporal data to comprehend and forecast patterns in terrorism activities over time. Furthermore, we explored Graph-Based Analysis, employing graph theory to uncover intricate interdependencies between entities such as locations, events, and dates.</a:t>
            </a:r>
            <a:endParaRPr sz="1700">
              <a:latin typeface="Calibri"/>
              <a:ea typeface="Calibri"/>
              <a:cs typeface="Calibri"/>
              <a:sym typeface="Calibri"/>
            </a:endParaRPr>
          </a:p>
        </p:txBody>
      </p:sp>
      <p:sp>
        <p:nvSpPr>
          <p:cNvPr id="408" name="Google Shape;408;p18"/>
          <p:cNvSpPr/>
          <p:nvPr/>
        </p:nvSpPr>
        <p:spPr>
          <a:xfrm>
            <a:off x="749367" y="2309749"/>
            <a:ext cx="1739700" cy="1494600"/>
          </a:xfrm>
          <a:prstGeom prst="roundRect">
            <a:avLst>
              <a:gd fmla="val 11666" name="adj"/>
            </a:avLst>
          </a:prstGeom>
          <a:solidFill>
            <a:schemeClr val="accent2"/>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18"/>
          <p:cNvSpPr/>
          <p:nvPr/>
        </p:nvSpPr>
        <p:spPr>
          <a:xfrm>
            <a:off x="2692467" y="2309749"/>
            <a:ext cx="3159000" cy="1494600"/>
          </a:xfrm>
          <a:prstGeom prst="roundRect">
            <a:avLst>
              <a:gd fmla="val 11666" name="adj"/>
            </a:avLst>
          </a:prstGeom>
          <a:solidFill>
            <a:schemeClr val="lt1"/>
          </a:solidFill>
          <a:ln cap="flat" cmpd="sng" w="19050">
            <a:solidFill>
              <a:srgbClr val="B9C7FB"/>
            </a:solidFill>
            <a:prstDash val="solid"/>
            <a:miter lim="800000"/>
            <a:headEnd len="sm" w="sm" type="none"/>
            <a:tailEnd len="sm" w="sm" type="none"/>
          </a:ln>
          <a:effectLst>
            <a:outerShdw blurRad="50800" rotWithShape="0" algn="t" dir="5400000" dist="38100">
              <a:schemeClr val="dk2">
                <a:alpha val="149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Montserrat SemiBold"/>
              <a:ea typeface="Montserrat SemiBold"/>
              <a:cs typeface="Montserrat SemiBold"/>
              <a:sym typeface="Montserrat SemiBold"/>
            </a:endParaRPr>
          </a:p>
        </p:txBody>
      </p:sp>
      <p:sp>
        <p:nvSpPr>
          <p:cNvPr id="410" name="Google Shape;410;p18"/>
          <p:cNvSpPr/>
          <p:nvPr/>
        </p:nvSpPr>
        <p:spPr>
          <a:xfrm>
            <a:off x="6340542" y="2309749"/>
            <a:ext cx="1739700" cy="1494600"/>
          </a:xfrm>
          <a:prstGeom prst="roundRect">
            <a:avLst>
              <a:gd fmla="val 11666" name="adj"/>
            </a:avLst>
          </a:prstGeom>
          <a:solidFill>
            <a:schemeClr val="accent2"/>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p18"/>
          <p:cNvSpPr/>
          <p:nvPr/>
        </p:nvSpPr>
        <p:spPr>
          <a:xfrm>
            <a:off x="8283642" y="2309749"/>
            <a:ext cx="3159000" cy="1494600"/>
          </a:xfrm>
          <a:prstGeom prst="roundRect">
            <a:avLst>
              <a:gd fmla="val 11666" name="adj"/>
            </a:avLst>
          </a:prstGeom>
          <a:solidFill>
            <a:schemeClr val="lt1"/>
          </a:solidFill>
          <a:ln cap="flat" cmpd="sng" w="19050">
            <a:solidFill>
              <a:srgbClr val="B9C7FB"/>
            </a:solidFill>
            <a:prstDash val="solid"/>
            <a:miter lim="800000"/>
            <a:headEnd len="sm" w="sm" type="none"/>
            <a:tailEnd len="sm" w="sm" type="none"/>
          </a:ln>
          <a:effectLst>
            <a:outerShdw blurRad="50800" rotWithShape="0" algn="t" dir="5400000" dist="38100">
              <a:schemeClr val="dk2">
                <a:alpha val="149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Montserrat SemiBold"/>
              <a:ea typeface="Montserrat SemiBold"/>
              <a:cs typeface="Montserrat SemiBold"/>
              <a:sym typeface="Montserrat SemiBold"/>
            </a:endParaRPr>
          </a:p>
        </p:txBody>
      </p:sp>
      <p:grpSp>
        <p:nvGrpSpPr>
          <p:cNvPr id="412" name="Google Shape;412;p18"/>
          <p:cNvGrpSpPr/>
          <p:nvPr/>
        </p:nvGrpSpPr>
        <p:grpSpPr>
          <a:xfrm>
            <a:off x="1140015" y="2565115"/>
            <a:ext cx="958039" cy="983520"/>
            <a:chOff x="7048090" y="4264808"/>
            <a:chExt cx="2395695" cy="2459416"/>
          </a:xfrm>
        </p:grpSpPr>
        <p:sp>
          <p:nvSpPr>
            <p:cNvPr id="413" name="Google Shape;413;p18"/>
            <p:cNvSpPr/>
            <p:nvPr/>
          </p:nvSpPr>
          <p:spPr>
            <a:xfrm>
              <a:off x="7060837" y="4264808"/>
              <a:ext cx="2370205" cy="2459416"/>
            </a:xfrm>
            <a:custGeom>
              <a:rect b="b" l="l" r="r" t="t"/>
              <a:pathLst>
                <a:path extrusionOk="0" h="3203" w="3095">
                  <a:moveTo>
                    <a:pt x="2741" y="3153"/>
                  </a:moveTo>
                  <a:lnTo>
                    <a:pt x="291" y="2448"/>
                  </a:lnTo>
                  <a:cubicBezTo>
                    <a:pt x="119" y="2398"/>
                    <a:pt x="0" y="2241"/>
                    <a:pt x="0" y="2062"/>
                  </a:cubicBezTo>
                  <a:lnTo>
                    <a:pt x="0" y="217"/>
                  </a:lnTo>
                  <a:cubicBezTo>
                    <a:pt x="0" y="91"/>
                    <a:pt x="121" y="0"/>
                    <a:pt x="243" y="34"/>
                  </a:cubicBezTo>
                  <a:lnTo>
                    <a:pt x="2957" y="815"/>
                  </a:lnTo>
                  <a:cubicBezTo>
                    <a:pt x="3039" y="839"/>
                    <a:pt x="3095" y="913"/>
                    <a:pt x="3095" y="998"/>
                  </a:cubicBezTo>
                  <a:lnTo>
                    <a:pt x="3095" y="2886"/>
                  </a:lnTo>
                  <a:cubicBezTo>
                    <a:pt x="3095" y="3071"/>
                    <a:pt x="2918" y="3203"/>
                    <a:pt x="2741" y="3153"/>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8"/>
            <p:cNvSpPr/>
            <p:nvPr/>
          </p:nvSpPr>
          <p:spPr>
            <a:xfrm>
              <a:off x="7060837" y="4557894"/>
              <a:ext cx="2370205" cy="2166317"/>
            </a:xfrm>
            <a:custGeom>
              <a:rect b="b" l="l" r="r" t="t"/>
              <a:pathLst>
                <a:path extrusionOk="0" h="2819" w="3095">
                  <a:moveTo>
                    <a:pt x="2735" y="2767"/>
                  </a:moveTo>
                  <a:lnTo>
                    <a:pt x="286" y="2062"/>
                  </a:lnTo>
                  <a:cubicBezTo>
                    <a:pt x="117" y="2014"/>
                    <a:pt x="0" y="1859"/>
                    <a:pt x="0" y="1683"/>
                  </a:cubicBezTo>
                  <a:lnTo>
                    <a:pt x="0" y="0"/>
                  </a:lnTo>
                  <a:lnTo>
                    <a:pt x="3095" y="891"/>
                  </a:lnTo>
                  <a:lnTo>
                    <a:pt x="3095" y="2496"/>
                  </a:lnTo>
                  <a:cubicBezTo>
                    <a:pt x="3095" y="2683"/>
                    <a:pt x="2915" y="2819"/>
                    <a:pt x="2735" y="276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8"/>
            <p:cNvSpPr/>
            <p:nvPr/>
          </p:nvSpPr>
          <p:spPr>
            <a:xfrm>
              <a:off x="8475311" y="5513626"/>
              <a:ext cx="318580" cy="407777"/>
            </a:xfrm>
            <a:custGeom>
              <a:rect b="b" l="l" r="r" t="t"/>
              <a:pathLst>
                <a:path extrusionOk="0" h="529" w="419">
                  <a:moveTo>
                    <a:pt x="419" y="325"/>
                  </a:moveTo>
                  <a:cubicBezTo>
                    <a:pt x="419" y="452"/>
                    <a:pt x="327" y="529"/>
                    <a:pt x="211" y="496"/>
                  </a:cubicBezTo>
                  <a:cubicBezTo>
                    <a:pt x="94" y="462"/>
                    <a:pt x="0" y="330"/>
                    <a:pt x="2" y="201"/>
                  </a:cubicBezTo>
                  <a:cubicBezTo>
                    <a:pt x="3" y="74"/>
                    <a:pt x="97" y="0"/>
                    <a:pt x="212" y="35"/>
                  </a:cubicBezTo>
                  <a:cubicBezTo>
                    <a:pt x="326" y="69"/>
                    <a:pt x="418" y="199"/>
                    <a:pt x="419" y="325"/>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8"/>
            <p:cNvSpPr/>
            <p:nvPr/>
          </p:nvSpPr>
          <p:spPr>
            <a:xfrm>
              <a:off x="8194964" y="5195046"/>
              <a:ext cx="229375" cy="280347"/>
            </a:xfrm>
            <a:custGeom>
              <a:rect b="b" l="l" r="r" t="t"/>
              <a:pathLst>
                <a:path extrusionOk="0" h="370" w="299">
                  <a:moveTo>
                    <a:pt x="206" y="370"/>
                  </a:moveTo>
                  <a:lnTo>
                    <a:pt x="153" y="370"/>
                  </a:lnTo>
                  <a:cubicBezTo>
                    <a:pt x="69" y="370"/>
                    <a:pt x="0" y="302"/>
                    <a:pt x="0" y="218"/>
                  </a:cubicBezTo>
                  <a:lnTo>
                    <a:pt x="0" y="152"/>
                  </a:lnTo>
                  <a:cubicBezTo>
                    <a:pt x="0" y="68"/>
                    <a:pt x="69" y="0"/>
                    <a:pt x="153" y="0"/>
                  </a:cubicBezTo>
                  <a:lnTo>
                    <a:pt x="206" y="0"/>
                  </a:lnTo>
                  <a:cubicBezTo>
                    <a:pt x="257" y="0"/>
                    <a:pt x="299" y="42"/>
                    <a:pt x="299" y="93"/>
                  </a:cubicBezTo>
                  <a:lnTo>
                    <a:pt x="299" y="277"/>
                  </a:lnTo>
                  <a:cubicBezTo>
                    <a:pt x="299" y="328"/>
                    <a:pt x="257" y="370"/>
                    <a:pt x="206" y="370"/>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8"/>
            <p:cNvSpPr/>
            <p:nvPr/>
          </p:nvSpPr>
          <p:spPr>
            <a:xfrm>
              <a:off x="8271422" y="5016644"/>
              <a:ext cx="764584" cy="815554"/>
            </a:xfrm>
            <a:custGeom>
              <a:rect b="b" l="l" r="r" t="t"/>
              <a:pathLst>
                <a:path extrusionOk="0" h="1068" w="988">
                  <a:moveTo>
                    <a:pt x="836" y="1046"/>
                  </a:moveTo>
                  <a:lnTo>
                    <a:pt x="90" y="804"/>
                  </a:lnTo>
                  <a:cubicBezTo>
                    <a:pt x="35" y="788"/>
                    <a:pt x="0" y="733"/>
                    <a:pt x="11" y="676"/>
                  </a:cubicBezTo>
                  <a:lnTo>
                    <a:pt x="60" y="104"/>
                  </a:lnTo>
                  <a:cubicBezTo>
                    <a:pt x="72" y="40"/>
                    <a:pt x="135" y="0"/>
                    <a:pt x="198" y="16"/>
                  </a:cubicBezTo>
                  <a:lnTo>
                    <a:pt x="858" y="189"/>
                  </a:lnTo>
                  <a:cubicBezTo>
                    <a:pt x="902" y="200"/>
                    <a:pt x="935" y="238"/>
                    <a:pt x="941" y="284"/>
                  </a:cubicBezTo>
                  <a:lnTo>
                    <a:pt x="978" y="925"/>
                  </a:lnTo>
                  <a:cubicBezTo>
                    <a:pt x="988" y="1005"/>
                    <a:pt x="913" y="1068"/>
                    <a:pt x="836" y="1046"/>
                  </a:cubicBez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8"/>
            <p:cNvSpPr/>
            <p:nvPr/>
          </p:nvSpPr>
          <p:spPr>
            <a:xfrm>
              <a:off x="8411600" y="5207793"/>
              <a:ext cx="420524" cy="446011"/>
            </a:xfrm>
            <a:custGeom>
              <a:rect b="b" l="l" r="r" t="t"/>
              <a:pathLst>
                <a:path extrusionOk="0" h="572" w="550">
                  <a:moveTo>
                    <a:pt x="508" y="566"/>
                  </a:moveTo>
                  <a:lnTo>
                    <a:pt x="24" y="427"/>
                  </a:lnTo>
                  <a:cubicBezTo>
                    <a:pt x="10" y="423"/>
                    <a:pt x="0" y="410"/>
                    <a:pt x="0" y="395"/>
                  </a:cubicBezTo>
                  <a:lnTo>
                    <a:pt x="0" y="37"/>
                  </a:lnTo>
                  <a:cubicBezTo>
                    <a:pt x="0" y="15"/>
                    <a:pt x="21" y="0"/>
                    <a:pt x="42" y="6"/>
                  </a:cubicBezTo>
                  <a:lnTo>
                    <a:pt x="526" y="145"/>
                  </a:lnTo>
                  <a:cubicBezTo>
                    <a:pt x="540" y="149"/>
                    <a:pt x="550" y="162"/>
                    <a:pt x="550" y="176"/>
                  </a:cubicBezTo>
                  <a:lnTo>
                    <a:pt x="550" y="534"/>
                  </a:lnTo>
                  <a:cubicBezTo>
                    <a:pt x="550" y="556"/>
                    <a:pt x="529" y="572"/>
                    <a:pt x="508" y="566"/>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8"/>
            <p:cNvSpPr/>
            <p:nvPr/>
          </p:nvSpPr>
          <p:spPr>
            <a:xfrm>
              <a:off x="8398853" y="5195046"/>
              <a:ext cx="446010" cy="458750"/>
            </a:xfrm>
            <a:custGeom>
              <a:rect b="b" l="l" r="r" t="t"/>
              <a:pathLst>
                <a:path extrusionOk="0" h="588" w="573">
                  <a:moveTo>
                    <a:pt x="523" y="563"/>
                  </a:moveTo>
                  <a:cubicBezTo>
                    <a:pt x="529" y="565"/>
                    <a:pt x="536" y="564"/>
                    <a:pt x="541" y="560"/>
                  </a:cubicBezTo>
                  <a:cubicBezTo>
                    <a:pt x="547" y="556"/>
                    <a:pt x="550" y="550"/>
                    <a:pt x="550" y="543"/>
                  </a:cubicBezTo>
                  <a:lnTo>
                    <a:pt x="550" y="185"/>
                  </a:lnTo>
                  <a:cubicBezTo>
                    <a:pt x="550" y="176"/>
                    <a:pt x="544" y="168"/>
                    <a:pt x="535" y="165"/>
                  </a:cubicBezTo>
                  <a:lnTo>
                    <a:pt x="51" y="26"/>
                  </a:lnTo>
                  <a:cubicBezTo>
                    <a:pt x="44" y="24"/>
                    <a:pt x="38" y="26"/>
                    <a:pt x="32" y="30"/>
                  </a:cubicBezTo>
                  <a:cubicBezTo>
                    <a:pt x="27" y="33"/>
                    <a:pt x="24" y="40"/>
                    <a:pt x="24" y="46"/>
                  </a:cubicBezTo>
                  <a:lnTo>
                    <a:pt x="24" y="404"/>
                  </a:lnTo>
                  <a:cubicBezTo>
                    <a:pt x="24" y="413"/>
                    <a:pt x="30" y="422"/>
                    <a:pt x="39" y="424"/>
                  </a:cubicBezTo>
                  <a:lnTo>
                    <a:pt x="523" y="563"/>
                  </a:lnTo>
                  <a:close/>
                  <a:moveTo>
                    <a:pt x="529" y="588"/>
                  </a:moveTo>
                  <a:cubicBezTo>
                    <a:pt x="525" y="588"/>
                    <a:pt x="521" y="587"/>
                    <a:pt x="517" y="586"/>
                  </a:cubicBezTo>
                  <a:lnTo>
                    <a:pt x="33" y="447"/>
                  </a:lnTo>
                  <a:cubicBezTo>
                    <a:pt x="14" y="441"/>
                    <a:pt x="0" y="424"/>
                    <a:pt x="0" y="404"/>
                  </a:cubicBezTo>
                  <a:lnTo>
                    <a:pt x="0" y="46"/>
                  </a:lnTo>
                  <a:cubicBezTo>
                    <a:pt x="0" y="32"/>
                    <a:pt x="7" y="19"/>
                    <a:pt x="18" y="11"/>
                  </a:cubicBezTo>
                  <a:cubicBezTo>
                    <a:pt x="29" y="2"/>
                    <a:pt x="44" y="0"/>
                    <a:pt x="57" y="3"/>
                  </a:cubicBezTo>
                  <a:lnTo>
                    <a:pt x="541" y="143"/>
                  </a:lnTo>
                  <a:cubicBezTo>
                    <a:pt x="560" y="148"/>
                    <a:pt x="573" y="166"/>
                    <a:pt x="573" y="185"/>
                  </a:cubicBezTo>
                  <a:lnTo>
                    <a:pt x="573" y="543"/>
                  </a:lnTo>
                  <a:cubicBezTo>
                    <a:pt x="573" y="557"/>
                    <a:pt x="567" y="570"/>
                    <a:pt x="556" y="579"/>
                  </a:cubicBezTo>
                  <a:cubicBezTo>
                    <a:pt x="548" y="585"/>
                    <a:pt x="539" y="588"/>
                    <a:pt x="529" y="588"/>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8"/>
            <p:cNvSpPr/>
            <p:nvPr/>
          </p:nvSpPr>
          <p:spPr>
            <a:xfrm>
              <a:off x="8526283" y="5360710"/>
              <a:ext cx="38233" cy="76458"/>
            </a:xfrm>
            <a:custGeom>
              <a:rect b="b" l="l" r="r" t="t"/>
              <a:pathLst>
                <a:path extrusionOk="0" h="102" w="38">
                  <a:moveTo>
                    <a:pt x="23" y="102"/>
                  </a:moveTo>
                  <a:lnTo>
                    <a:pt x="16" y="102"/>
                  </a:lnTo>
                  <a:cubicBezTo>
                    <a:pt x="7" y="102"/>
                    <a:pt x="0" y="95"/>
                    <a:pt x="0" y="87"/>
                  </a:cubicBezTo>
                  <a:lnTo>
                    <a:pt x="0" y="16"/>
                  </a:lnTo>
                  <a:cubicBezTo>
                    <a:pt x="0" y="7"/>
                    <a:pt x="7" y="0"/>
                    <a:pt x="16" y="0"/>
                  </a:cubicBezTo>
                  <a:lnTo>
                    <a:pt x="23" y="0"/>
                  </a:lnTo>
                  <a:cubicBezTo>
                    <a:pt x="31" y="0"/>
                    <a:pt x="38" y="7"/>
                    <a:pt x="38" y="16"/>
                  </a:cubicBezTo>
                  <a:lnTo>
                    <a:pt x="38" y="87"/>
                  </a:lnTo>
                  <a:cubicBezTo>
                    <a:pt x="38" y="95"/>
                    <a:pt x="31" y="102"/>
                    <a:pt x="23" y="102"/>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8"/>
            <p:cNvSpPr/>
            <p:nvPr/>
          </p:nvSpPr>
          <p:spPr>
            <a:xfrm>
              <a:off x="8679200" y="5398935"/>
              <a:ext cx="25486" cy="76458"/>
            </a:xfrm>
            <a:custGeom>
              <a:rect b="b" l="l" r="r" t="t"/>
              <a:pathLst>
                <a:path extrusionOk="0" h="102" w="37">
                  <a:moveTo>
                    <a:pt x="22" y="102"/>
                  </a:moveTo>
                  <a:lnTo>
                    <a:pt x="15" y="102"/>
                  </a:lnTo>
                  <a:cubicBezTo>
                    <a:pt x="7" y="102"/>
                    <a:pt x="0" y="95"/>
                    <a:pt x="0" y="86"/>
                  </a:cubicBezTo>
                  <a:lnTo>
                    <a:pt x="0" y="15"/>
                  </a:lnTo>
                  <a:cubicBezTo>
                    <a:pt x="0" y="7"/>
                    <a:pt x="7" y="0"/>
                    <a:pt x="15" y="0"/>
                  </a:cubicBezTo>
                  <a:lnTo>
                    <a:pt x="22" y="0"/>
                  </a:lnTo>
                  <a:cubicBezTo>
                    <a:pt x="30" y="0"/>
                    <a:pt x="37" y="7"/>
                    <a:pt x="37" y="15"/>
                  </a:cubicBezTo>
                  <a:lnTo>
                    <a:pt x="37" y="86"/>
                  </a:lnTo>
                  <a:cubicBezTo>
                    <a:pt x="37" y="95"/>
                    <a:pt x="30" y="102"/>
                    <a:pt x="22" y="102"/>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8"/>
            <p:cNvSpPr/>
            <p:nvPr/>
          </p:nvSpPr>
          <p:spPr>
            <a:xfrm>
              <a:off x="8921321" y="5373449"/>
              <a:ext cx="229375" cy="280347"/>
            </a:xfrm>
            <a:custGeom>
              <a:rect b="b" l="l" r="r" t="t"/>
              <a:pathLst>
                <a:path extrusionOk="0" h="371" w="298">
                  <a:moveTo>
                    <a:pt x="93" y="371"/>
                  </a:moveTo>
                  <a:lnTo>
                    <a:pt x="146" y="371"/>
                  </a:lnTo>
                  <a:cubicBezTo>
                    <a:pt x="230" y="371"/>
                    <a:pt x="298" y="302"/>
                    <a:pt x="298" y="218"/>
                  </a:cubicBezTo>
                  <a:lnTo>
                    <a:pt x="298" y="152"/>
                  </a:lnTo>
                  <a:cubicBezTo>
                    <a:pt x="298" y="68"/>
                    <a:pt x="230" y="0"/>
                    <a:pt x="146" y="0"/>
                  </a:cubicBezTo>
                  <a:lnTo>
                    <a:pt x="93" y="0"/>
                  </a:lnTo>
                  <a:cubicBezTo>
                    <a:pt x="41" y="0"/>
                    <a:pt x="0" y="42"/>
                    <a:pt x="0" y="94"/>
                  </a:cubicBezTo>
                  <a:lnTo>
                    <a:pt x="0" y="277"/>
                  </a:lnTo>
                  <a:cubicBezTo>
                    <a:pt x="0" y="329"/>
                    <a:pt x="41" y="371"/>
                    <a:pt x="93" y="371"/>
                  </a:cubicBezTo>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8"/>
            <p:cNvSpPr/>
            <p:nvPr/>
          </p:nvSpPr>
          <p:spPr>
            <a:xfrm>
              <a:off x="8093019" y="5704768"/>
              <a:ext cx="1095903" cy="993958"/>
            </a:xfrm>
            <a:custGeom>
              <a:rect b="b" l="l" r="r" t="t"/>
              <a:pathLst>
                <a:path extrusionOk="0" h="1292" w="1438">
                  <a:moveTo>
                    <a:pt x="1194" y="267"/>
                  </a:moveTo>
                  <a:lnTo>
                    <a:pt x="374" y="32"/>
                  </a:lnTo>
                  <a:cubicBezTo>
                    <a:pt x="263" y="0"/>
                    <a:pt x="150" y="70"/>
                    <a:pt x="129" y="183"/>
                  </a:cubicBezTo>
                  <a:lnTo>
                    <a:pt x="0" y="871"/>
                  </a:lnTo>
                  <a:lnTo>
                    <a:pt x="1438" y="1292"/>
                  </a:lnTo>
                  <a:lnTo>
                    <a:pt x="1334" y="431"/>
                  </a:lnTo>
                  <a:cubicBezTo>
                    <a:pt x="1325" y="353"/>
                    <a:pt x="1270" y="289"/>
                    <a:pt x="1194" y="267"/>
                  </a:cubicBez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8"/>
            <p:cNvSpPr/>
            <p:nvPr/>
          </p:nvSpPr>
          <p:spPr>
            <a:xfrm>
              <a:off x="8526283" y="5462654"/>
              <a:ext cx="178403" cy="76458"/>
            </a:xfrm>
            <a:custGeom>
              <a:rect b="b" l="l" r="r" t="t"/>
              <a:pathLst>
                <a:path extrusionOk="0" h="92" w="223">
                  <a:moveTo>
                    <a:pt x="138" y="81"/>
                  </a:moveTo>
                  <a:cubicBezTo>
                    <a:pt x="57" y="81"/>
                    <a:pt x="5" y="22"/>
                    <a:pt x="4" y="21"/>
                  </a:cubicBezTo>
                  <a:cubicBezTo>
                    <a:pt x="0" y="16"/>
                    <a:pt x="0" y="9"/>
                    <a:pt x="5" y="4"/>
                  </a:cubicBezTo>
                  <a:cubicBezTo>
                    <a:pt x="10" y="0"/>
                    <a:pt x="18" y="1"/>
                    <a:pt x="22" y="6"/>
                  </a:cubicBezTo>
                  <a:cubicBezTo>
                    <a:pt x="25" y="9"/>
                    <a:pt x="97" y="92"/>
                    <a:pt x="205" y="42"/>
                  </a:cubicBezTo>
                  <a:cubicBezTo>
                    <a:pt x="210" y="40"/>
                    <a:pt x="217" y="42"/>
                    <a:pt x="220" y="48"/>
                  </a:cubicBezTo>
                  <a:cubicBezTo>
                    <a:pt x="223" y="54"/>
                    <a:pt x="220" y="61"/>
                    <a:pt x="214" y="64"/>
                  </a:cubicBezTo>
                  <a:cubicBezTo>
                    <a:pt x="187" y="77"/>
                    <a:pt x="161" y="81"/>
                    <a:pt x="138" y="81"/>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8"/>
            <p:cNvSpPr/>
            <p:nvPr/>
          </p:nvSpPr>
          <p:spPr>
            <a:xfrm>
              <a:off x="7048090" y="4264808"/>
              <a:ext cx="2395688" cy="2433926"/>
            </a:xfrm>
            <a:custGeom>
              <a:rect b="b" l="l" r="r" t="t"/>
              <a:pathLst>
                <a:path extrusionOk="0" h="3170" w="3119">
                  <a:moveTo>
                    <a:pt x="202" y="34"/>
                  </a:moveTo>
                  <a:cubicBezTo>
                    <a:pt x="164" y="34"/>
                    <a:pt x="126" y="46"/>
                    <a:pt x="95" y="70"/>
                  </a:cubicBezTo>
                  <a:cubicBezTo>
                    <a:pt x="50" y="104"/>
                    <a:pt x="24" y="156"/>
                    <a:pt x="24" y="212"/>
                  </a:cubicBezTo>
                  <a:lnTo>
                    <a:pt x="24" y="2057"/>
                  </a:lnTo>
                  <a:cubicBezTo>
                    <a:pt x="24" y="2229"/>
                    <a:pt x="140" y="2384"/>
                    <a:pt x="306" y="2431"/>
                  </a:cubicBezTo>
                  <a:lnTo>
                    <a:pt x="2756" y="3136"/>
                  </a:lnTo>
                  <a:cubicBezTo>
                    <a:pt x="2837" y="3159"/>
                    <a:pt x="2922" y="3144"/>
                    <a:pt x="2989" y="3093"/>
                  </a:cubicBezTo>
                  <a:cubicBezTo>
                    <a:pt x="3056" y="3043"/>
                    <a:pt x="3095" y="2965"/>
                    <a:pt x="3095" y="2881"/>
                  </a:cubicBezTo>
                  <a:lnTo>
                    <a:pt x="3095" y="993"/>
                  </a:lnTo>
                  <a:cubicBezTo>
                    <a:pt x="3095" y="914"/>
                    <a:pt x="3042" y="844"/>
                    <a:pt x="2966" y="822"/>
                  </a:cubicBezTo>
                  <a:lnTo>
                    <a:pt x="252" y="41"/>
                  </a:lnTo>
                  <a:cubicBezTo>
                    <a:pt x="235" y="36"/>
                    <a:pt x="218" y="34"/>
                    <a:pt x="202" y="34"/>
                  </a:cubicBezTo>
                  <a:close/>
                  <a:moveTo>
                    <a:pt x="2830" y="3170"/>
                  </a:moveTo>
                  <a:cubicBezTo>
                    <a:pt x="2804" y="3170"/>
                    <a:pt x="2776" y="3167"/>
                    <a:pt x="2750" y="3159"/>
                  </a:cubicBezTo>
                  <a:lnTo>
                    <a:pt x="300" y="2454"/>
                  </a:lnTo>
                  <a:cubicBezTo>
                    <a:pt x="123" y="2403"/>
                    <a:pt x="0" y="2240"/>
                    <a:pt x="0" y="2057"/>
                  </a:cubicBezTo>
                  <a:lnTo>
                    <a:pt x="0" y="212"/>
                  </a:lnTo>
                  <a:cubicBezTo>
                    <a:pt x="0" y="148"/>
                    <a:pt x="30" y="89"/>
                    <a:pt x="81" y="51"/>
                  </a:cubicBezTo>
                  <a:cubicBezTo>
                    <a:pt x="132" y="12"/>
                    <a:pt x="197" y="0"/>
                    <a:pt x="258" y="18"/>
                  </a:cubicBezTo>
                  <a:lnTo>
                    <a:pt x="2973" y="799"/>
                  </a:lnTo>
                  <a:cubicBezTo>
                    <a:pt x="3058" y="824"/>
                    <a:pt x="3119" y="904"/>
                    <a:pt x="3119" y="993"/>
                  </a:cubicBezTo>
                  <a:lnTo>
                    <a:pt x="3119" y="2881"/>
                  </a:lnTo>
                  <a:cubicBezTo>
                    <a:pt x="3119" y="2973"/>
                    <a:pt x="3077" y="3057"/>
                    <a:pt x="3003" y="3112"/>
                  </a:cubicBezTo>
                  <a:cubicBezTo>
                    <a:pt x="2952" y="3150"/>
                    <a:pt x="2892" y="3170"/>
                    <a:pt x="2830" y="3170"/>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8"/>
            <p:cNvSpPr/>
            <p:nvPr/>
          </p:nvSpPr>
          <p:spPr>
            <a:xfrm>
              <a:off x="7175520" y="4392239"/>
              <a:ext cx="127500" cy="140100"/>
            </a:xfrm>
            <a:prstGeom prst="ellipse">
              <a:avLst/>
            </a:prstGeom>
            <a:solidFill>
              <a:srgbClr val="F579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8"/>
            <p:cNvSpPr/>
            <p:nvPr/>
          </p:nvSpPr>
          <p:spPr>
            <a:xfrm>
              <a:off x="7404895" y="4455950"/>
              <a:ext cx="127500" cy="127500"/>
            </a:xfrm>
            <a:prstGeom prst="ellipse">
              <a:avLst/>
            </a:prstGeom>
            <a:solidFill>
              <a:srgbClr val="EF32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8"/>
            <p:cNvSpPr/>
            <p:nvPr/>
          </p:nvSpPr>
          <p:spPr>
            <a:xfrm>
              <a:off x="7634270" y="4506922"/>
              <a:ext cx="140100" cy="140100"/>
            </a:xfrm>
            <a:prstGeom prst="ellipse">
              <a:avLst/>
            </a:prstGeom>
            <a:solidFill>
              <a:srgbClr val="8BD1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8"/>
            <p:cNvSpPr/>
            <p:nvPr/>
          </p:nvSpPr>
          <p:spPr>
            <a:xfrm>
              <a:off x="7048090" y="4545155"/>
              <a:ext cx="2395695" cy="713611"/>
            </a:xfrm>
            <a:custGeom>
              <a:rect b="b" l="l" r="r" t="t"/>
              <a:pathLst>
                <a:path extrusionOk="0" h="915" w="3121">
                  <a:moveTo>
                    <a:pt x="3108" y="915"/>
                  </a:moveTo>
                  <a:lnTo>
                    <a:pt x="3104" y="915"/>
                  </a:lnTo>
                  <a:lnTo>
                    <a:pt x="10" y="25"/>
                  </a:lnTo>
                  <a:cubicBezTo>
                    <a:pt x="4" y="23"/>
                    <a:pt x="0" y="16"/>
                    <a:pt x="2" y="10"/>
                  </a:cubicBezTo>
                  <a:cubicBezTo>
                    <a:pt x="4" y="4"/>
                    <a:pt x="10" y="0"/>
                    <a:pt x="16" y="2"/>
                  </a:cubicBezTo>
                  <a:lnTo>
                    <a:pt x="3111" y="892"/>
                  </a:lnTo>
                  <a:cubicBezTo>
                    <a:pt x="3117" y="894"/>
                    <a:pt x="3121" y="901"/>
                    <a:pt x="3119" y="907"/>
                  </a:cubicBezTo>
                  <a:cubicBezTo>
                    <a:pt x="3118" y="912"/>
                    <a:pt x="3113" y="915"/>
                    <a:pt x="3108" y="915"/>
                  </a:cubicBezTo>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8"/>
            <p:cNvSpPr/>
            <p:nvPr/>
          </p:nvSpPr>
          <p:spPr>
            <a:xfrm>
              <a:off x="7621531" y="5615571"/>
              <a:ext cx="382291" cy="318580"/>
            </a:xfrm>
            <a:custGeom>
              <a:rect b="b" l="l" r="r" t="t"/>
              <a:pathLst>
                <a:path extrusionOk="0" h="408" w="507">
                  <a:moveTo>
                    <a:pt x="507" y="408"/>
                  </a:moveTo>
                  <a:lnTo>
                    <a:pt x="444" y="283"/>
                  </a:lnTo>
                  <a:cubicBezTo>
                    <a:pt x="417" y="229"/>
                    <a:pt x="375" y="184"/>
                    <a:pt x="324" y="152"/>
                  </a:cubicBezTo>
                  <a:lnTo>
                    <a:pt x="106" y="17"/>
                  </a:lnTo>
                  <a:cubicBezTo>
                    <a:pt x="87" y="2"/>
                    <a:pt x="61" y="0"/>
                    <a:pt x="40" y="12"/>
                  </a:cubicBezTo>
                  <a:cubicBezTo>
                    <a:pt x="8" y="30"/>
                    <a:pt x="0" y="72"/>
                    <a:pt x="22" y="101"/>
                  </a:cubicBezTo>
                  <a:lnTo>
                    <a:pt x="114" y="223"/>
                  </a:lnTo>
                  <a:lnTo>
                    <a:pt x="60" y="353"/>
                  </a:lnTo>
                  <a:lnTo>
                    <a:pt x="507" y="408"/>
                  </a:lnTo>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8"/>
            <p:cNvSpPr/>
            <p:nvPr/>
          </p:nvSpPr>
          <p:spPr>
            <a:xfrm>
              <a:off x="7315698" y="4698072"/>
              <a:ext cx="649899" cy="1095902"/>
            </a:xfrm>
            <a:custGeom>
              <a:rect b="b" l="l" r="r" t="t"/>
              <a:pathLst>
                <a:path extrusionOk="0" h="86" w="51">
                  <a:moveTo>
                    <a:pt x="51" y="86"/>
                  </a:moveTo>
                  <a:lnTo>
                    <a:pt x="0" y="71"/>
                  </a:lnTo>
                  <a:lnTo>
                    <a:pt x="0" y="0"/>
                  </a:lnTo>
                  <a:lnTo>
                    <a:pt x="51" y="16"/>
                  </a:lnTo>
                  <a:lnTo>
                    <a:pt x="51" y="86"/>
                  </a:lnTo>
                  <a:close/>
                </a:path>
              </a:pathLst>
            </a:custGeom>
            <a:solidFill>
              <a:srgbClr val="F579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8"/>
            <p:cNvSpPr/>
            <p:nvPr/>
          </p:nvSpPr>
          <p:spPr>
            <a:xfrm>
              <a:off x="7302951" y="4889213"/>
              <a:ext cx="675384" cy="917498"/>
            </a:xfrm>
            <a:custGeom>
              <a:rect b="b" l="l" r="r" t="t"/>
              <a:pathLst>
                <a:path extrusionOk="0" h="1193" w="878">
                  <a:moveTo>
                    <a:pt x="866" y="1193"/>
                  </a:moveTo>
                  <a:lnTo>
                    <a:pt x="862" y="1193"/>
                  </a:lnTo>
                  <a:lnTo>
                    <a:pt x="10" y="936"/>
                  </a:lnTo>
                  <a:cubicBezTo>
                    <a:pt x="4" y="934"/>
                    <a:pt x="0" y="928"/>
                    <a:pt x="2" y="921"/>
                  </a:cubicBezTo>
                  <a:cubicBezTo>
                    <a:pt x="4" y="915"/>
                    <a:pt x="10" y="911"/>
                    <a:pt x="17" y="913"/>
                  </a:cubicBezTo>
                  <a:lnTo>
                    <a:pt x="854" y="1166"/>
                  </a:lnTo>
                  <a:lnTo>
                    <a:pt x="854" y="12"/>
                  </a:lnTo>
                  <a:cubicBezTo>
                    <a:pt x="854" y="6"/>
                    <a:pt x="859" y="0"/>
                    <a:pt x="866" y="0"/>
                  </a:cubicBezTo>
                  <a:cubicBezTo>
                    <a:pt x="872" y="0"/>
                    <a:pt x="878" y="6"/>
                    <a:pt x="878" y="12"/>
                  </a:cubicBezTo>
                  <a:lnTo>
                    <a:pt x="878" y="1181"/>
                  </a:lnTo>
                  <a:cubicBezTo>
                    <a:pt x="878" y="1185"/>
                    <a:pt x="876" y="1189"/>
                    <a:pt x="873" y="1191"/>
                  </a:cubicBezTo>
                  <a:cubicBezTo>
                    <a:pt x="871" y="1192"/>
                    <a:pt x="868" y="1193"/>
                    <a:pt x="866" y="1193"/>
                  </a:cubicBezTo>
                </a:path>
              </a:pathLst>
            </a:custGeom>
            <a:solidFill>
              <a:srgbClr val="C216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8"/>
            <p:cNvSpPr/>
            <p:nvPr/>
          </p:nvSpPr>
          <p:spPr>
            <a:xfrm>
              <a:off x="7404895" y="4850988"/>
              <a:ext cx="471497" cy="802816"/>
            </a:xfrm>
            <a:custGeom>
              <a:rect b="b" l="l" r="r" t="t"/>
              <a:pathLst>
                <a:path extrusionOk="0" h="63" w="37">
                  <a:moveTo>
                    <a:pt x="37" y="63"/>
                  </a:moveTo>
                  <a:lnTo>
                    <a:pt x="0" y="52"/>
                  </a:lnTo>
                  <a:lnTo>
                    <a:pt x="0" y="0"/>
                  </a:lnTo>
                  <a:lnTo>
                    <a:pt x="37" y="11"/>
                  </a:lnTo>
                  <a:lnTo>
                    <a:pt x="37" y="6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8"/>
            <p:cNvSpPr/>
            <p:nvPr/>
          </p:nvSpPr>
          <p:spPr>
            <a:xfrm>
              <a:off x="7404895" y="4991158"/>
              <a:ext cx="471498" cy="662639"/>
            </a:xfrm>
            <a:custGeom>
              <a:rect b="b" l="l" r="r" t="t"/>
              <a:pathLst>
                <a:path extrusionOk="0" h="860" w="627">
                  <a:moveTo>
                    <a:pt x="627" y="0"/>
                  </a:moveTo>
                  <a:lnTo>
                    <a:pt x="627" y="860"/>
                  </a:lnTo>
                  <a:lnTo>
                    <a:pt x="0" y="671"/>
                  </a:ln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8"/>
            <p:cNvSpPr/>
            <p:nvPr/>
          </p:nvSpPr>
          <p:spPr>
            <a:xfrm>
              <a:off x="7697989" y="5398935"/>
              <a:ext cx="76458" cy="152917"/>
            </a:xfrm>
            <a:custGeom>
              <a:rect b="b" l="l" r="r" t="t"/>
              <a:pathLst>
                <a:path extrusionOk="0" h="12" w="6">
                  <a:moveTo>
                    <a:pt x="6" y="12"/>
                  </a:moveTo>
                  <a:lnTo>
                    <a:pt x="0" y="11"/>
                  </a:lnTo>
                  <a:lnTo>
                    <a:pt x="0" y="0"/>
                  </a:lnTo>
                  <a:lnTo>
                    <a:pt x="6" y="2"/>
                  </a:lnTo>
                  <a:lnTo>
                    <a:pt x="6" y="12"/>
                  </a:ln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8"/>
            <p:cNvSpPr/>
            <p:nvPr/>
          </p:nvSpPr>
          <p:spPr>
            <a:xfrm>
              <a:off x="7583298" y="5322477"/>
              <a:ext cx="76458" cy="203889"/>
            </a:xfrm>
            <a:custGeom>
              <a:rect b="b" l="l" r="r" t="t"/>
              <a:pathLst>
                <a:path extrusionOk="0" h="16" w="6">
                  <a:moveTo>
                    <a:pt x="6" y="16"/>
                  </a:moveTo>
                  <a:lnTo>
                    <a:pt x="0" y="14"/>
                  </a:lnTo>
                  <a:lnTo>
                    <a:pt x="0" y="0"/>
                  </a:lnTo>
                  <a:lnTo>
                    <a:pt x="6" y="2"/>
                  </a:lnTo>
                  <a:lnTo>
                    <a:pt x="6" y="16"/>
                  </a:lnTo>
                  <a:close/>
                </a:path>
              </a:pathLst>
            </a:custGeom>
            <a:solidFill>
              <a:srgbClr val="EF32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8"/>
            <p:cNvSpPr/>
            <p:nvPr/>
          </p:nvSpPr>
          <p:spPr>
            <a:xfrm>
              <a:off x="7481353" y="5411682"/>
              <a:ext cx="76458" cy="76458"/>
            </a:xfrm>
            <a:custGeom>
              <a:rect b="b" l="l" r="r" t="t"/>
              <a:pathLst>
                <a:path extrusionOk="0" h="6" w="6">
                  <a:moveTo>
                    <a:pt x="6" y="6"/>
                  </a:moveTo>
                  <a:lnTo>
                    <a:pt x="0" y="4"/>
                  </a:lnTo>
                  <a:lnTo>
                    <a:pt x="0" y="0"/>
                  </a:lnTo>
                  <a:lnTo>
                    <a:pt x="6" y="1"/>
                  </a:lnTo>
                  <a:lnTo>
                    <a:pt x="6" y="6"/>
                  </a:lnTo>
                  <a:close/>
                </a:path>
              </a:pathLst>
            </a:custGeom>
            <a:solidFill>
              <a:srgbClr val="FBC8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18"/>
            <p:cNvSpPr/>
            <p:nvPr/>
          </p:nvSpPr>
          <p:spPr>
            <a:xfrm>
              <a:off x="7443128" y="5093102"/>
              <a:ext cx="382291" cy="484236"/>
            </a:xfrm>
            <a:custGeom>
              <a:rect b="b" l="l" r="r" t="t"/>
              <a:pathLst>
                <a:path extrusionOk="0" h="638" w="507">
                  <a:moveTo>
                    <a:pt x="495" y="638"/>
                  </a:moveTo>
                  <a:lnTo>
                    <a:pt x="492" y="637"/>
                  </a:lnTo>
                  <a:lnTo>
                    <a:pt x="10" y="503"/>
                  </a:lnTo>
                  <a:cubicBezTo>
                    <a:pt x="4" y="501"/>
                    <a:pt x="0" y="495"/>
                    <a:pt x="2" y="489"/>
                  </a:cubicBezTo>
                  <a:cubicBezTo>
                    <a:pt x="3" y="482"/>
                    <a:pt x="10" y="479"/>
                    <a:pt x="16" y="480"/>
                  </a:cubicBezTo>
                  <a:lnTo>
                    <a:pt x="484" y="610"/>
                  </a:lnTo>
                  <a:lnTo>
                    <a:pt x="484" y="12"/>
                  </a:lnTo>
                  <a:cubicBezTo>
                    <a:pt x="484" y="6"/>
                    <a:pt x="489" y="0"/>
                    <a:pt x="495" y="0"/>
                  </a:cubicBezTo>
                  <a:cubicBezTo>
                    <a:pt x="502" y="0"/>
                    <a:pt x="507" y="6"/>
                    <a:pt x="507" y="12"/>
                  </a:cubicBezTo>
                  <a:lnTo>
                    <a:pt x="507" y="626"/>
                  </a:lnTo>
                  <a:cubicBezTo>
                    <a:pt x="507" y="630"/>
                    <a:pt x="506" y="633"/>
                    <a:pt x="503" y="635"/>
                  </a:cubicBezTo>
                  <a:cubicBezTo>
                    <a:pt x="501" y="637"/>
                    <a:pt x="498" y="638"/>
                    <a:pt x="495" y="638"/>
                  </a:cubicBezTo>
                </a:path>
              </a:pathLst>
            </a:custGeom>
            <a:solidFill>
              <a:srgbClr val="C216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8"/>
            <p:cNvSpPr/>
            <p:nvPr/>
          </p:nvSpPr>
          <p:spPr>
            <a:xfrm>
              <a:off x="7213753" y="5551852"/>
              <a:ext cx="802815" cy="624412"/>
            </a:xfrm>
            <a:custGeom>
              <a:rect b="b" l="l" r="r" t="t"/>
              <a:pathLst>
                <a:path extrusionOk="0" h="807" w="1038">
                  <a:moveTo>
                    <a:pt x="107" y="3"/>
                  </a:moveTo>
                  <a:cubicBezTo>
                    <a:pt x="77" y="11"/>
                    <a:pt x="56" y="36"/>
                    <a:pt x="79" y="72"/>
                  </a:cubicBezTo>
                  <a:lnTo>
                    <a:pt x="51" y="83"/>
                  </a:lnTo>
                  <a:cubicBezTo>
                    <a:pt x="15" y="97"/>
                    <a:pt x="0" y="139"/>
                    <a:pt x="19" y="173"/>
                  </a:cubicBezTo>
                  <a:lnTo>
                    <a:pt x="232" y="555"/>
                  </a:lnTo>
                  <a:lnTo>
                    <a:pt x="748" y="786"/>
                  </a:lnTo>
                  <a:cubicBezTo>
                    <a:pt x="794" y="807"/>
                    <a:pt x="847" y="803"/>
                    <a:pt x="890" y="776"/>
                  </a:cubicBezTo>
                  <a:cubicBezTo>
                    <a:pt x="984" y="718"/>
                    <a:pt x="1038" y="611"/>
                    <a:pt x="1029" y="501"/>
                  </a:cubicBezTo>
                  <a:cubicBezTo>
                    <a:pt x="1025" y="459"/>
                    <a:pt x="996" y="423"/>
                    <a:pt x="956" y="412"/>
                  </a:cubicBezTo>
                  <a:lnTo>
                    <a:pt x="563" y="297"/>
                  </a:lnTo>
                  <a:lnTo>
                    <a:pt x="466" y="75"/>
                  </a:lnTo>
                  <a:cubicBezTo>
                    <a:pt x="455" y="52"/>
                    <a:pt x="434" y="37"/>
                    <a:pt x="409" y="34"/>
                  </a:cubicBezTo>
                  <a:cubicBezTo>
                    <a:pt x="361" y="29"/>
                    <a:pt x="322" y="72"/>
                    <a:pt x="333" y="119"/>
                  </a:cubicBezTo>
                  <a:lnTo>
                    <a:pt x="345" y="175"/>
                  </a:lnTo>
                  <a:lnTo>
                    <a:pt x="246" y="64"/>
                  </a:lnTo>
                  <a:cubicBezTo>
                    <a:pt x="220" y="35"/>
                    <a:pt x="179" y="8"/>
                    <a:pt x="137" y="2"/>
                  </a:cubicBezTo>
                  <a:cubicBezTo>
                    <a:pt x="127" y="0"/>
                    <a:pt x="116" y="1"/>
                    <a:pt x="107" y="3"/>
                  </a:cubicBez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8"/>
            <p:cNvSpPr/>
            <p:nvPr/>
          </p:nvSpPr>
          <p:spPr>
            <a:xfrm>
              <a:off x="7468614" y="5679282"/>
              <a:ext cx="89205" cy="191150"/>
            </a:xfrm>
            <a:custGeom>
              <a:rect b="b" l="l" r="r" t="t"/>
              <a:pathLst>
                <a:path extrusionOk="0" h="249" w="112">
                  <a:moveTo>
                    <a:pt x="99" y="249"/>
                  </a:moveTo>
                  <a:cubicBezTo>
                    <a:pt x="94" y="249"/>
                    <a:pt x="90" y="247"/>
                    <a:pt x="88" y="242"/>
                  </a:cubicBezTo>
                  <a:lnTo>
                    <a:pt x="2" y="18"/>
                  </a:lnTo>
                  <a:cubicBezTo>
                    <a:pt x="0" y="12"/>
                    <a:pt x="3" y="5"/>
                    <a:pt x="9" y="3"/>
                  </a:cubicBezTo>
                  <a:cubicBezTo>
                    <a:pt x="15" y="0"/>
                    <a:pt x="22" y="3"/>
                    <a:pt x="24" y="10"/>
                  </a:cubicBezTo>
                  <a:lnTo>
                    <a:pt x="110" y="233"/>
                  </a:lnTo>
                  <a:cubicBezTo>
                    <a:pt x="112" y="239"/>
                    <a:pt x="109" y="246"/>
                    <a:pt x="103" y="249"/>
                  </a:cubicBezTo>
                  <a:lnTo>
                    <a:pt x="99" y="249"/>
                  </a:lnTo>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18"/>
            <p:cNvSpPr/>
            <p:nvPr/>
          </p:nvSpPr>
          <p:spPr>
            <a:xfrm>
              <a:off x="7264726" y="5602824"/>
              <a:ext cx="203889" cy="331319"/>
            </a:xfrm>
            <a:custGeom>
              <a:rect b="b" l="l" r="r" t="t"/>
              <a:pathLst>
                <a:path extrusionOk="0" h="424" w="263">
                  <a:moveTo>
                    <a:pt x="250" y="424"/>
                  </a:moveTo>
                  <a:cubicBezTo>
                    <a:pt x="246" y="424"/>
                    <a:pt x="242" y="422"/>
                    <a:pt x="240" y="418"/>
                  </a:cubicBezTo>
                  <a:lnTo>
                    <a:pt x="3" y="19"/>
                  </a:lnTo>
                  <a:cubicBezTo>
                    <a:pt x="0" y="14"/>
                    <a:pt x="2" y="6"/>
                    <a:pt x="8" y="3"/>
                  </a:cubicBezTo>
                  <a:cubicBezTo>
                    <a:pt x="13" y="0"/>
                    <a:pt x="20" y="2"/>
                    <a:pt x="24" y="7"/>
                  </a:cubicBezTo>
                  <a:lnTo>
                    <a:pt x="260" y="406"/>
                  </a:lnTo>
                  <a:cubicBezTo>
                    <a:pt x="263" y="411"/>
                    <a:pt x="261" y="419"/>
                    <a:pt x="256" y="422"/>
                  </a:cubicBezTo>
                  <a:cubicBezTo>
                    <a:pt x="254" y="423"/>
                    <a:pt x="252" y="424"/>
                    <a:pt x="250" y="424"/>
                  </a:cubicBezTo>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8"/>
            <p:cNvSpPr/>
            <p:nvPr/>
          </p:nvSpPr>
          <p:spPr>
            <a:xfrm>
              <a:off x="7570559" y="5806712"/>
              <a:ext cx="63719" cy="76458"/>
            </a:xfrm>
            <a:custGeom>
              <a:rect b="b" l="l" r="r" t="t"/>
              <a:pathLst>
                <a:path extrusionOk="0" h="88" w="82">
                  <a:moveTo>
                    <a:pt x="6" y="31"/>
                  </a:moveTo>
                  <a:lnTo>
                    <a:pt x="49" y="81"/>
                  </a:lnTo>
                  <a:cubicBezTo>
                    <a:pt x="54" y="88"/>
                    <a:pt x="64" y="88"/>
                    <a:pt x="70" y="83"/>
                  </a:cubicBezTo>
                  <a:lnTo>
                    <a:pt x="75" y="79"/>
                  </a:lnTo>
                  <a:cubicBezTo>
                    <a:pt x="82" y="73"/>
                    <a:pt x="82" y="64"/>
                    <a:pt x="77" y="57"/>
                  </a:cubicBezTo>
                  <a:lnTo>
                    <a:pt x="34" y="7"/>
                  </a:lnTo>
                  <a:cubicBezTo>
                    <a:pt x="28" y="1"/>
                    <a:pt x="19" y="0"/>
                    <a:pt x="12" y="5"/>
                  </a:cubicBezTo>
                  <a:lnTo>
                    <a:pt x="7" y="9"/>
                  </a:lnTo>
                  <a:cubicBezTo>
                    <a:pt x="1" y="15"/>
                    <a:pt x="0" y="24"/>
                    <a:pt x="6" y="31"/>
                  </a:cubicBezTo>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8"/>
            <p:cNvSpPr/>
            <p:nvPr/>
          </p:nvSpPr>
          <p:spPr>
            <a:xfrm>
              <a:off x="7481353" y="5857685"/>
              <a:ext cx="50972" cy="76458"/>
            </a:xfrm>
            <a:custGeom>
              <a:rect b="b" l="l" r="r" t="t"/>
              <a:pathLst>
                <a:path extrusionOk="0" h="95" w="74">
                  <a:moveTo>
                    <a:pt x="4" y="28"/>
                  </a:moveTo>
                  <a:lnTo>
                    <a:pt x="38" y="86"/>
                  </a:lnTo>
                  <a:cubicBezTo>
                    <a:pt x="42" y="93"/>
                    <a:pt x="51" y="95"/>
                    <a:pt x="58" y="91"/>
                  </a:cubicBezTo>
                  <a:lnTo>
                    <a:pt x="64" y="88"/>
                  </a:lnTo>
                  <a:cubicBezTo>
                    <a:pt x="71" y="84"/>
                    <a:pt x="74" y="74"/>
                    <a:pt x="70" y="67"/>
                  </a:cubicBezTo>
                  <a:lnTo>
                    <a:pt x="36" y="10"/>
                  </a:lnTo>
                  <a:cubicBezTo>
                    <a:pt x="32" y="2"/>
                    <a:pt x="23" y="0"/>
                    <a:pt x="16" y="4"/>
                  </a:cubicBezTo>
                  <a:lnTo>
                    <a:pt x="10" y="7"/>
                  </a:lnTo>
                  <a:cubicBezTo>
                    <a:pt x="3" y="12"/>
                    <a:pt x="0" y="21"/>
                    <a:pt x="4" y="28"/>
                  </a:cubicBezTo>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8"/>
            <p:cNvSpPr/>
            <p:nvPr/>
          </p:nvSpPr>
          <p:spPr>
            <a:xfrm>
              <a:off x="7685242" y="5934143"/>
              <a:ext cx="369552" cy="369552"/>
            </a:xfrm>
            <a:custGeom>
              <a:rect b="b" l="l" r="r" t="t"/>
              <a:pathLst>
                <a:path extrusionOk="0" h="485" w="475">
                  <a:moveTo>
                    <a:pt x="9" y="353"/>
                  </a:moveTo>
                  <a:lnTo>
                    <a:pt x="35" y="272"/>
                  </a:lnTo>
                  <a:lnTo>
                    <a:pt x="0" y="148"/>
                  </a:lnTo>
                  <a:lnTo>
                    <a:pt x="420" y="0"/>
                  </a:lnTo>
                  <a:lnTo>
                    <a:pt x="450" y="77"/>
                  </a:lnTo>
                  <a:cubicBezTo>
                    <a:pt x="471" y="134"/>
                    <a:pt x="475" y="196"/>
                    <a:pt x="459" y="254"/>
                  </a:cubicBezTo>
                  <a:lnTo>
                    <a:pt x="400" y="468"/>
                  </a:lnTo>
                  <a:cubicBezTo>
                    <a:pt x="397" y="479"/>
                    <a:pt x="386" y="485"/>
                    <a:pt x="375" y="482"/>
                  </a:cubicBezTo>
                  <a:lnTo>
                    <a:pt x="22" y="378"/>
                  </a:lnTo>
                  <a:cubicBezTo>
                    <a:pt x="11" y="375"/>
                    <a:pt x="5" y="364"/>
                    <a:pt x="9" y="353"/>
                  </a:cubicBez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5" name="Google Shape;445;p18"/>
          <p:cNvGrpSpPr/>
          <p:nvPr/>
        </p:nvGrpSpPr>
        <p:grpSpPr>
          <a:xfrm>
            <a:off x="6780960" y="2580007"/>
            <a:ext cx="859178" cy="934990"/>
            <a:chOff x="12169387" y="2570653"/>
            <a:chExt cx="2035003" cy="2214567"/>
          </a:xfrm>
        </p:grpSpPr>
        <p:sp>
          <p:nvSpPr>
            <p:cNvPr id="446" name="Google Shape;446;p18"/>
            <p:cNvSpPr/>
            <p:nvPr/>
          </p:nvSpPr>
          <p:spPr>
            <a:xfrm>
              <a:off x="13571659" y="2570653"/>
              <a:ext cx="632731" cy="769539"/>
            </a:xfrm>
            <a:custGeom>
              <a:rect b="b" l="l" r="r" t="t"/>
              <a:pathLst>
                <a:path extrusionOk="0" h="1484" w="1235">
                  <a:moveTo>
                    <a:pt x="1235" y="634"/>
                  </a:moveTo>
                  <a:cubicBezTo>
                    <a:pt x="1235" y="282"/>
                    <a:pt x="937" y="0"/>
                    <a:pt x="580" y="27"/>
                  </a:cubicBezTo>
                  <a:cubicBezTo>
                    <a:pt x="288" y="48"/>
                    <a:pt x="49" y="281"/>
                    <a:pt x="21" y="573"/>
                  </a:cubicBezTo>
                  <a:cubicBezTo>
                    <a:pt x="0" y="787"/>
                    <a:pt x="91" y="982"/>
                    <a:pt x="242" y="1105"/>
                  </a:cubicBezTo>
                  <a:cubicBezTo>
                    <a:pt x="338" y="1183"/>
                    <a:pt x="401" y="1294"/>
                    <a:pt x="422" y="1415"/>
                  </a:cubicBezTo>
                  <a:lnTo>
                    <a:pt x="431" y="1462"/>
                  </a:lnTo>
                  <a:cubicBezTo>
                    <a:pt x="434" y="1475"/>
                    <a:pt x="446" y="1484"/>
                    <a:pt x="460" y="1484"/>
                  </a:cubicBezTo>
                  <a:lnTo>
                    <a:pt x="793" y="1484"/>
                  </a:lnTo>
                  <a:cubicBezTo>
                    <a:pt x="807" y="1484"/>
                    <a:pt x="819" y="1475"/>
                    <a:pt x="822" y="1462"/>
                  </a:cubicBezTo>
                  <a:lnTo>
                    <a:pt x="831" y="1416"/>
                  </a:lnTo>
                  <a:cubicBezTo>
                    <a:pt x="853" y="1292"/>
                    <a:pt x="920" y="1182"/>
                    <a:pt x="1016" y="1101"/>
                  </a:cubicBezTo>
                  <a:cubicBezTo>
                    <a:pt x="1150" y="989"/>
                    <a:pt x="1235" y="822"/>
                    <a:pt x="1235" y="634"/>
                  </a:cubicBezTo>
                </a:path>
              </a:pathLst>
            </a:custGeom>
            <a:solidFill>
              <a:srgbClr val="FBC8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8"/>
            <p:cNvSpPr/>
            <p:nvPr/>
          </p:nvSpPr>
          <p:spPr>
            <a:xfrm>
              <a:off x="13785422" y="2929771"/>
              <a:ext cx="42755" cy="94058"/>
            </a:xfrm>
            <a:custGeom>
              <a:rect b="b" l="l" r="r" t="t"/>
              <a:pathLst>
                <a:path extrusionOk="0" h="178" w="84">
                  <a:moveTo>
                    <a:pt x="50" y="178"/>
                  </a:moveTo>
                  <a:lnTo>
                    <a:pt x="35" y="178"/>
                  </a:lnTo>
                  <a:cubicBezTo>
                    <a:pt x="16" y="178"/>
                    <a:pt x="0" y="162"/>
                    <a:pt x="0" y="143"/>
                  </a:cubicBezTo>
                  <a:lnTo>
                    <a:pt x="0" y="34"/>
                  </a:lnTo>
                  <a:cubicBezTo>
                    <a:pt x="0" y="15"/>
                    <a:pt x="16" y="0"/>
                    <a:pt x="35" y="0"/>
                  </a:cubicBezTo>
                  <a:lnTo>
                    <a:pt x="50" y="0"/>
                  </a:lnTo>
                  <a:cubicBezTo>
                    <a:pt x="69" y="0"/>
                    <a:pt x="84" y="15"/>
                    <a:pt x="84" y="34"/>
                  </a:cubicBezTo>
                  <a:lnTo>
                    <a:pt x="84" y="143"/>
                  </a:lnTo>
                  <a:cubicBezTo>
                    <a:pt x="84" y="162"/>
                    <a:pt x="69" y="178"/>
                    <a:pt x="50" y="178"/>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8"/>
            <p:cNvSpPr/>
            <p:nvPr/>
          </p:nvSpPr>
          <p:spPr>
            <a:xfrm>
              <a:off x="13947878" y="2929771"/>
              <a:ext cx="42755" cy="94058"/>
            </a:xfrm>
            <a:custGeom>
              <a:rect b="b" l="l" r="r" t="t"/>
              <a:pathLst>
                <a:path extrusionOk="0" h="178" w="84">
                  <a:moveTo>
                    <a:pt x="49" y="178"/>
                  </a:moveTo>
                  <a:lnTo>
                    <a:pt x="34" y="178"/>
                  </a:lnTo>
                  <a:cubicBezTo>
                    <a:pt x="15" y="178"/>
                    <a:pt x="0" y="162"/>
                    <a:pt x="0" y="143"/>
                  </a:cubicBezTo>
                  <a:lnTo>
                    <a:pt x="0" y="34"/>
                  </a:lnTo>
                  <a:cubicBezTo>
                    <a:pt x="0" y="15"/>
                    <a:pt x="15" y="0"/>
                    <a:pt x="34" y="0"/>
                  </a:cubicBezTo>
                  <a:lnTo>
                    <a:pt x="49" y="0"/>
                  </a:lnTo>
                  <a:cubicBezTo>
                    <a:pt x="68" y="0"/>
                    <a:pt x="84" y="15"/>
                    <a:pt x="84" y="34"/>
                  </a:cubicBezTo>
                  <a:lnTo>
                    <a:pt x="84" y="143"/>
                  </a:lnTo>
                  <a:cubicBezTo>
                    <a:pt x="84" y="162"/>
                    <a:pt x="68" y="178"/>
                    <a:pt x="49" y="178"/>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8"/>
            <p:cNvSpPr/>
            <p:nvPr/>
          </p:nvSpPr>
          <p:spPr>
            <a:xfrm>
              <a:off x="13793970" y="2912671"/>
              <a:ext cx="196663" cy="85504"/>
            </a:xfrm>
            <a:custGeom>
              <a:rect b="b" l="l" r="r" t="t"/>
              <a:pathLst>
                <a:path extrusionOk="0" h="161" w="380">
                  <a:moveTo>
                    <a:pt x="185" y="161"/>
                  </a:moveTo>
                  <a:cubicBezTo>
                    <a:pt x="177" y="161"/>
                    <a:pt x="171" y="156"/>
                    <a:pt x="168" y="148"/>
                  </a:cubicBezTo>
                  <a:lnTo>
                    <a:pt x="147" y="79"/>
                  </a:lnTo>
                  <a:lnTo>
                    <a:pt x="128" y="133"/>
                  </a:lnTo>
                  <a:cubicBezTo>
                    <a:pt x="126" y="140"/>
                    <a:pt x="119" y="145"/>
                    <a:pt x="112" y="145"/>
                  </a:cubicBezTo>
                  <a:lnTo>
                    <a:pt x="17" y="145"/>
                  </a:lnTo>
                  <a:cubicBezTo>
                    <a:pt x="8" y="145"/>
                    <a:pt x="0" y="137"/>
                    <a:pt x="0" y="128"/>
                  </a:cubicBezTo>
                  <a:cubicBezTo>
                    <a:pt x="0" y="118"/>
                    <a:pt x="8" y="110"/>
                    <a:pt x="17" y="110"/>
                  </a:cubicBezTo>
                  <a:lnTo>
                    <a:pt x="99" y="110"/>
                  </a:lnTo>
                  <a:lnTo>
                    <a:pt x="132" y="17"/>
                  </a:lnTo>
                  <a:cubicBezTo>
                    <a:pt x="134" y="10"/>
                    <a:pt x="142" y="6"/>
                    <a:pt x="149" y="6"/>
                  </a:cubicBezTo>
                  <a:cubicBezTo>
                    <a:pt x="156" y="6"/>
                    <a:pt x="163" y="11"/>
                    <a:pt x="165" y="18"/>
                  </a:cubicBezTo>
                  <a:lnTo>
                    <a:pt x="185" y="83"/>
                  </a:lnTo>
                  <a:lnTo>
                    <a:pt x="205" y="13"/>
                  </a:lnTo>
                  <a:cubicBezTo>
                    <a:pt x="207" y="5"/>
                    <a:pt x="213" y="1"/>
                    <a:pt x="222" y="0"/>
                  </a:cubicBezTo>
                  <a:cubicBezTo>
                    <a:pt x="230" y="1"/>
                    <a:pt x="237" y="6"/>
                    <a:pt x="238" y="14"/>
                  </a:cubicBezTo>
                  <a:lnTo>
                    <a:pt x="262" y="110"/>
                  </a:lnTo>
                  <a:lnTo>
                    <a:pt x="363" y="110"/>
                  </a:lnTo>
                  <a:cubicBezTo>
                    <a:pt x="373" y="110"/>
                    <a:pt x="380" y="118"/>
                    <a:pt x="380" y="128"/>
                  </a:cubicBezTo>
                  <a:cubicBezTo>
                    <a:pt x="380" y="137"/>
                    <a:pt x="373" y="145"/>
                    <a:pt x="363" y="145"/>
                  </a:cubicBezTo>
                  <a:lnTo>
                    <a:pt x="248" y="145"/>
                  </a:lnTo>
                  <a:cubicBezTo>
                    <a:pt x="240" y="145"/>
                    <a:pt x="233" y="140"/>
                    <a:pt x="231" y="132"/>
                  </a:cubicBezTo>
                  <a:lnTo>
                    <a:pt x="220" y="85"/>
                  </a:lnTo>
                  <a:lnTo>
                    <a:pt x="202" y="148"/>
                  </a:lnTo>
                  <a:cubicBezTo>
                    <a:pt x="199" y="156"/>
                    <a:pt x="193" y="161"/>
                    <a:pt x="185" y="161"/>
                  </a:cubicBezTo>
                  <a:lnTo>
                    <a:pt x="185" y="161"/>
                  </a:lnTo>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8"/>
            <p:cNvSpPr/>
            <p:nvPr/>
          </p:nvSpPr>
          <p:spPr>
            <a:xfrm>
              <a:off x="13802523" y="2998175"/>
              <a:ext cx="102605" cy="324917"/>
            </a:xfrm>
            <a:custGeom>
              <a:rect b="b" l="l" r="r" t="t"/>
              <a:pathLst>
                <a:path extrusionOk="0" h="624" w="191">
                  <a:moveTo>
                    <a:pt x="171" y="624"/>
                  </a:moveTo>
                  <a:cubicBezTo>
                    <a:pt x="164" y="624"/>
                    <a:pt x="157" y="619"/>
                    <a:pt x="155" y="611"/>
                  </a:cubicBezTo>
                  <a:lnTo>
                    <a:pt x="3" y="24"/>
                  </a:lnTo>
                  <a:cubicBezTo>
                    <a:pt x="0" y="15"/>
                    <a:pt x="6" y="5"/>
                    <a:pt x="15" y="3"/>
                  </a:cubicBezTo>
                  <a:cubicBezTo>
                    <a:pt x="24" y="0"/>
                    <a:pt x="34" y="6"/>
                    <a:pt x="36" y="15"/>
                  </a:cubicBezTo>
                  <a:lnTo>
                    <a:pt x="188" y="602"/>
                  </a:lnTo>
                  <a:cubicBezTo>
                    <a:pt x="191" y="611"/>
                    <a:pt x="185" y="621"/>
                    <a:pt x="176" y="623"/>
                  </a:cubicBezTo>
                  <a:lnTo>
                    <a:pt x="171" y="624"/>
                  </a:ln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8"/>
            <p:cNvSpPr/>
            <p:nvPr/>
          </p:nvSpPr>
          <p:spPr>
            <a:xfrm>
              <a:off x="13879474" y="2998175"/>
              <a:ext cx="102605" cy="324917"/>
            </a:xfrm>
            <a:custGeom>
              <a:rect b="b" l="l" r="r" t="t"/>
              <a:pathLst>
                <a:path extrusionOk="0" h="624" w="191">
                  <a:moveTo>
                    <a:pt x="19" y="624"/>
                  </a:moveTo>
                  <a:lnTo>
                    <a:pt x="15" y="623"/>
                  </a:lnTo>
                  <a:cubicBezTo>
                    <a:pt x="6" y="621"/>
                    <a:pt x="0" y="611"/>
                    <a:pt x="3" y="602"/>
                  </a:cubicBezTo>
                  <a:lnTo>
                    <a:pt x="155" y="15"/>
                  </a:lnTo>
                  <a:cubicBezTo>
                    <a:pt x="157" y="6"/>
                    <a:pt x="167" y="0"/>
                    <a:pt x="176" y="3"/>
                  </a:cubicBezTo>
                  <a:cubicBezTo>
                    <a:pt x="185" y="5"/>
                    <a:pt x="191" y="15"/>
                    <a:pt x="188" y="24"/>
                  </a:cubicBezTo>
                  <a:lnTo>
                    <a:pt x="36" y="611"/>
                  </a:lnTo>
                  <a:cubicBezTo>
                    <a:pt x="34" y="619"/>
                    <a:pt x="27" y="624"/>
                    <a:pt x="19" y="624"/>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8"/>
            <p:cNvSpPr/>
            <p:nvPr/>
          </p:nvSpPr>
          <p:spPr>
            <a:xfrm>
              <a:off x="13768321" y="3280342"/>
              <a:ext cx="247965" cy="205211"/>
            </a:xfrm>
            <a:custGeom>
              <a:rect b="b" l="l" r="r" t="t"/>
              <a:pathLst>
                <a:path extrusionOk="0" h="399" w="482">
                  <a:moveTo>
                    <a:pt x="482" y="0"/>
                  </a:moveTo>
                  <a:lnTo>
                    <a:pt x="0" y="0"/>
                  </a:lnTo>
                  <a:lnTo>
                    <a:pt x="0" y="200"/>
                  </a:lnTo>
                  <a:cubicBezTo>
                    <a:pt x="0" y="310"/>
                    <a:pt x="89" y="399"/>
                    <a:pt x="198" y="399"/>
                  </a:cubicBezTo>
                  <a:lnTo>
                    <a:pt x="284" y="399"/>
                  </a:lnTo>
                  <a:cubicBezTo>
                    <a:pt x="394" y="399"/>
                    <a:pt x="482" y="310"/>
                    <a:pt x="482" y="200"/>
                  </a:cubicBezTo>
                  <a:lnTo>
                    <a:pt x="482" y="0"/>
                  </a:ln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18"/>
            <p:cNvSpPr/>
            <p:nvPr/>
          </p:nvSpPr>
          <p:spPr>
            <a:xfrm>
              <a:off x="13734120" y="3254688"/>
              <a:ext cx="324916" cy="102605"/>
            </a:xfrm>
            <a:custGeom>
              <a:rect b="b" l="l" r="r" t="t"/>
              <a:pathLst>
                <a:path extrusionOk="0" h="199" w="629">
                  <a:moveTo>
                    <a:pt x="547" y="199"/>
                  </a:moveTo>
                  <a:lnTo>
                    <a:pt x="82" y="199"/>
                  </a:lnTo>
                  <a:cubicBezTo>
                    <a:pt x="37" y="199"/>
                    <a:pt x="0" y="162"/>
                    <a:pt x="0" y="117"/>
                  </a:cubicBezTo>
                  <a:lnTo>
                    <a:pt x="0" y="82"/>
                  </a:lnTo>
                  <a:cubicBezTo>
                    <a:pt x="0" y="37"/>
                    <a:pt x="37" y="0"/>
                    <a:pt x="82" y="0"/>
                  </a:cubicBezTo>
                  <a:lnTo>
                    <a:pt x="547" y="0"/>
                  </a:lnTo>
                  <a:cubicBezTo>
                    <a:pt x="592" y="0"/>
                    <a:pt x="629" y="37"/>
                    <a:pt x="629" y="82"/>
                  </a:cubicBezTo>
                  <a:lnTo>
                    <a:pt x="629" y="117"/>
                  </a:lnTo>
                  <a:cubicBezTo>
                    <a:pt x="629" y="162"/>
                    <a:pt x="592" y="199"/>
                    <a:pt x="547" y="199"/>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8"/>
            <p:cNvSpPr/>
            <p:nvPr/>
          </p:nvSpPr>
          <p:spPr>
            <a:xfrm>
              <a:off x="13725566" y="3297443"/>
              <a:ext cx="342018" cy="68404"/>
            </a:xfrm>
            <a:custGeom>
              <a:rect b="b" l="l" r="r" t="t"/>
              <a:pathLst>
                <a:path extrusionOk="0" h="134" w="663">
                  <a:moveTo>
                    <a:pt x="546" y="134"/>
                  </a:moveTo>
                  <a:lnTo>
                    <a:pt x="117" y="134"/>
                  </a:lnTo>
                  <a:cubicBezTo>
                    <a:pt x="52" y="134"/>
                    <a:pt x="0" y="82"/>
                    <a:pt x="0" y="17"/>
                  </a:cubicBezTo>
                  <a:cubicBezTo>
                    <a:pt x="0" y="8"/>
                    <a:pt x="8" y="0"/>
                    <a:pt x="17" y="0"/>
                  </a:cubicBezTo>
                  <a:cubicBezTo>
                    <a:pt x="27" y="0"/>
                    <a:pt x="34" y="8"/>
                    <a:pt x="34" y="17"/>
                  </a:cubicBezTo>
                  <a:cubicBezTo>
                    <a:pt x="34" y="63"/>
                    <a:pt x="71" y="100"/>
                    <a:pt x="117" y="100"/>
                  </a:cubicBezTo>
                  <a:lnTo>
                    <a:pt x="546" y="100"/>
                  </a:lnTo>
                  <a:cubicBezTo>
                    <a:pt x="592" y="100"/>
                    <a:pt x="629" y="63"/>
                    <a:pt x="629" y="17"/>
                  </a:cubicBezTo>
                  <a:cubicBezTo>
                    <a:pt x="629" y="8"/>
                    <a:pt x="636" y="0"/>
                    <a:pt x="646" y="0"/>
                  </a:cubicBezTo>
                  <a:cubicBezTo>
                    <a:pt x="655" y="0"/>
                    <a:pt x="663" y="8"/>
                    <a:pt x="663" y="17"/>
                  </a:cubicBezTo>
                  <a:cubicBezTo>
                    <a:pt x="663" y="82"/>
                    <a:pt x="611" y="134"/>
                    <a:pt x="546" y="134"/>
                  </a:cubicBezTo>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8"/>
            <p:cNvSpPr/>
            <p:nvPr/>
          </p:nvSpPr>
          <p:spPr>
            <a:xfrm>
              <a:off x="13776869" y="3382947"/>
              <a:ext cx="222312" cy="17101"/>
            </a:xfrm>
            <a:custGeom>
              <a:rect b="b" l="l" r="r" t="t"/>
              <a:pathLst>
                <a:path extrusionOk="0" h="34" w="432">
                  <a:moveTo>
                    <a:pt x="415" y="34"/>
                  </a:moveTo>
                  <a:lnTo>
                    <a:pt x="18" y="34"/>
                  </a:lnTo>
                  <a:cubicBezTo>
                    <a:pt x="8" y="34"/>
                    <a:pt x="0" y="27"/>
                    <a:pt x="0" y="17"/>
                  </a:cubicBezTo>
                  <a:cubicBezTo>
                    <a:pt x="0" y="8"/>
                    <a:pt x="8" y="0"/>
                    <a:pt x="18" y="0"/>
                  </a:cubicBezTo>
                  <a:lnTo>
                    <a:pt x="415" y="0"/>
                  </a:lnTo>
                  <a:cubicBezTo>
                    <a:pt x="425" y="0"/>
                    <a:pt x="432" y="8"/>
                    <a:pt x="432" y="17"/>
                  </a:cubicBezTo>
                  <a:cubicBezTo>
                    <a:pt x="432" y="27"/>
                    <a:pt x="425" y="34"/>
                    <a:pt x="415" y="34"/>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8"/>
            <p:cNvSpPr/>
            <p:nvPr/>
          </p:nvSpPr>
          <p:spPr>
            <a:xfrm>
              <a:off x="13811071" y="3425697"/>
              <a:ext cx="162461" cy="17101"/>
            </a:xfrm>
            <a:custGeom>
              <a:rect b="b" l="l" r="r" t="t"/>
              <a:pathLst>
                <a:path extrusionOk="0" h="35" w="317">
                  <a:moveTo>
                    <a:pt x="299" y="35"/>
                  </a:moveTo>
                  <a:lnTo>
                    <a:pt x="17" y="35"/>
                  </a:lnTo>
                  <a:cubicBezTo>
                    <a:pt x="8" y="35"/>
                    <a:pt x="0" y="27"/>
                    <a:pt x="0" y="17"/>
                  </a:cubicBezTo>
                  <a:cubicBezTo>
                    <a:pt x="0" y="8"/>
                    <a:pt x="8" y="0"/>
                    <a:pt x="17" y="0"/>
                  </a:cubicBezTo>
                  <a:lnTo>
                    <a:pt x="299" y="0"/>
                  </a:lnTo>
                  <a:cubicBezTo>
                    <a:pt x="309" y="0"/>
                    <a:pt x="317" y="8"/>
                    <a:pt x="317" y="17"/>
                  </a:cubicBezTo>
                  <a:cubicBezTo>
                    <a:pt x="317" y="27"/>
                    <a:pt x="309" y="35"/>
                    <a:pt x="299" y="35"/>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8"/>
            <p:cNvSpPr/>
            <p:nvPr/>
          </p:nvSpPr>
          <p:spPr>
            <a:xfrm>
              <a:off x="13511808" y="3981478"/>
              <a:ext cx="444622" cy="444624"/>
            </a:xfrm>
            <a:custGeom>
              <a:rect b="b" l="l" r="r" t="t"/>
              <a:pathLst>
                <a:path extrusionOk="0" h="862" w="850">
                  <a:moveTo>
                    <a:pt x="850" y="368"/>
                  </a:moveTo>
                  <a:lnTo>
                    <a:pt x="342" y="0"/>
                  </a:lnTo>
                  <a:lnTo>
                    <a:pt x="42" y="488"/>
                  </a:lnTo>
                  <a:lnTo>
                    <a:pt x="25" y="560"/>
                  </a:lnTo>
                  <a:cubicBezTo>
                    <a:pt x="0" y="659"/>
                    <a:pt x="59" y="759"/>
                    <a:pt x="157" y="786"/>
                  </a:cubicBezTo>
                  <a:lnTo>
                    <a:pt x="330" y="834"/>
                  </a:lnTo>
                  <a:cubicBezTo>
                    <a:pt x="430" y="862"/>
                    <a:pt x="534" y="803"/>
                    <a:pt x="562" y="703"/>
                  </a:cubicBezTo>
                  <a:lnTo>
                    <a:pt x="850" y="368"/>
                  </a:ln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8"/>
            <p:cNvSpPr/>
            <p:nvPr/>
          </p:nvSpPr>
          <p:spPr>
            <a:xfrm>
              <a:off x="13469053" y="3861772"/>
              <a:ext cx="299268" cy="410422"/>
            </a:xfrm>
            <a:custGeom>
              <a:rect b="b" l="l" r="r" t="t"/>
              <a:pathLst>
                <a:path extrusionOk="0" h="800" w="591">
                  <a:moveTo>
                    <a:pt x="137" y="733"/>
                  </a:moveTo>
                  <a:lnTo>
                    <a:pt x="30" y="424"/>
                  </a:lnTo>
                  <a:cubicBezTo>
                    <a:pt x="0" y="339"/>
                    <a:pt x="26" y="245"/>
                    <a:pt x="94" y="187"/>
                  </a:cubicBezTo>
                  <a:lnTo>
                    <a:pt x="244" y="59"/>
                  </a:lnTo>
                  <a:cubicBezTo>
                    <a:pt x="314" y="0"/>
                    <a:pt x="418" y="7"/>
                    <a:pt x="480" y="75"/>
                  </a:cubicBezTo>
                  <a:lnTo>
                    <a:pt x="549" y="151"/>
                  </a:lnTo>
                  <a:cubicBezTo>
                    <a:pt x="587" y="194"/>
                    <a:pt x="591" y="257"/>
                    <a:pt x="557" y="303"/>
                  </a:cubicBezTo>
                  <a:cubicBezTo>
                    <a:pt x="531" y="339"/>
                    <a:pt x="488" y="357"/>
                    <a:pt x="444" y="352"/>
                  </a:cubicBezTo>
                  <a:lnTo>
                    <a:pt x="409" y="347"/>
                  </a:lnTo>
                  <a:lnTo>
                    <a:pt x="493" y="550"/>
                  </a:lnTo>
                  <a:lnTo>
                    <a:pt x="377" y="800"/>
                  </a:lnTo>
                  <a:lnTo>
                    <a:pt x="137" y="733"/>
                  </a:ln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18"/>
            <p:cNvSpPr/>
            <p:nvPr/>
          </p:nvSpPr>
          <p:spPr>
            <a:xfrm>
              <a:off x="13717019" y="3519755"/>
              <a:ext cx="247965" cy="427522"/>
            </a:xfrm>
            <a:custGeom>
              <a:rect b="b" l="l" r="r" t="t"/>
              <a:pathLst>
                <a:path extrusionOk="0" h="827" w="494">
                  <a:moveTo>
                    <a:pt x="211" y="115"/>
                  </a:moveTo>
                  <a:lnTo>
                    <a:pt x="0" y="710"/>
                  </a:lnTo>
                  <a:lnTo>
                    <a:pt x="336" y="827"/>
                  </a:lnTo>
                  <a:lnTo>
                    <a:pt x="481" y="203"/>
                  </a:lnTo>
                  <a:cubicBezTo>
                    <a:pt x="494" y="149"/>
                    <a:pt x="474" y="92"/>
                    <a:pt x="430" y="58"/>
                  </a:cubicBezTo>
                  <a:cubicBezTo>
                    <a:pt x="356" y="0"/>
                    <a:pt x="248" y="29"/>
                    <a:pt x="211" y="115"/>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8"/>
            <p:cNvSpPr/>
            <p:nvPr/>
          </p:nvSpPr>
          <p:spPr>
            <a:xfrm>
              <a:off x="13597313" y="3819017"/>
              <a:ext cx="359119" cy="265067"/>
            </a:xfrm>
            <a:custGeom>
              <a:rect b="b" l="l" r="r" t="t"/>
              <a:pathLst>
                <a:path extrusionOk="0" h="515" w="697">
                  <a:moveTo>
                    <a:pt x="697" y="194"/>
                  </a:moveTo>
                  <a:lnTo>
                    <a:pt x="696" y="238"/>
                  </a:lnTo>
                  <a:cubicBezTo>
                    <a:pt x="695" y="247"/>
                    <a:pt x="695" y="256"/>
                    <a:pt x="693" y="264"/>
                  </a:cubicBezTo>
                  <a:cubicBezTo>
                    <a:pt x="688" y="288"/>
                    <a:pt x="678" y="310"/>
                    <a:pt x="664" y="328"/>
                  </a:cubicBezTo>
                  <a:cubicBezTo>
                    <a:pt x="652" y="344"/>
                    <a:pt x="638" y="357"/>
                    <a:pt x="621" y="367"/>
                  </a:cubicBezTo>
                  <a:cubicBezTo>
                    <a:pt x="595" y="383"/>
                    <a:pt x="564" y="391"/>
                    <a:pt x="532" y="389"/>
                  </a:cubicBezTo>
                  <a:lnTo>
                    <a:pt x="369" y="378"/>
                  </a:lnTo>
                  <a:lnTo>
                    <a:pt x="327" y="421"/>
                  </a:lnTo>
                  <a:lnTo>
                    <a:pt x="283" y="466"/>
                  </a:lnTo>
                  <a:cubicBezTo>
                    <a:pt x="258" y="492"/>
                    <a:pt x="225" y="508"/>
                    <a:pt x="192" y="513"/>
                  </a:cubicBezTo>
                  <a:cubicBezTo>
                    <a:pt x="184" y="514"/>
                    <a:pt x="176" y="515"/>
                    <a:pt x="168" y="515"/>
                  </a:cubicBezTo>
                  <a:cubicBezTo>
                    <a:pt x="136" y="515"/>
                    <a:pt x="104" y="505"/>
                    <a:pt x="76" y="485"/>
                  </a:cubicBezTo>
                  <a:cubicBezTo>
                    <a:pt x="74" y="484"/>
                    <a:pt x="72" y="483"/>
                    <a:pt x="70" y="481"/>
                  </a:cubicBezTo>
                  <a:cubicBezTo>
                    <a:pt x="69" y="480"/>
                    <a:pt x="67" y="478"/>
                    <a:pt x="65" y="477"/>
                  </a:cubicBezTo>
                  <a:lnTo>
                    <a:pt x="63" y="475"/>
                  </a:lnTo>
                  <a:cubicBezTo>
                    <a:pt x="18" y="436"/>
                    <a:pt x="0" y="376"/>
                    <a:pt x="13" y="321"/>
                  </a:cubicBezTo>
                  <a:lnTo>
                    <a:pt x="13" y="318"/>
                  </a:lnTo>
                  <a:cubicBezTo>
                    <a:pt x="18" y="299"/>
                    <a:pt x="26" y="280"/>
                    <a:pt x="38" y="263"/>
                  </a:cubicBezTo>
                  <a:lnTo>
                    <a:pt x="187" y="114"/>
                  </a:lnTo>
                  <a:lnTo>
                    <a:pt x="208" y="93"/>
                  </a:lnTo>
                  <a:cubicBezTo>
                    <a:pt x="220" y="81"/>
                    <a:pt x="234" y="70"/>
                    <a:pt x="248" y="60"/>
                  </a:cubicBezTo>
                  <a:cubicBezTo>
                    <a:pt x="312" y="16"/>
                    <a:pt x="393" y="0"/>
                    <a:pt x="470" y="17"/>
                  </a:cubicBezTo>
                  <a:lnTo>
                    <a:pt x="576" y="40"/>
                  </a:lnTo>
                  <a:cubicBezTo>
                    <a:pt x="586" y="43"/>
                    <a:pt x="596" y="46"/>
                    <a:pt x="605" y="50"/>
                  </a:cubicBezTo>
                  <a:cubicBezTo>
                    <a:pt x="624" y="58"/>
                    <a:pt x="640" y="70"/>
                    <a:pt x="654" y="84"/>
                  </a:cubicBezTo>
                  <a:cubicBezTo>
                    <a:pt x="669" y="100"/>
                    <a:pt x="681" y="120"/>
                    <a:pt x="689" y="142"/>
                  </a:cubicBezTo>
                  <a:cubicBezTo>
                    <a:pt x="694" y="158"/>
                    <a:pt x="697" y="176"/>
                    <a:pt x="697" y="194"/>
                  </a:cubicBez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8"/>
            <p:cNvSpPr/>
            <p:nvPr/>
          </p:nvSpPr>
          <p:spPr>
            <a:xfrm>
              <a:off x="13622961" y="3921622"/>
              <a:ext cx="359119" cy="256513"/>
            </a:xfrm>
            <a:custGeom>
              <a:rect b="b" l="l" r="r" t="t"/>
              <a:pathLst>
                <a:path extrusionOk="0" h="506" w="692">
                  <a:moveTo>
                    <a:pt x="691" y="185"/>
                  </a:moveTo>
                  <a:lnTo>
                    <a:pt x="691" y="189"/>
                  </a:lnTo>
                  <a:lnTo>
                    <a:pt x="690" y="229"/>
                  </a:lnTo>
                  <a:cubicBezTo>
                    <a:pt x="689" y="264"/>
                    <a:pt x="677" y="296"/>
                    <a:pt x="657" y="321"/>
                  </a:cubicBezTo>
                  <a:cubicBezTo>
                    <a:pt x="627" y="360"/>
                    <a:pt x="579" y="383"/>
                    <a:pt x="526" y="380"/>
                  </a:cubicBezTo>
                  <a:lnTo>
                    <a:pt x="482" y="377"/>
                  </a:lnTo>
                  <a:lnTo>
                    <a:pt x="363" y="369"/>
                  </a:lnTo>
                  <a:lnTo>
                    <a:pt x="277" y="457"/>
                  </a:lnTo>
                  <a:cubicBezTo>
                    <a:pt x="250" y="486"/>
                    <a:pt x="214" y="502"/>
                    <a:pt x="177" y="505"/>
                  </a:cubicBezTo>
                  <a:lnTo>
                    <a:pt x="174" y="505"/>
                  </a:lnTo>
                  <a:cubicBezTo>
                    <a:pt x="170" y="506"/>
                    <a:pt x="167" y="506"/>
                    <a:pt x="163" y="506"/>
                  </a:cubicBezTo>
                  <a:cubicBezTo>
                    <a:pt x="160" y="506"/>
                    <a:pt x="157" y="506"/>
                    <a:pt x="154" y="506"/>
                  </a:cubicBezTo>
                  <a:cubicBezTo>
                    <a:pt x="143" y="505"/>
                    <a:pt x="133" y="504"/>
                    <a:pt x="123" y="501"/>
                  </a:cubicBezTo>
                  <a:cubicBezTo>
                    <a:pt x="100" y="495"/>
                    <a:pt x="79" y="484"/>
                    <a:pt x="60" y="468"/>
                  </a:cubicBezTo>
                  <a:cubicBezTo>
                    <a:pt x="20" y="434"/>
                    <a:pt x="0" y="384"/>
                    <a:pt x="4" y="335"/>
                  </a:cubicBezTo>
                  <a:cubicBezTo>
                    <a:pt x="4" y="327"/>
                    <a:pt x="5" y="318"/>
                    <a:pt x="7" y="310"/>
                  </a:cubicBezTo>
                  <a:lnTo>
                    <a:pt x="7" y="310"/>
                  </a:lnTo>
                  <a:cubicBezTo>
                    <a:pt x="10" y="301"/>
                    <a:pt x="12" y="292"/>
                    <a:pt x="16" y="284"/>
                  </a:cubicBezTo>
                  <a:lnTo>
                    <a:pt x="18" y="281"/>
                  </a:lnTo>
                  <a:cubicBezTo>
                    <a:pt x="22" y="271"/>
                    <a:pt x="27" y="262"/>
                    <a:pt x="33" y="254"/>
                  </a:cubicBezTo>
                  <a:lnTo>
                    <a:pt x="86" y="201"/>
                  </a:lnTo>
                  <a:lnTo>
                    <a:pt x="150" y="137"/>
                  </a:lnTo>
                  <a:lnTo>
                    <a:pt x="202" y="85"/>
                  </a:lnTo>
                  <a:cubicBezTo>
                    <a:pt x="218" y="69"/>
                    <a:pt x="236" y="54"/>
                    <a:pt x="255" y="43"/>
                  </a:cubicBezTo>
                  <a:cubicBezTo>
                    <a:pt x="292" y="20"/>
                    <a:pt x="334" y="7"/>
                    <a:pt x="378" y="2"/>
                  </a:cubicBezTo>
                  <a:cubicBezTo>
                    <a:pt x="406" y="0"/>
                    <a:pt x="436" y="2"/>
                    <a:pt x="465" y="8"/>
                  </a:cubicBezTo>
                  <a:lnTo>
                    <a:pt x="521" y="20"/>
                  </a:lnTo>
                  <a:lnTo>
                    <a:pt x="570" y="31"/>
                  </a:lnTo>
                  <a:cubicBezTo>
                    <a:pt x="600" y="38"/>
                    <a:pt x="626" y="53"/>
                    <a:pt x="646" y="73"/>
                  </a:cubicBezTo>
                  <a:cubicBezTo>
                    <a:pt x="661" y="88"/>
                    <a:pt x="674" y="107"/>
                    <a:pt x="681" y="128"/>
                  </a:cubicBezTo>
                  <a:cubicBezTo>
                    <a:pt x="688" y="146"/>
                    <a:pt x="692" y="165"/>
                    <a:pt x="691" y="185"/>
                  </a:cubicBez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18"/>
            <p:cNvSpPr/>
            <p:nvPr/>
          </p:nvSpPr>
          <p:spPr>
            <a:xfrm>
              <a:off x="13708466" y="4049882"/>
              <a:ext cx="265066" cy="188110"/>
            </a:xfrm>
            <a:custGeom>
              <a:rect b="b" l="l" r="r" t="t"/>
              <a:pathLst>
                <a:path extrusionOk="0" h="372" w="511">
                  <a:moveTo>
                    <a:pt x="508" y="190"/>
                  </a:moveTo>
                  <a:cubicBezTo>
                    <a:pt x="499" y="238"/>
                    <a:pt x="467" y="279"/>
                    <a:pt x="423" y="300"/>
                  </a:cubicBezTo>
                  <a:cubicBezTo>
                    <a:pt x="398" y="312"/>
                    <a:pt x="369" y="317"/>
                    <a:pt x="339" y="314"/>
                  </a:cubicBezTo>
                  <a:lnTo>
                    <a:pt x="303" y="310"/>
                  </a:lnTo>
                  <a:lnTo>
                    <a:pt x="174" y="363"/>
                  </a:lnTo>
                  <a:cubicBezTo>
                    <a:pt x="171" y="364"/>
                    <a:pt x="168" y="366"/>
                    <a:pt x="164" y="366"/>
                  </a:cubicBezTo>
                  <a:cubicBezTo>
                    <a:pt x="155" y="370"/>
                    <a:pt x="145" y="371"/>
                    <a:pt x="135" y="372"/>
                  </a:cubicBezTo>
                  <a:lnTo>
                    <a:pt x="135" y="372"/>
                  </a:lnTo>
                  <a:cubicBezTo>
                    <a:pt x="132" y="372"/>
                    <a:pt x="130" y="372"/>
                    <a:pt x="127" y="372"/>
                  </a:cubicBezTo>
                  <a:cubicBezTo>
                    <a:pt x="90" y="372"/>
                    <a:pt x="54" y="356"/>
                    <a:pt x="30" y="325"/>
                  </a:cubicBezTo>
                  <a:cubicBezTo>
                    <a:pt x="15" y="306"/>
                    <a:pt x="6" y="283"/>
                    <a:pt x="4" y="260"/>
                  </a:cubicBezTo>
                  <a:cubicBezTo>
                    <a:pt x="0" y="223"/>
                    <a:pt x="14" y="184"/>
                    <a:pt x="43" y="157"/>
                  </a:cubicBezTo>
                  <a:lnTo>
                    <a:pt x="93" y="112"/>
                  </a:lnTo>
                  <a:lnTo>
                    <a:pt x="148" y="61"/>
                  </a:lnTo>
                  <a:cubicBezTo>
                    <a:pt x="158" y="52"/>
                    <a:pt x="168" y="44"/>
                    <a:pt x="179" y="38"/>
                  </a:cubicBezTo>
                  <a:cubicBezTo>
                    <a:pt x="219" y="12"/>
                    <a:pt x="266" y="0"/>
                    <a:pt x="313" y="4"/>
                  </a:cubicBezTo>
                  <a:lnTo>
                    <a:pt x="367" y="7"/>
                  </a:lnTo>
                  <a:cubicBezTo>
                    <a:pt x="405" y="10"/>
                    <a:pt x="438" y="26"/>
                    <a:pt x="464" y="51"/>
                  </a:cubicBezTo>
                  <a:cubicBezTo>
                    <a:pt x="471" y="58"/>
                    <a:pt x="478" y="67"/>
                    <a:pt x="484" y="76"/>
                  </a:cubicBezTo>
                  <a:cubicBezTo>
                    <a:pt x="495" y="91"/>
                    <a:pt x="502" y="109"/>
                    <a:pt x="506" y="127"/>
                  </a:cubicBezTo>
                  <a:cubicBezTo>
                    <a:pt x="508" y="133"/>
                    <a:pt x="509" y="140"/>
                    <a:pt x="509" y="146"/>
                  </a:cubicBezTo>
                  <a:cubicBezTo>
                    <a:pt x="511" y="161"/>
                    <a:pt x="510" y="176"/>
                    <a:pt x="508" y="190"/>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8"/>
            <p:cNvSpPr/>
            <p:nvPr/>
          </p:nvSpPr>
          <p:spPr>
            <a:xfrm>
              <a:off x="13597313" y="3878873"/>
              <a:ext cx="102605" cy="196663"/>
            </a:xfrm>
            <a:custGeom>
              <a:rect b="b" l="l" r="r" t="t"/>
              <a:pathLst>
                <a:path extrusionOk="0" h="385" w="197">
                  <a:moveTo>
                    <a:pt x="75" y="385"/>
                  </a:moveTo>
                  <a:cubicBezTo>
                    <a:pt x="71" y="385"/>
                    <a:pt x="67" y="384"/>
                    <a:pt x="63" y="381"/>
                  </a:cubicBezTo>
                  <a:cubicBezTo>
                    <a:pt x="10" y="337"/>
                    <a:pt x="0" y="272"/>
                    <a:pt x="1" y="225"/>
                  </a:cubicBezTo>
                  <a:cubicBezTo>
                    <a:pt x="1" y="190"/>
                    <a:pt x="15" y="157"/>
                    <a:pt x="40" y="132"/>
                  </a:cubicBezTo>
                  <a:lnTo>
                    <a:pt x="166" y="7"/>
                  </a:lnTo>
                  <a:cubicBezTo>
                    <a:pt x="173" y="0"/>
                    <a:pt x="184" y="0"/>
                    <a:pt x="190" y="7"/>
                  </a:cubicBezTo>
                  <a:cubicBezTo>
                    <a:pt x="197" y="13"/>
                    <a:pt x="197" y="24"/>
                    <a:pt x="190" y="31"/>
                  </a:cubicBezTo>
                  <a:lnTo>
                    <a:pt x="64" y="157"/>
                  </a:lnTo>
                  <a:cubicBezTo>
                    <a:pt x="46" y="175"/>
                    <a:pt x="36" y="200"/>
                    <a:pt x="35" y="226"/>
                  </a:cubicBezTo>
                  <a:cubicBezTo>
                    <a:pt x="35" y="265"/>
                    <a:pt x="43" y="319"/>
                    <a:pt x="86" y="355"/>
                  </a:cubicBezTo>
                  <a:cubicBezTo>
                    <a:pt x="93" y="361"/>
                    <a:pt x="94" y="372"/>
                    <a:pt x="88" y="379"/>
                  </a:cubicBezTo>
                  <a:cubicBezTo>
                    <a:pt x="84" y="383"/>
                    <a:pt x="80" y="385"/>
                    <a:pt x="75" y="385"/>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18"/>
            <p:cNvSpPr/>
            <p:nvPr/>
          </p:nvSpPr>
          <p:spPr>
            <a:xfrm>
              <a:off x="13605860" y="3938723"/>
              <a:ext cx="324918" cy="247965"/>
            </a:xfrm>
            <a:custGeom>
              <a:rect b="b" l="l" r="r" t="t"/>
              <a:pathLst>
                <a:path extrusionOk="0" h="483" w="632">
                  <a:moveTo>
                    <a:pt x="148" y="483"/>
                  </a:moveTo>
                  <a:cubicBezTo>
                    <a:pt x="95" y="483"/>
                    <a:pt x="63" y="461"/>
                    <a:pt x="45" y="441"/>
                  </a:cubicBezTo>
                  <a:cubicBezTo>
                    <a:pt x="0" y="391"/>
                    <a:pt x="1" y="311"/>
                    <a:pt x="11" y="280"/>
                  </a:cubicBezTo>
                  <a:cubicBezTo>
                    <a:pt x="14" y="270"/>
                    <a:pt x="24" y="240"/>
                    <a:pt x="206" y="86"/>
                  </a:cubicBezTo>
                  <a:cubicBezTo>
                    <a:pt x="252" y="48"/>
                    <a:pt x="308" y="25"/>
                    <a:pt x="368" y="20"/>
                  </a:cubicBezTo>
                  <a:lnTo>
                    <a:pt x="613" y="1"/>
                  </a:lnTo>
                  <a:cubicBezTo>
                    <a:pt x="622" y="0"/>
                    <a:pt x="631" y="7"/>
                    <a:pt x="631" y="17"/>
                  </a:cubicBezTo>
                  <a:cubicBezTo>
                    <a:pt x="632" y="26"/>
                    <a:pt x="625" y="35"/>
                    <a:pt x="616" y="35"/>
                  </a:cubicBezTo>
                  <a:lnTo>
                    <a:pt x="371" y="55"/>
                  </a:lnTo>
                  <a:cubicBezTo>
                    <a:pt x="318" y="59"/>
                    <a:pt x="269" y="79"/>
                    <a:pt x="229" y="113"/>
                  </a:cubicBezTo>
                  <a:cubicBezTo>
                    <a:pt x="63" y="253"/>
                    <a:pt x="46" y="286"/>
                    <a:pt x="44" y="291"/>
                  </a:cubicBezTo>
                  <a:cubicBezTo>
                    <a:pt x="36" y="317"/>
                    <a:pt x="37" y="380"/>
                    <a:pt x="70" y="418"/>
                  </a:cubicBezTo>
                  <a:cubicBezTo>
                    <a:pt x="96" y="446"/>
                    <a:pt x="136" y="455"/>
                    <a:pt x="189" y="444"/>
                  </a:cubicBezTo>
                  <a:cubicBezTo>
                    <a:pt x="198" y="442"/>
                    <a:pt x="207" y="448"/>
                    <a:pt x="209" y="457"/>
                  </a:cubicBezTo>
                  <a:cubicBezTo>
                    <a:pt x="211" y="467"/>
                    <a:pt x="205" y="476"/>
                    <a:pt x="196" y="478"/>
                  </a:cubicBezTo>
                  <a:cubicBezTo>
                    <a:pt x="178" y="481"/>
                    <a:pt x="162" y="483"/>
                    <a:pt x="148" y="483"/>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8"/>
            <p:cNvSpPr/>
            <p:nvPr/>
          </p:nvSpPr>
          <p:spPr>
            <a:xfrm>
              <a:off x="13699918" y="4049882"/>
              <a:ext cx="230865" cy="196663"/>
            </a:xfrm>
            <a:custGeom>
              <a:rect b="b" l="l" r="r" t="t"/>
              <a:pathLst>
                <a:path extrusionOk="0" h="379" w="445">
                  <a:moveTo>
                    <a:pt x="139" y="379"/>
                  </a:moveTo>
                  <a:cubicBezTo>
                    <a:pt x="108" y="379"/>
                    <a:pt x="81" y="370"/>
                    <a:pt x="58" y="353"/>
                  </a:cubicBezTo>
                  <a:cubicBezTo>
                    <a:pt x="25" y="327"/>
                    <a:pt x="5" y="282"/>
                    <a:pt x="3" y="230"/>
                  </a:cubicBezTo>
                  <a:cubicBezTo>
                    <a:pt x="0" y="138"/>
                    <a:pt x="68" y="104"/>
                    <a:pt x="147" y="64"/>
                  </a:cubicBezTo>
                  <a:lnTo>
                    <a:pt x="152" y="62"/>
                  </a:lnTo>
                  <a:cubicBezTo>
                    <a:pt x="177" y="49"/>
                    <a:pt x="204" y="40"/>
                    <a:pt x="231" y="36"/>
                  </a:cubicBezTo>
                  <a:lnTo>
                    <a:pt x="423" y="1"/>
                  </a:lnTo>
                  <a:cubicBezTo>
                    <a:pt x="432" y="0"/>
                    <a:pt x="441" y="6"/>
                    <a:pt x="443" y="15"/>
                  </a:cubicBezTo>
                  <a:cubicBezTo>
                    <a:pt x="445" y="25"/>
                    <a:pt x="438" y="34"/>
                    <a:pt x="429" y="35"/>
                  </a:cubicBezTo>
                  <a:lnTo>
                    <a:pt x="237" y="70"/>
                  </a:lnTo>
                  <a:cubicBezTo>
                    <a:pt x="213" y="74"/>
                    <a:pt x="190" y="82"/>
                    <a:pt x="168" y="93"/>
                  </a:cubicBezTo>
                  <a:lnTo>
                    <a:pt x="162" y="95"/>
                  </a:lnTo>
                  <a:cubicBezTo>
                    <a:pt x="79" y="137"/>
                    <a:pt x="36" y="162"/>
                    <a:pt x="38" y="229"/>
                  </a:cubicBezTo>
                  <a:cubicBezTo>
                    <a:pt x="39" y="271"/>
                    <a:pt x="55" y="306"/>
                    <a:pt x="80" y="325"/>
                  </a:cubicBezTo>
                  <a:cubicBezTo>
                    <a:pt x="103" y="344"/>
                    <a:pt x="133" y="349"/>
                    <a:pt x="170" y="341"/>
                  </a:cubicBezTo>
                  <a:cubicBezTo>
                    <a:pt x="305" y="313"/>
                    <a:pt x="379" y="290"/>
                    <a:pt x="380" y="290"/>
                  </a:cubicBezTo>
                  <a:cubicBezTo>
                    <a:pt x="389" y="287"/>
                    <a:pt x="399" y="292"/>
                    <a:pt x="401" y="302"/>
                  </a:cubicBezTo>
                  <a:cubicBezTo>
                    <a:pt x="404" y="311"/>
                    <a:pt x="399" y="320"/>
                    <a:pt x="390" y="323"/>
                  </a:cubicBezTo>
                  <a:cubicBezTo>
                    <a:pt x="387" y="324"/>
                    <a:pt x="313" y="346"/>
                    <a:pt x="177" y="375"/>
                  </a:cubicBezTo>
                  <a:cubicBezTo>
                    <a:pt x="164" y="378"/>
                    <a:pt x="152" y="379"/>
                    <a:pt x="139" y="379"/>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8"/>
            <p:cNvSpPr/>
            <p:nvPr/>
          </p:nvSpPr>
          <p:spPr>
            <a:xfrm>
              <a:off x="12605462" y="3528302"/>
              <a:ext cx="427500" cy="427500"/>
            </a:xfrm>
            <a:prstGeom prst="ellipse">
              <a:avLst/>
            </a:pr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8"/>
            <p:cNvSpPr/>
            <p:nvPr/>
          </p:nvSpPr>
          <p:spPr>
            <a:xfrm>
              <a:off x="12169387" y="3288890"/>
              <a:ext cx="282167" cy="350571"/>
            </a:xfrm>
            <a:custGeom>
              <a:rect b="b" l="l" r="r" t="t"/>
              <a:pathLst>
                <a:path extrusionOk="0" h="679" w="548">
                  <a:moveTo>
                    <a:pt x="548" y="679"/>
                  </a:moveTo>
                  <a:lnTo>
                    <a:pt x="279" y="679"/>
                  </a:lnTo>
                  <a:cubicBezTo>
                    <a:pt x="125" y="679"/>
                    <a:pt x="0" y="554"/>
                    <a:pt x="0" y="400"/>
                  </a:cubicBezTo>
                  <a:lnTo>
                    <a:pt x="0" y="279"/>
                  </a:lnTo>
                  <a:cubicBezTo>
                    <a:pt x="0" y="125"/>
                    <a:pt x="125" y="0"/>
                    <a:pt x="279" y="0"/>
                  </a:cubicBezTo>
                  <a:lnTo>
                    <a:pt x="548" y="0"/>
                  </a:lnTo>
                  <a:lnTo>
                    <a:pt x="548" y="679"/>
                  </a:ln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8"/>
            <p:cNvSpPr/>
            <p:nvPr/>
          </p:nvSpPr>
          <p:spPr>
            <a:xfrm>
              <a:off x="13186891" y="3288890"/>
              <a:ext cx="282167" cy="350571"/>
            </a:xfrm>
            <a:custGeom>
              <a:rect b="b" l="l" r="r" t="t"/>
              <a:pathLst>
                <a:path extrusionOk="0" h="679" w="548">
                  <a:moveTo>
                    <a:pt x="0" y="679"/>
                  </a:moveTo>
                  <a:lnTo>
                    <a:pt x="269" y="679"/>
                  </a:lnTo>
                  <a:cubicBezTo>
                    <a:pt x="423" y="679"/>
                    <a:pt x="548" y="554"/>
                    <a:pt x="548" y="400"/>
                  </a:cubicBezTo>
                  <a:lnTo>
                    <a:pt x="548" y="279"/>
                  </a:lnTo>
                  <a:cubicBezTo>
                    <a:pt x="548" y="125"/>
                    <a:pt x="423" y="0"/>
                    <a:pt x="269" y="0"/>
                  </a:cubicBezTo>
                  <a:lnTo>
                    <a:pt x="0" y="0"/>
                  </a:lnTo>
                  <a:lnTo>
                    <a:pt x="0" y="679"/>
                  </a:ln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8"/>
            <p:cNvSpPr/>
            <p:nvPr/>
          </p:nvSpPr>
          <p:spPr>
            <a:xfrm>
              <a:off x="12323295" y="3092233"/>
              <a:ext cx="991853" cy="709689"/>
            </a:xfrm>
            <a:custGeom>
              <a:rect b="b" l="l" r="r" t="t"/>
              <a:pathLst>
                <a:path extrusionOk="0" h="1381" w="1922">
                  <a:moveTo>
                    <a:pt x="1544" y="0"/>
                  </a:moveTo>
                  <a:lnTo>
                    <a:pt x="379" y="0"/>
                  </a:lnTo>
                  <a:cubicBezTo>
                    <a:pt x="229" y="0"/>
                    <a:pt x="103" y="114"/>
                    <a:pt x="90" y="263"/>
                  </a:cubicBezTo>
                  <a:lnTo>
                    <a:pt x="16" y="1064"/>
                  </a:lnTo>
                  <a:cubicBezTo>
                    <a:pt x="0" y="1234"/>
                    <a:pt x="134" y="1381"/>
                    <a:pt x="305" y="1381"/>
                  </a:cubicBezTo>
                  <a:lnTo>
                    <a:pt x="1618" y="1381"/>
                  </a:lnTo>
                  <a:cubicBezTo>
                    <a:pt x="1788" y="1381"/>
                    <a:pt x="1922" y="1234"/>
                    <a:pt x="1907" y="1064"/>
                  </a:cubicBezTo>
                  <a:lnTo>
                    <a:pt x="1833" y="263"/>
                  </a:lnTo>
                  <a:cubicBezTo>
                    <a:pt x="1820" y="114"/>
                    <a:pt x="1694" y="0"/>
                    <a:pt x="1544" y="0"/>
                  </a:cubicBezTo>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8"/>
            <p:cNvSpPr/>
            <p:nvPr/>
          </p:nvSpPr>
          <p:spPr>
            <a:xfrm>
              <a:off x="12545606" y="3314544"/>
              <a:ext cx="547227" cy="350571"/>
            </a:xfrm>
            <a:custGeom>
              <a:rect b="b" l="l" r="r" t="t"/>
              <a:pathLst>
                <a:path extrusionOk="0" h="679" w="1073">
                  <a:moveTo>
                    <a:pt x="1035" y="679"/>
                  </a:moveTo>
                  <a:lnTo>
                    <a:pt x="38" y="679"/>
                  </a:lnTo>
                  <a:cubicBezTo>
                    <a:pt x="17" y="679"/>
                    <a:pt x="0" y="662"/>
                    <a:pt x="0" y="641"/>
                  </a:cubicBezTo>
                  <a:lnTo>
                    <a:pt x="0" y="38"/>
                  </a:lnTo>
                  <a:cubicBezTo>
                    <a:pt x="0" y="17"/>
                    <a:pt x="17" y="0"/>
                    <a:pt x="38" y="0"/>
                  </a:cubicBezTo>
                  <a:lnTo>
                    <a:pt x="1035" y="0"/>
                  </a:lnTo>
                  <a:cubicBezTo>
                    <a:pt x="1056" y="0"/>
                    <a:pt x="1073" y="17"/>
                    <a:pt x="1073" y="38"/>
                  </a:cubicBezTo>
                  <a:lnTo>
                    <a:pt x="1073" y="641"/>
                  </a:lnTo>
                  <a:cubicBezTo>
                    <a:pt x="1073" y="662"/>
                    <a:pt x="1056" y="679"/>
                    <a:pt x="1035" y="679"/>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8"/>
            <p:cNvSpPr/>
            <p:nvPr/>
          </p:nvSpPr>
          <p:spPr>
            <a:xfrm>
              <a:off x="12537058" y="3305991"/>
              <a:ext cx="564329" cy="367673"/>
            </a:xfrm>
            <a:custGeom>
              <a:rect b="b" l="l" r="r" t="t"/>
              <a:pathLst>
                <a:path extrusionOk="0" h="714" w="1107">
                  <a:moveTo>
                    <a:pt x="63" y="35"/>
                  </a:moveTo>
                  <a:cubicBezTo>
                    <a:pt x="47" y="35"/>
                    <a:pt x="34" y="48"/>
                    <a:pt x="34" y="64"/>
                  </a:cubicBezTo>
                  <a:lnTo>
                    <a:pt x="34" y="651"/>
                  </a:lnTo>
                  <a:cubicBezTo>
                    <a:pt x="34" y="667"/>
                    <a:pt x="47" y="680"/>
                    <a:pt x="63" y="680"/>
                  </a:cubicBezTo>
                  <a:lnTo>
                    <a:pt x="1044" y="680"/>
                  </a:lnTo>
                  <a:cubicBezTo>
                    <a:pt x="1060" y="680"/>
                    <a:pt x="1073" y="667"/>
                    <a:pt x="1073" y="651"/>
                  </a:cubicBezTo>
                  <a:lnTo>
                    <a:pt x="1073" y="64"/>
                  </a:lnTo>
                  <a:cubicBezTo>
                    <a:pt x="1073" y="48"/>
                    <a:pt x="1060" y="35"/>
                    <a:pt x="1044" y="35"/>
                  </a:cubicBezTo>
                  <a:lnTo>
                    <a:pt x="63" y="35"/>
                  </a:lnTo>
                  <a:close/>
                  <a:moveTo>
                    <a:pt x="1044" y="714"/>
                  </a:moveTo>
                  <a:lnTo>
                    <a:pt x="63" y="714"/>
                  </a:lnTo>
                  <a:cubicBezTo>
                    <a:pt x="28" y="714"/>
                    <a:pt x="0" y="686"/>
                    <a:pt x="0" y="651"/>
                  </a:cubicBezTo>
                  <a:lnTo>
                    <a:pt x="0" y="64"/>
                  </a:lnTo>
                  <a:cubicBezTo>
                    <a:pt x="0" y="29"/>
                    <a:pt x="28" y="0"/>
                    <a:pt x="63" y="0"/>
                  </a:cubicBezTo>
                  <a:lnTo>
                    <a:pt x="1044" y="0"/>
                  </a:lnTo>
                  <a:cubicBezTo>
                    <a:pt x="1079" y="0"/>
                    <a:pt x="1107" y="29"/>
                    <a:pt x="1107" y="64"/>
                  </a:cubicBezTo>
                  <a:lnTo>
                    <a:pt x="1107" y="651"/>
                  </a:lnTo>
                  <a:cubicBezTo>
                    <a:pt x="1107" y="686"/>
                    <a:pt x="1079" y="714"/>
                    <a:pt x="1044" y="714"/>
                  </a:cubicBezTo>
                  <a:close/>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8"/>
            <p:cNvSpPr/>
            <p:nvPr/>
          </p:nvSpPr>
          <p:spPr>
            <a:xfrm>
              <a:off x="12665312" y="3434250"/>
              <a:ext cx="42755" cy="94058"/>
            </a:xfrm>
            <a:custGeom>
              <a:rect b="b" l="l" r="r" t="t"/>
              <a:pathLst>
                <a:path extrusionOk="0" h="178" w="85">
                  <a:moveTo>
                    <a:pt x="50" y="178"/>
                  </a:moveTo>
                  <a:lnTo>
                    <a:pt x="35" y="178"/>
                  </a:lnTo>
                  <a:cubicBezTo>
                    <a:pt x="15" y="178"/>
                    <a:pt x="0" y="162"/>
                    <a:pt x="0" y="143"/>
                  </a:cubicBezTo>
                  <a:lnTo>
                    <a:pt x="0" y="35"/>
                  </a:lnTo>
                  <a:cubicBezTo>
                    <a:pt x="0" y="16"/>
                    <a:pt x="15" y="0"/>
                    <a:pt x="35" y="0"/>
                  </a:cubicBezTo>
                  <a:lnTo>
                    <a:pt x="50" y="0"/>
                  </a:lnTo>
                  <a:cubicBezTo>
                    <a:pt x="69" y="0"/>
                    <a:pt x="85" y="16"/>
                    <a:pt x="85" y="35"/>
                  </a:cubicBezTo>
                  <a:lnTo>
                    <a:pt x="85" y="143"/>
                  </a:lnTo>
                  <a:cubicBezTo>
                    <a:pt x="85" y="162"/>
                    <a:pt x="69" y="178"/>
                    <a:pt x="50" y="178"/>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8"/>
            <p:cNvSpPr/>
            <p:nvPr/>
          </p:nvSpPr>
          <p:spPr>
            <a:xfrm>
              <a:off x="12913277" y="3434250"/>
              <a:ext cx="42755" cy="94058"/>
            </a:xfrm>
            <a:custGeom>
              <a:rect b="b" l="l" r="r" t="t"/>
              <a:pathLst>
                <a:path extrusionOk="0" h="178" w="85">
                  <a:moveTo>
                    <a:pt x="50" y="178"/>
                  </a:moveTo>
                  <a:lnTo>
                    <a:pt x="35" y="178"/>
                  </a:lnTo>
                  <a:cubicBezTo>
                    <a:pt x="16" y="178"/>
                    <a:pt x="0" y="162"/>
                    <a:pt x="0" y="143"/>
                  </a:cubicBezTo>
                  <a:lnTo>
                    <a:pt x="0" y="35"/>
                  </a:lnTo>
                  <a:cubicBezTo>
                    <a:pt x="0" y="16"/>
                    <a:pt x="16" y="0"/>
                    <a:pt x="35" y="0"/>
                  </a:cubicBezTo>
                  <a:lnTo>
                    <a:pt x="50" y="0"/>
                  </a:lnTo>
                  <a:cubicBezTo>
                    <a:pt x="70" y="0"/>
                    <a:pt x="85" y="16"/>
                    <a:pt x="85" y="35"/>
                  </a:cubicBezTo>
                  <a:lnTo>
                    <a:pt x="85" y="143"/>
                  </a:lnTo>
                  <a:cubicBezTo>
                    <a:pt x="85" y="162"/>
                    <a:pt x="70" y="178"/>
                    <a:pt x="50" y="178"/>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18"/>
            <p:cNvSpPr/>
            <p:nvPr/>
          </p:nvSpPr>
          <p:spPr>
            <a:xfrm>
              <a:off x="12725168" y="3519755"/>
              <a:ext cx="179562" cy="102605"/>
            </a:xfrm>
            <a:custGeom>
              <a:rect b="b" l="l" r="r" t="t"/>
              <a:pathLst>
                <a:path extrusionOk="0" h="197" w="357">
                  <a:moveTo>
                    <a:pt x="48" y="35"/>
                  </a:moveTo>
                  <a:cubicBezTo>
                    <a:pt x="44" y="35"/>
                    <a:pt x="41" y="38"/>
                    <a:pt x="39" y="39"/>
                  </a:cubicBezTo>
                  <a:cubicBezTo>
                    <a:pt x="37" y="42"/>
                    <a:pt x="36" y="46"/>
                    <a:pt x="37" y="49"/>
                  </a:cubicBezTo>
                  <a:cubicBezTo>
                    <a:pt x="52" y="115"/>
                    <a:pt x="111" y="162"/>
                    <a:pt x="178" y="162"/>
                  </a:cubicBezTo>
                  <a:cubicBezTo>
                    <a:pt x="246" y="162"/>
                    <a:pt x="305" y="115"/>
                    <a:pt x="320" y="49"/>
                  </a:cubicBezTo>
                  <a:cubicBezTo>
                    <a:pt x="321" y="46"/>
                    <a:pt x="320" y="42"/>
                    <a:pt x="317" y="39"/>
                  </a:cubicBezTo>
                  <a:cubicBezTo>
                    <a:pt x="316" y="38"/>
                    <a:pt x="313" y="35"/>
                    <a:pt x="308" y="35"/>
                  </a:cubicBezTo>
                  <a:lnTo>
                    <a:pt x="48" y="35"/>
                  </a:lnTo>
                  <a:close/>
                  <a:moveTo>
                    <a:pt x="178" y="197"/>
                  </a:moveTo>
                  <a:cubicBezTo>
                    <a:pt x="95" y="197"/>
                    <a:pt x="22" y="138"/>
                    <a:pt x="3" y="57"/>
                  </a:cubicBezTo>
                  <a:cubicBezTo>
                    <a:pt x="0" y="43"/>
                    <a:pt x="4" y="29"/>
                    <a:pt x="12" y="18"/>
                  </a:cubicBezTo>
                  <a:cubicBezTo>
                    <a:pt x="21" y="7"/>
                    <a:pt x="34" y="0"/>
                    <a:pt x="48" y="0"/>
                  </a:cubicBezTo>
                  <a:lnTo>
                    <a:pt x="308" y="0"/>
                  </a:lnTo>
                  <a:cubicBezTo>
                    <a:pt x="322" y="0"/>
                    <a:pt x="336" y="7"/>
                    <a:pt x="344" y="18"/>
                  </a:cubicBezTo>
                  <a:cubicBezTo>
                    <a:pt x="353" y="29"/>
                    <a:pt x="357" y="43"/>
                    <a:pt x="353" y="57"/>
                  </a:cubicBezTo>
                  <a:cubicBezTo>
                    <a:pt x="335" y="138"/>
                    <a:pt x="262" y="197"/>
                    <a:pt x="178" y="197"/>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8"/>
            <p:cNvSpPr/>
            <p:nvPr/>
          </p:nvSpPr>
          <p:spPr>
            <a:xfrm>
              <a:off x="13443405" y="4434649"/>
              <a:ext cx="436075" cy="350571"/>
            </a:xfrm>
            <a:custGeom>
              <a:rect b="b" l="l" r="r" t="t"/>
              <a:pathLst>
                <a:path extrusionOk="0" h="679" w="853">
                  <a:moveTo>
                    <a:pt x="663" y="0"/>
                  </a:moveTo>
                  <a:lnTo>
                    <a:pt x="191" y="0"/>
                  </a:lnTo>
                  <a:cubicBezTo>
                    <a:pt x="108" y="0"/>
                    <a:pt x="39" y="64"/>
                    <a:pt x="33" y="146"/>
                  </a:cubicBezTo>
                  <a:lnTo>
                    <a:pt x="7" y="510"/>
                  </a:lnTo>
                  <a:cubicBezTo>
                    <a:pt x="0" y="601"/>
                    <a:pt x="72" y="679"/>
                    <a:pt x="164" y="679"/>
                  </a:cubicBezTo>
                  <a:lnTo>
                    <a:pt x="689" y="679"/>
                  </a:lnTo>
                  <a:cubicBezTo>
                    <a:pt x="781" y="679"/>
                    <a:pt x="853" y="601"/>
                    <a:pt x="847" y="510"/>
                  </a:cubicBezTo>
                  <a:lnTo>
                    <a:pt x="820" y="146"/>
                  </a:lnTo>
                  <a:cubicBezTo>
                    <a:pt x="814" y="64"/>
                    <a:pt x="745" y="0"/>
                    <a:pt x="663" y="0"/>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8"/>
            <p:cNvSpPr/>
            <p:nvPr/>
          </p:nvSpPr>
          <p:spPr>
            <a:xfrm>
              <a:off x="13725566" y="3827570"/>
              <a:ext cx="171009" cy="34202"/>
            </a:xfrm>
            <a:custGeom>
              <a:rect b="b" l="l" r="r" t="t"/>
              <a:pathLst>
                <a:path extrusionOk="0" h="65" w="336">
                  <a:moveTo>
                    <a:pt x="19" y="65"/>
                  </a:moveTo>
                  <a:cubicBezTo>
                    <a:pt x="12" y="65"/>
                    <a:pt x="5" y="60"/>
                    <a:pt x="3" y="52"/>
                  </a:cubicBezTo>
                  <a:cubicBezTo>
                    <a:pt x="0" y="43"/>
                    <a:pt x="6" y="33"/>
                    <a:pt x="15" y="31"/>
                  </a:cubicBezTo>
                  <a:cubicBezTo>
                    <a:pt x="96" y="8"/>
                    <a:pt x="195" y="0"/>
                    <a:pt x="319" y="6"/>
                  </a:cubicBezTo>
                  <a:cubicBezTo>
                    <a:pt x="329" y="6"/>
                    <a:pt x="336" y="14"/>
                    <a:pt x="336" y="24"/>
                  </a:cubicBezTo>
                  <a:cubicBezTo>
                    <a:pt x="335" y="33"/>
                    <a:pt x="327" y="41"/>
                    <a:pt x="318" y="40"/>
                  </a:cubicBezTo>
                  <a:cubicBezTo>
                    <a:pt x="198" y="35"/>
                    <a:pt x="101" y="43"/>
                    <a:pt x="24" y="64"/>
                  </a:cubicBezTo>
                  <a:cubicBezTo>
                    <a:pt x="22" y="64"/>
                    <a:pt x="21" y="65"/>
                    <a:pt x="19" y="65"/>
                  </a:cubicBezTo>
                </a:path>
              </a:pathLst>
            </a:custGeom>
            <a:solidFill>
              <a:srgbClr val="48B8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8"/>
            <p:cNvSpPr/>
            <p:nvPr/>
          </p:nvSpPr>
          <p:spPr>
            <a:xfrm>
              <a:off x="13888027" y="3861772"/>
              <a:ext cx="68404" cy="42755"/>
            </a:xfrm>
            <a:custGeom>
              <a:rect b="b" l="l" r="r" t="t"/>
              <a:pathLst>
                <a:path extrusionOk="0" h="72" w="130">
                  <a:moveTo>
                    <a:pt x="130" y="58"/>
                  </a:moveTo>
                  <a:lnTo>
                    <a:pt x="35" y="71"/>
                  </a:lnTo>
                  <a:cubicBezTo>
                    <a:pt x="30" y="72"/>
                    <a:pt x="26" y="72"/>
                    <a:pt x="22" y="70"/>
                  </a:cubicBezTo>
                  <a:cubicBezTo>
                    <a:pt x="11" y="67"/>
                    <a:pt x="2" y="57"/>
                    <a:pt x="0" y="45"/>
                  </a:cubicBezTo>
                  <a:cubicBezTo>
                    <a:pt x="0" y="44"/>
                    <a:pt x="0" y="42"/>
                    <a:pt x="0" y="41"/>
                  </a:cubicBezTo>
                  <a:cubicBezTo>
                    <a:pt x="0" y="26"/>
                    <a:pt x="11" y="12"/>
                    <a:pt x="26" y="10"/>
                  </a:cubicBezTo>
                  <a:lnTo>
                    <a:pt x="36" y="9"/>
                  </a:lnTo>
                  <a:lnTo>
                    <a:pt x="95" y="0"/>
                  </a:lnTo>
                  <a:cubicBezTo>
                    <a:pt x="110" y="16"/>
                    <a:pt x="122" y="36"/>
                    <a:pt x="130" y="58"/>
                  </a:cubicBezTo>
                  <a:close/>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8"/>
            <p:cNvSpPr/>
            <p:nvPr/>
          </p:nvSpPr>
          <p:spPr>
            <a:xfrm>
              <a:off x="13922229" y="3990026"/>
              <a:ext cx="59856" cy="34202"/>
            </a:xfrm>
            <a:custGeom>
              <a:rect b="b" l="l" r="r" t="t"/>
              <a:pathLst>
                <a:path extrusionOk="0" h="75" w="118">
                  <a:moveTo>
                    <a:pt x="117" y="57"/>
                  </a:moveTo>
                  <a:lnTo>
                    <a:pt x="117" y="61"/>
                  </a:lnTo>
                  <a:lnTo>
                    <a:pt x="35" y="73"/>
                  </a:lnTo>
                  <a:cubicBezTo>
                    <a:pt x="18" y="75"/>
                    <a:pt x="3" y="64"/>
                    <a:pt x="0" y="48"/>
                  </a:cubicBezTo>
                  <a:lnTo>
                    <a:pt x="0" y="47"/>
                  </a:lnTo>
                  <a:cubicBezTo>
                    <a:pt x="0" y="45"/>
                    <a:pt x="0" y="44"/>
                    <a:pt x="0" y="43"/>
                  </a:cubicBezTo>
                  <a:cubicBezTo>
                    <a:pt x="0" y="27"/>
                    <a:pt x="11" y="14"/>
                    <a:pt x="26" y="12"/>
                  </a:cubicBezTo>
                  <a:lnTo>
                    <a:pt x="43" y="9"/>
                  </a:lnTo>
                  <a:lnTo>
                    <a:pt x="107" y="0"/>
                  </a:lnTo>
                  <a:cubicBezTo>
                    <a:pt x="114" y="18"/>
                    <a:pt x="118" y="37"/>
                    <a:pt x="117" y="57"/>
                  </a:cubicBezTo>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8"/>
            <p:cNvSpPr/>
            <p:nvPr/>
          </p:nvSpPr>
          <p:spPr>
            <a:xfrm>
              <a:off x="13922229" y="4109732"/>
              <a:ext cx="51303" cy="42755"/>
            </a:xfrm>
            <a:custGeom>
              <a:rect b="b" l="l" r="r" t="t"/>
              <a:pathLst>
                <a:path extrusionOk="0" h="73" w="95">
                  <a:moveTo>
                    <a:pt x="92" y="63"/>
                  </a:moveTo>
                  <a:lnTo>
                    <a:pt x="35" y="71"/>
                  </a:lnTo>
                  <a:cubicBezTo>
                    <a:pt x="18" y="73"/>
                    <a:pt x="3" y="62"/>
                    <a:pt x="0" y="45"/>
                  </a:cubicBezTo>
                  <a:cubicBezTo>
                    <a:pt x="0" y="43"/>
                    <a:pt x="0" y="42"/>
                    <a:pt x="0" y="40"/>
                  </a:cubicBezTo>
                  <a:cubicBezTo>
                    <a:pt x="0" y="25"/>
                    <a:pt x="11" y="12"/>
                    <a:pt x="26" y="10"/>
                  </a:cubicBezTo>
                  <a:lnTo>
                    <a:pt x="90" y="0"/>
                  </a:lnTo>
                  <a:cubicBezTo>
                    <a:pt x="92" y="6"/>
                    <a:pt x="93" y="13"/>
                    <a:pt x="93" y="19"/>
                  </a:cubicBezTo>
                  <a:cubicBezTo>
                    <a:pt x="95" y="34"/>
                    <a:pt x="94" y="49"/>
                    <a:pt x="92" y="63"/>
                  </a:cubicBezTo>
                </a:path>
              </a:pathLst>
            </a:custGeom>
            <a:solidFill>
              <a:srgbClr val="374D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8"/>
            <p:cNvSpPr/>
            <p:nvPr/>
          </p:nvSpPr>
          <p:spPr>
            <a:xfrm>
              <a:off x="13930777" y="4323496"/>
              <a:ext cx="128259" cy="128259"/>
            </a:xfrm>
            <a:custGeom>
              <a:rect b="b" l="l" r="r" t="t"/>
              <a:pathLst>
                <a:path extrusionOk="0" h="248" w="248">
                  <a:moveTo>
                    <a:pt x="219" y="124"/>
                  </a:moveTo>
                  <a:lnTo>
                    <a:pt x="177" y="104"/>
                  </a:lnTo>
                  <a:lnTo>
                    <a:pt x="196" y="62"/>
                  </a:lnTo>
                  <a:cubicBezTo>
                    <a:pt x="205" y="42"/>
                    <a:pt x="196" y="18"/>
                    <a:pt x="176" y="9"/>
                  </a:cubicBezTo>
                  <a:cubicBezTo>
                    <a:pt x="156" y="0"/>
                    <a:pt x="133" y="9"/>
                    <a:pt x="124" y="29"/>
                  </a:cubicBezTo>
                  <a:lnTo>
                    <a:pt x="104" y="72"/>
                  </a:lnTo>
                  <a:lnTo>
                    <a:pt x="62" y="53"/>
                  </a:lnTo>
                  <a:cubicBezTo>
                    <a:pt x="42" y="43"/>
                    <a:pt x="18" y="52"/>
                    <a:pt x="9" y="72"/>
                  </a:cubicBezTo>
                  <a:cubicBezTo>
                    <a:pt x="0" y="92"/>
                    <a:pt x="9" y="116"/>
                    <a:pt x="29" y="125"/>
                  </a:cubicBezTo>
                  <a:lnTo>
                    <a:pt x="72" y="144"/>
                  </a:lnTo>
                  <a:lnTo>
                    <a:pt x="52" y="187"/>
                  </a:lnTo>
                  <a:cubicBezTo>
                    <a:pt x="43" y="207"/>
                    <a:pt x="52" y="230"/>
                    <a:pt x="72" y="239"/>
                  </a:cubicBezTo>
                  <a:cubicBezTo>
                    <a:pt x="92" y="248"/>
                    <a:pt x="116" y="240"/>
                    <a:pt x="125" y="219"/>
                  </a:cubicBezTo>
                  <a:lnTo>
                    <a:pt x="144" y="177"/>
                  </a:lnTo>
                  <a:lnTo>
                    <a:pt x="187" y="196"/>
                  </a:lnTo>
                  <a:cubicBezTo>
                    <a:pt x="207" y="205"/>
                    <a:pt x="230" y="196"/>
                    <a:pt x="239" y="176"/>
                  </a:cubicBezTo>
                  <a:cubicBezTo>
                    <a:pt x="248" y="156"/>
                    <a:pt x="239" y="133"/>
                    <a:pt x="219" y="124"/>
                  </a:cubicBezTo>
                  <a:close/>
                </a:path>
              </a:pathLst>
            </a:custGeom>
            <a:solidFill>
              <a:srgbClr val="F579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8"/>
            <p:cNvSpPr/>
            <p:nvPr/>
          </p:nvSpPr>
          <p:spPr>
            <a:xfrm>
              <a:off x="12246343" y="3964377"/>
              <a:ext cx="1145756" cy="820841"/>
            </a:xfrm>
            <a:custGeom>
              <a:rect b="b" l="l" r="r" t="t"/>
              <a:pathLst>
                <a:path extrusionOk="0" h="1598" w="2223">
                  <a:moveTo>
                    <a:pt x="1785" y="0"/>
                  </a:moveTo>
                  <a:lnTo>
                    <a:pt x="437" y="0"/>
                  </a:lnTo>
                  <a:cubicBezTo>
                    <a:pt x="264" y="0"/>
                    <a:pt x="119" y="132"/>
                    <a:pt x="103" y="305"/>
                  </a:cubicBezTo>
                  <a:lnTo>
                    <a:pt x="18" y="1232"/>
                  </a:lnTo>
                  <a:cubicBezTo>
                    <a:pt x="0" y="1428"/>
                    <a:pt x="155" y="1598"/>
                    <a:pt x="352" y="1598"/>
                  </a:cubicBezTo>
                  <a:lnTo>
                    <a:pt x="1870" y="1598"/>
                  </a:lnTo>
                  <a:cubicBezTo>
                    <a:pt x="2068" y="1598"/>
                    <a:pt x="2223" y="1428"/>
                    <a:pt x="2205" y="1232"/>
                  </a:cubicBezTo>
                  <a:lnTo>
                    <a:pt x="2120" y="305"/>
                  </a:lnTo>
                  <a:cubicBezTo>
                    <a:pt x="2104" y="132"/>
                    <a:pt x="1959" y="0"/>
                    <a:pt x="1785" y="0"/>
                  </a:cubicBezTo>
                  <a:close/>
                </a:path>
              </a:pathLst>
            </a:custGeom>
            <a:solidFill>
              <a:srgbClr val="B1E5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2" name="Google Shape;482;p18"/>
          <p:cNvSpPr txBox="1"/>
          <p:nvPr/>
        </p:nvSpPr>
        <p:spPr>
          <a:xfrm>
            <a:off x="2939814" y="2903150"/>
            <a:ext cx="2765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a:solidFill>
                  <a:schemeClr val="dk2"/>
                </a:solidFill>
                <a:latin typeface="Montserrat SemiBold"/>
                <a:ea typeface="Montserrat SemiBold"/>
                <a:cs typeface="Montserrat SemiBold"/>
                <a:sym typeface="Montserrat SemiBold"/>
              </a:rPr>
              <a:t>Long Short Term Memory</a:t>
            </a:r>
            <a:endParaRPr/>
          </a:p>
        </p:txBody>
      </p:sp>
      <p:sp>
        <p:nvSpPr>
          <p:cNvPr id="483" name="Google Shape;483;p18"/>
          <p:cNvSpPr txBox="1"/>
          <p:nvPr/>
        </p:nvSpPr>
        <p:spPr>
          <a:xfrm>
            <a:off x="8569626" y="2903141"/>
            <a:ext cx="2514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a:solidFill>
                  <a:schemeClr val="dk2"/>
                </a:solidFill>
                <a:latin typeface="Montserrat SemiBold"/>
                <a:ea typeface="Montserrat SemiBold"/>
                <a:cs typeface="Montserrat SemiBold"/>
                <a:sym typeface="Montserrat SemiBold"/>
              </a:rPr>
              <a:t>Graph Neural Network</a:t>
            </a:r>
            <a:endParaRPr/>
          </a:p>
        </p:txBody>
      </p:sp>
      <p:sp>
        <p:nvSpPr>
          <p:cNvPr id="484" name="Google Shape;484;p18"/>
          <p:cNvSpPr txBox="1"/>
          <p:nvPr/>
        </p:nvSpPr>
        <p:spPr>
          <a:xfrm>
            <a:off x="870175" y="4033425"/>
            <a:ext cx="4981200" cy="242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500">
                <a:solidFill>
                  <a:schemeClr val="dk2"/>
                </a:solidFill>
                <a:latin typeface="Calibri"/>
                <a:ea typeface="Calibri"/>
                <a:cs typeface="Calibri"/>
                <a:sym typeface="Calibri"/>
              </a:rPr>
              <a:t>Description:</a:t>
            </a:r>
            <a:r>
              <a:rPr lang="en-US" sz="1500">
                <a:solidFill>
                  <a:schemeClr val="dk2"/>
                </a:solidFill>
                <a:latin typeface="Calibri"/>
                <a:ea typeface="Calibri"/>
                <a:cs typeface="Calibri"/>
                <a:sym typeface="Calibri"/>
              </a:rPr>
              <a:t> Variants of recurrent neural networks (RNNs) that are capable of learning order dependence in sequence prediction problems.</a:t>
            </a:r>
            <a:endParaRPr sz="1500">
              <a:solidFill>
                <a:schemeClr val="dk2"/>
              </a:solidFill>
              <a:latin typeface="Calibri"/>
              <a:ea typeface="Calibri"/>
              <a:cs typeface="Calibri"/>
              <a:sym typeface="Calibri"/>
            </a:endParaRPr>
          </a:p>
          <a:p>
            <a:pPr indent="0" lvl="0" marL="0" rtl="0" algn="l">
              <a:lnSpc>
                <a:spcPct val="115000"/>
              </a:lnSpc>
              <a:spcBef>
                <a:spcPts val="1200"/>
              </a:spcBef>
              <a:spcAft>
                <a:spcPts val="0"/>
              </a:spcAft>
              <a:buNone/>
            </a:pPr>
            <a:r>
              <a:t/>
            </a:r>
            <a:endParaRPr sz="1500">
              <a:solidFill>
                <a:schemeClr val="dk2"/>
              </a:solidFill>
              <a:latin typeface="Calibri"/>
              <a:ea typeface="Calibri"/>
              <a:cs typeface="Calibri"/>
              <a:sym typeface="Calibri"/>
            </a:endParaRPr>
          </a:p>
          <a:p>
            <a:pPr indent="0" lvl="0" marL="0" rtl="0" algn="l">
              <a:lnSpc>
                <a:spcPct val="115000"/>
              </a:lnSpc>
              <a:spcBef>
                <a:spcPts val="1200"/>
              </a:spcBef>
              <a:spcAft>
                <a:spcPts val="0"/>
              </a:spcAft>
              <a:buNone/>
            </a:pPr>
            <a:r>
              <a:rPr b="1" lang="en-US" sz="1500">
                <a:solidFill>
                  <a:schemeClr val="dk2"/>
                </a:solidFill>
                <a:latin typeface="Calibri"/>
                <a:ea typeface="Calibri"/>
                <a:cs typeface="Calibri"/>
                <a:sym typeface="Calibri"/>
              </a:rPr>
              <a:t>Why Suitable:</a:t>
            </a:r>
            <a:r>
              <a:rPr lang="en-US" sz="1500">
                <a:solidFill>
                  <a:schemeClr val="dk2"/>
                </a:solidFill>
                <a:latin typeface="Calibri"/>
                <a:ea typeface="Calibri"/>
                <a:cs typeface="Calibri"/>
                <a:sym typeface="Calibri"/>
              </a:rPr>
              <a:t> Effective in capturing temporal dependencies and patterns in time-series data, essential for predicting the timing and evolution of terrorist attacks.</a:t>
            </a:r>
            <a:endParaRPr sz="1500">
              <a:solidFill>
                <a:schemeClr val="dk2"/>
              </a:solidFill>
              <a:latin typeface="Calibri"/>
              <a:ea typeface="Calibri"/>
              <a:cs typeface="Calibri"/>
              <a:sym typeface="Calibri"/>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
        <p:nvSpPr>
          <p:cNvPr id="485" name="Google Shape;485;p18"/>
          <p:cNvSpPr txBox="1"/>
          <p:nvPr/>
        </p:nvSpPr>
        <p:spPr>
          <a:xfrm>
            <a:off x="6461450" y="4033425"/>
            <a:ext cx="4981200" cy="242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500">
                <a:solidFill>
                  <a:schemeClr val="dk2"/>
                </a:solidFill>
                <a:latin typeface="Calibri"/>
                <a:ea typeface="Calibri"/>
                <a:cs typeface="Calibri"/>
                <a:sym typeface="Calibri"/>
              </a:rPr>
              <a:t>Description:</a:t>
            </a:r>
            <a:r>
              <a:rPr lang="en-US" sz="1500">
                <a:solidFill>
                  <a:schemeClr val="dk2"/>
                </a:solidFill>
                <a:latin typeface="Calibri"/>
                <a:ea typeface="Calibri"/>
                <a:cs typeface="Calibri"/>
                <a:sym typeface="Calibri"/>
              </a:rPr>
              <a:t> A type of neural network that operates directly on graphs, enabling the model to learn from the structural information of data.</a:t>
            </a:r>
            <a:endParaRPr sz="150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t/>
            </a:r>
            <a:endParaRPr sz="150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b="1" lang="en-US" sz="1500">
                <a:solidFill>
                  <a:schemeClr val="dk2"/>
                </a:solidFill>
                <a:latin typeface="Calibri"/>
                <a:ea typeface="Calibri"/>
                <a:cs typeface="Calibri"/>
                <a:sym typeface="Calibri"/>
              </a:rPr>
              <a:t>Why Suitable:</a:t>
            </a:r>
            <a:r>
              <a:rPr lang="en-US" sz="1500">
                <a:solidFill>
                  <a:schemeClr val="dk2"/>
                </a:solidFill>
                <a:latin typeface="Calibri"/>
                <a:ea typeface="Calibri"/>
                <a:cs typeface="Calibri"/>
                <a:sym typeface="Calibri"/>
              </a:rPr>
              <a:t> Allows integration of relational data (e.g., connections between locations, attack types), which is critical for understanding how terrorist networks operate and influence different regions and entities.</a:t>
            </a:r>
            <a:endParaRPr sz="150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t/>
            </a:r>
            <a:endParaRPr b="1" sz="1500">
              <a:solidFill>
                <a:schemeClr val="dk2"/>
              </a:solidFill>
              <a:latin typeface="Calibri"/>
              <a:ea typeface="Calibri"/>
              <a:cs typeface="Calibri"/>
              <a:sym typeface="Calibri"/>
            </a:endParaRPr>
          </a:p>
          <a:p>
            <a:pPr indent="0" lvl="0" marL="0" rtl="0" algn="l">
              <a:spcBef>
                <a:spcPts val="1200"/>
              </a:spcBef>
              <a:spcAft>
                <a:spcPts val="0"/>
              </a:spcAft>
              <a:buNone/>
            </a:pPr>
            <a:r>
              <a:t/>
            </a:r>
            <a:endParaRPr sz="2800">
              <a:solidFill>
                <a:schemeClr val="dk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19"/>
          <p:cNvSpPr/>
          <p:nvPr/>
        </p:nvSpPr>
        <p:spPr>
          <a:xfrm>
            <a:off x="0" y="5089500"/>
            <a:ext cx="12192000" cy="1768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2" name="Google Shape;492;p19"/>
          <p:cNvSpPr txBox="1"/>
          <p:nvPr/>
        </p:nvSpPr>
        <p:spPr>
          <a:xfrm>
            <a:off x="608814" y="597878"/>
            <a:ext cx="67338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400">
                <a:solidFill>
                  <a:schemeClr val="dk2"/>
                </a:solidFill>
                <a:latin typeface="Calibri"/>
                <a:ea typeface="Calibri"/>
                <a:cs typeface="Calibri"/>
                <a:sym typeface="Calibri"/>
              </a:rPr>
              <a:t>Long Short Term Memory</a:t>
            </a:r>
            <a:endParaRPr sz="2400">
              <a:solidFill>
                <a:schemeClr val="dk2"/>
              </a:solidFill>
              <a:latin typeface="Calibri"/>
              <a:ea typeface="Calibri"/>
              <a:cs typeface="Calibri"/>
              <a:sym typeface="Calibri"/>
            </a:endParaRPr>
          </a:p>
        </p:txBody>
      </p:sp>
      <p:sp>
        <p:nvSpPr>
          <p:cNvPr id="493" name="Google Shape;493;p19"/>
          <p:cNvSpPr txBox="1"/>
          <p:nvPr/>
        </p:nvSpPr>
        <p:spPr>
          <a:xfrm>
            <a:off x="268950" y="5121675"/>
            <a:ext cx="115095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sz="1000">
              <a:solidFill>
                <a:schemeClr val="lt1"/>
              </a:solidFill>
              <a:latin typeface="Calibri"/>
              <a:ea typeface="Calibri"/>
              <a:cs typeface="Calibri"/>
              <a:sym typeface="Calibri"/>
            </a:endParaRPr>
          </a:p>
        </p:txBody>
      </p:sp>
      <p:sp>
        <p:nvSpPr>
          <p:cNvPr id="494" name="Google Shape;494;p19"/>
          <p:cNvSpPr/>
          <p:nvPr/>
        </p:nvSpPr>
        <p:spPr>
          <a:xfrm>
            <a:off x="182250" y="1181225"/>
            <a:ext cx="11596200" cy="3557100"/>
          </a:xfrm>
          <a:prstGeom prst="roundRect">
            <a:avLst>
              <a:gd fmla="val 18765" name="adj"/>
            </a:avLst>
          </a:prstGeom>
          <a:solidFill>
            <a:schemeClr val="lt1"/>
          </a:solidFill>
          <a:ln cap="flat" cmpd="sng" w="19050">
            <a:solidFill>
              <a:srgbClr val="B9C7FB"/>
            </a:solidFill>
            <a:prstDash val="solid"/>
            <a:miter lim="800000"/>
            <a:headEnd len="sm" w="sm" type="none"/>
            <a:tailEnd len="sm" w="sm" type="none"/>
          </a:ln>
          <a:effectLst>
            <a:outerShdw blurRad="50800" rotWithShape="0" algn="t" dir="5400000" dist="38100">
              <a:srgbClr val="09279B">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Montserrat SemiBold"/>
              <a:ea typeface="Montserrat SemiBold"/>
              <a:cs typeface="Montserrat SemiBold"/>
              <a:sym typeface="Montserrat SemiBold"/>
            </a:endParaRPr>
          </a:p>
        </p:txBody>
      </p:sp>
      <p:sp>
        <p:nvSpPr>
          <p:cNvPr id="495" name="Google Shape;495;p19"/>
          <p:cNvSpPr txBox="1"/>
          <p:nvPr/>
        </p:nvSpPr>
        <p:spPr>
          <a:xfrm>
            <a:off x="4058725" y="2477025"/>
            <a:ext cx="3500700" cy="261600"/>
          </a:xfrm>
          <a:prstGeom prst="rect">
            <a:avLst/>
          </a:prstGeom>
          <a:noFill/>
          <a:ln>
            <a:noFill/>
          </a:ln>
        </p:spPr>
        <p:txBody>
          <a:bodyPr anchorCtr="0" anchor="t" bIns="45700" lIns="91425" spcFirstLastPara="1" rIns="91425" wrap="square" tIns="45700">
            <a:spAutoFit/>
          </a:bodyPr>
          <a:lstStyle/>
          <a:p>
            <a:pPr indent="0" lvl="0" marL="0" rtl="0" algn="l">
              <a:lnSpc>
                <a:spcPct val="145000"/>
              </a:lnSpc>
              <a:spcBef>
                <a:spcPts val="0"/>
              </a:spcBef>
              <a:spcAft>
                <a:spcPts val="0"/>
              </a:spcAft>
              <a:buNone/>
            </a:pPr>
            <a:r>
              <a:t/>
            </a:r>
            <a:endParaRPr sz="1100">
              <a:solidFill>
                <a:schemeClr val="dk1"/>
              </a:solidFill>
              <a:highlight>
                <a:srgbClr val="FFFFFF"/>
              </a:highlight>
              <a:latin typeface="Calibri"/>
              <a:ea typeface="Calibri"/>
              <a:cs typeface="Calibri"/>
              <a:sym typeface="Calibri"/>
            </a:endParaRPr>
          </a:p>
        </p:txBody>
      </p:sp>
      <p:sp>
        <p:nvSpPr>
          <p:cNvPr id="496" name="Google Shape;496;p19"/>
          <p:cNvSpPr txBox="1"/>
          <p:nvPr/>
        </p:nvSpPr>
        <p:spPr>
          <a:xfrm>
            <a:off x="6062375" y="1964025"/>
            <a:ext cx="5069700" cy="307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SzPts val="1100"/>
              <a:buNone/>
            </a:pPr>
            <a:r>
              <a:rPr b="1" lang="en-US">
                <a:solidFill>
                  <a:schemeClr val="dk2"/>
                </a:solidFill>
                <a:latin typeface="Montserrat"/>
                <a:ea typeface="Montserrat"/>
                <a:cs typeface="Montserrat"/>
                <a:sym typeface="Montserrat"/>
              </a:rPr>
              <a:t>Data Normalization and Sequencing:</a:t>
            </a:r>
            <a:endParaRPr b="1">
              <a:solidFill>
                <a:schemeClr val="dk2"/>
              </a:solidFill>
              <a:latin typeface="Montserrat"/>
              <a:ea typeface="Montserrat"/>
              <a:cs typeface="Montserrat"/>
              <a:sym typeface="Montserrat"/>
            </a:endParaRPr>
          </a:p>
        </p:txBody>
      </p:sp>
      <p:sp>
        <p:nvSpPr>
          <p:cNvPr id="497" name="Google Shape;497;p19"/>
          <p:cNvSpPr txBox="1"/>
          <p:nvPr/>
        </p:nvSpPr>
        <p:spPr>
          <a:xfrm>
            <a:off x="7871625" y="2477025"/>
            <a:ext cx="4182900" cy="261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t/>
            </a:r>
            <a:endParaRPr sz="1100">
              <a:solidFill>
                <a:schemeClr val="dk1"/>
              </a:solidFill>
              <a:latin typeface="Calibri"/>
              <a:ea typeface="Calibri"/>
              <a:cs typeface="Calibri"/>
              <a:sym typeface="Calibri"/>
            </a:endParaRPr>
          </a:p>
        </p:txBody>
      </p:sp>
      <p:cxnSp>
        <p:nvCxnSpPr>
          <p:cNvPr id="498" name="Google Shape;498;p19"/>
          <p:cNvCxnSpPr/>
          <p:nvPr/>
        </p:nvCxnSpPr>
        <p:spPr>
          <a:xfrm flipH="1">
            <a:off x="5859696" y="1868680"/>
            <a:ext cx="16200" cy="2930100"/>
          </a:xfrm>
          <a:prstGeom prst="straightConnector1">
            <a:avLst/>
          </a:prstGeom>
          <a:noFill/>
          <a:ln cap="flat" cmpd="sng" w="9525">
            <a:solidFill>
              <a:schemeClr val="accent1"/>
            </a:solidFill>
            <a:prstDash val="solid"/>
            <a:miter lim="800000"/>
            <a:headEnd len="sm" w="sm" type="none"/>
            <a:tailEnd len="sm" w="sm" type="none"/>
          </a:ln>
        </p:spPr>
      </p:cxnSp>
      <p:sp>
        <p:nvSpPr>
          <p:cNvPr id="499" name="Google Shape;499;p19"/>
          <p:cNvSpPr txBox="1"/>
          <p:nvPr/>
        </p:nvSpPr>
        <p:spPr>
          <a:xfrm>
            <a:off x="790150" y="1964025"/>
            <a:ext cx="4683600" cy="3078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1200"/>
              </a:spcBef>
              <a:spcAft>
                <a:spcPts val="1200"/>
              </a:spcAft>
              <a:buNone/>
            </a:pPr>
            <a:r>
              <a:rPr b="1" lang="en-US">
                <a:solidFill>
                  <a:schemeClr val="dk2"/>
                </a:solidFill>
                <a:latin typeface="Montserrat"/>
                <a:ea typeface="Montserrat"/>
                <a:cs typeface="Montserrat"/>
                <a:sym typeface="Montserrat"/>
              </a:rPr>
              <a:t>Data Structuring for Modeling</a:t>
            </a:r>
            <a:endParaRPr b="1">
              <a:solidFill>
                <a:schemeClr val="dk2"/>
              </a:solidFill>
              <a:latin typeface="Montserrat"/>
              <a:ea typeface="Montserrat"/>
              <a:cs typeface="Montserrat"/>
              <a:sym typeface="Montserrat"/>
            </a:endParaRPr>
          </a:p>
        </p:txBody>
      </p:sp>
      <p:sp>
        <p:nvSpPr>
          <p:cNvPr id="500" name="Google Shape;500;p19"/>
          <p:cNvSpPr txBox="1"/>
          <p:nvPr/>
        </p:nvSpPr>
        <p:spPr>
          <a:xfrm>
            <a:off x="554625" y="2477025"/>
            <a:ext cx="5118600" cy="2042400"/>
          </a:xfrm>
          <a:prstGeom prst="rect">
            <a:avLst/>
          </a:prstGeom>
          <a:noFill/>
          <a:ln>
            <a:noFill/>
          </a:ln>
        </p:spPr>
        <p:txBody>
          <a:bodyPr anchorCtr="0" anchor="t" bIns="45700" lIns="91425" spcFirstLastPara="1" rIns="91425" wrap="square" tIns="45700">
            <a:spAutoFit/>
          </a:bodyPr>
          <a:lstStyle/>
          <a:p>
            <a:pPr indent="-317500" lvl="0" marL="457200" rtl="0" algn="l">
              <a:lnSpc>
                <a:spcPct val="115000"/>
              </a:lnSpc>
              <a:spcBef>
                <a:spcPts val="120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Sorted data to ensure the time series integrity.</a:t>
            </a:r>
            <a:endParaRPr>
              <a:solidFill>
                <a:schemeClr val="dk2"/>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dk2"/>
              </a:buClr>
              <a:buSzPts val="1100"/>
              <a:buFont typeface="Montserrat"/>
              <a:buChar char="●"/>
            </a:pPr>
            <a:r>
              <a:rPr lang="en-US">
                <a:solidFill>
                  <a:schemeClr val="dk2"/>
                </a:solidFill>
                <a:latin typeface="Montserrat"/>
                <a:ea typeface="Montserrat"/>
                <a:cs typeface="Montserrat"/>
                <a:sym typeface="Montserrat"/>
              </a:rPr>
              <a:t>Created cyclical features for 'Month' and 'Day' to capture seasonal trends</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Introduce lag features for 'Killed' and 'Wounded' </a:t>
            </a:r>
            <a:endParaRPr>
              <a:solidFill>
                <a:schemeClr val="dk2"/>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dk2"/>
              </a:buClr>
              <a:buSzPts val="1100"/>
              <a:buFont typeface="Montserrat"/>
              <a:buChar char="●"/>
            </a:pPr>
            <a:r>
              <a:rPr lang="en-US">
                <a:solidFill>
                  <a:schemeClr val="dk2"/>
                </a:solidFill>
                <a:latin typeface="Montserrat"/>
                <a:ea typeface="Montserrat"/>
                <a:cs typeface="Montserrat"/>
                <a:sym typeface="Montserrat"/>
              </a:rPr>
              <a:t>Implement rolling window statistics (mean, median, standard deviation)</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Aggregate data by week and month for trend analysis</a:t>
            </a:r>
            <a:endParaRPr>
              <a:solidFill>
                <a:schemeClr val="dk2"/>
              </a:solidFill>
              <a:latin typeface="Montserrat"/>
              <a:ea typeface="Montserrat"/>
              <a:cs typeface="Montserrat"/>
              <a:sym typeface="Montserrat"/>
            </a:endParaRPr>
          </a:p>
        </p:txBody>
      </p:sp>
      <p:sp>
        <p:nvSpPr>
          <p:cNvPr id="501" name="Google Shape;501;p19"/>
          <p:cNvSpPr txBox="1"/>
          <p:nvPr/>
        </p:nvSpPr>
        <p:spPr>
          <a:xfrm>
            <a:off x="6062375" y="2350025"/>
            <a:ext cx="4945500" cy="2388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Scale features using MinMaxScaler to normalize data between 0 and 1</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Create sequential data batches to feed into LSTM</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Split the normalized data into training and testing sets, using a historical cut-off point to validate model predictions against actual outcomes.</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2800">
              <a:solidFill>
                <a:schemeClr val="dk2"/>
              </a:solidFill>
              <a:latin typeface="Calibri"/>
              <a:ea typeface="Calibri"/>
              <a:cs typeface="Calibri"/>
              <a:sym typeface="Calibri"/>
            </a:endParaRPr>
          </a:p>
        </p:txBody>
      </p:sp>
      <p:sp>
        <p:nvSpPr>
          <p:cNvPr id="502" name="Google Shape;502;p19"/>
          <p:cNvSpPr txBox="1"/>
          <p:nvPr/>
        </p:nvSpPr>
        <p:spPr>
          <a:xfrm>
            <a:off x="181500" y="5172600"/>
            <a:ext cx="11829000" cy="16023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lt1"/>
              </a:buClr>
              <a:buSzPts val="1300"/>
              <a:buFont typeface="Montserrat"/>
              <a:buChar char="●"/>
            </a:pPr>
            <a:r>
              <a:rPr lang="en-US" sz="1300">
                <a:solidFill>
                  <a:schemeClr val="lt1"/>
                </a:solidFill>
                <a:latin typeface="Montserrat"/>
                <a:ea typeface="Montserrat"/>
                <a:cs typeface="Montserrat"/>
                <a:sym typeface="Montserrat"/>
              </a:rPr>
              <a:t>Lagged or time-shifted features, are a technique used in TS forecasting to capture temporal dependencies and patterns within the data.</a:t>
            </a:r>
            <a:endParaRPr sz="1300">
              <a:solidFill>
                <a:schemeClr val="lt1"/>
              </a:solidFill>
              <a:latin typeface="Montserrat"/>
              <a:ea typeface="Montserrat"/>
              <a:cs typeface="Montserrat"/>
              <a:sym typeface="Montserrat"/>
            </a:endParaRPr>
          </a:p>
          <a:p>
            <a:pPr indent="-311150" lvl="0" marL="457200" rtl="0" algn="l">
              <a:lnSpc>
                <a:spcPct val="115000"/>
              </a:lnSpc>
              <a:spcBef>
                <a:spcPts val="0"/>
              </a:spcBef>
              <a:spcAft>
                <a:spcPts val="0"/>
              </a:spcAft>
              <a:buClr>
                <a:schemeClr val="lt1"/>
              </a:buClr>
              <a:buSzPts val="1300"/>
              <a:buFont typeface="Montserrat"/>
              <a:buChar char="●"/>
            </a:pPr>
            <a:r>
              <a:rPr lang="en-US" sz="1300">
                <a:solidFill>
                  <a:schemeClr val="lt1"/>
                </a:solidFill>
                <a:latin typeface="Montserrat"/>
                <a:ea typeface="Montserrat"/>
                <a:cs typeface="Montserrat"/>
                <a:sym typeface="Montserrat"/>
              </a:rPr>
              <a:t>A sliding window is a technique used to analyze data over a specific </a:t>
            </a:r>
            <a:r>
              <a:rPr lang="en-US" sz="1300">
                <a:solidFill>
                  <a:schemeClr val="lt1"/>
                </a:solidFill>
                <a:latin typeface="Montserrat"/>
                <a:ea typeface="Montserrat"/>
                <a:cs typeface="Montserrat"/>
                <a:sym typeface="Montserrat"/>
              </a:rPr>
              <a:t>time frame</a:t>
            </a:r>
            <a:r>
              <a:rPr lang="en-US" sz="1300">
                <a:solidFill>
                  <a:schemeClr val="lt1"/>
                </a:solidFill>
                <a:latin typeface="Montserrat"/>
                <a:ea typeface="Montserrat"/>
                <a:cs typeface="Montserrat"/>
                <a:sym typeface="Montserrat"/>
              </a:rPr>
              <a:t> that moves forward incrementally. It's particularly valuable for examining trends and changes within time series data.</a:t>
            </a:r>
            <a:endParaRPr sz="1300">
              <a:solidFill>
                <a:schemeClr val="lt1"/>
              </a:solidFill>
              <a:latin typeface="Montserrat"/>
              <a:ea typeface="Montserrat"/>
              <a:cs typeface="Montserrat"/>
              <a:sym typeface="Montserrat"/>
            </a:endParaRPr>
          </a:p>
          <a:p>
            <a:pPr indent="-311150" lvl="0" marL="457200" rtl="0" algn="l">
              <a:lnSpc>
                <a:spcPct val="115000"/>
              </a:lnSpc>
              <a:spcBef>
                <a:spcPts val="0"/>
              </a:spcBef>
              <a:spcAft>
                <a:spcPts val="0"/>
              </a:spcAft>
              <a:buClr>
                <a:schemeClr val="lt1"/>
              </a:buClr>
              <a:buSzPts val="1300"/>
              <a:buFont typeface="Montserrat"/>
              <a:buChar char="●"/>
            </a:pPr>
            <a:r>
              <a:rPr lang="en-US" sz="1300">
                <a:solidFill>
                  <a:schemeClr val="lt1"/>
                </a:solidFill>
                <a:latin typeface="Montserrat"/>
                <a:ea typeface="Montserrat"/>
                <a:cs typeface="Montserrat"/>
                <a:sym typeface="Montserrat"/>
              </a:rPr>
              <a:t>Cyclical features represent characteristics that exhibit recurring patterns or oscillations over time. </a:t>
            </a:r>
            <a:endParaRPr sz="1300">
              <a:solidFill>
                <a:schemeClr val="lt1"/>
              </a:solidFill>
              <a:latin typeface="Montserrat"/>
              <a:ea typeface="Montserrat"/>
              <a:cs typeface="Montserrat"/>
              <a:sym typeface="Montserrat"/>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0"/>
          <p:cNvSpPr/>
          <p:nvPr/>
        </p:nvSpPr>
        <p:spPr>
          <a:xfrm>
            <a:off x="-7175" y="5089500"/>
            <a:ext cx="12192000" cy="1768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20"/>
          <p:cNvSpPr txBox="1"/>
          <p:nvPr/>
        </p:nvSpPr>
        <p:spPr>
          <a:xfrm>
            <a:off x="572639" y="313778"/>
            <a:ext cx="67338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400">
                <a:solidFill>
                  <a:schemeClr val="dk2"/>
                </a:solidFill>
                <a:latin typeface="Calibri"/>
                <a:ea typeface="Calibri"/>
                <a:cs typeface="Calibri"/>
                <a:sym typeface="Calibri"/>
              </a:rPr>
              <a:t>Time Series Architecture</a:t>
            </a:r>
            <a:endParaRPr sz="2400">
              <a:solidFill>
                <a:schemeClr val="dk2"/>
              </a:solidFill>
              <a:latin typeface="Calibri"/>
              <a:ea typeface="Calibri"/>
              <a:cs typeface="Calibri"/>
              <a:sym typeface="Calibri"/>
            </a:endParaRPr>
          </a:p>
        </p:txBody>
      </p:sp>
      <p:sp>
        <p:nvSpPr>
          <p:cNvPr id="510" name="Google Shape;510;p20"/>
          <p:cNvSpPr txBox="1"/>
          <p:nvPr/>
        </p:nvSpPr>
        <p:spPr>
          <a:xfrm>
            <a:off x="268950" y="5121675"/>
            <a:ext cx="115095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sz="1000">
              <a:solidFill>
                <a:schemeClr val="lt1"/>
              </a:solidFill>
              <a:latin typeface="Calibri"/>
              <a:ea typeface="Calibri"/>
              <a:cs typeface="Calibri"/>
              <a:sym typeface="Calibri"/>
            </a:endParaRPr>
          </a:p>
        </p:txBody>
      </p:sp>
      <p:sp>
        <p:nvSpPr>
          <p:cNvPr id="511" name="Google Shape;511;p20"/>
          <p:cNvSpPr/>
          <p:nvPr/>
        </p:nvSpPr>
        <p:spPr>
          <a:xfrm>
            <a:off x="247200" y="1409450"/>
            <a:ext cx="11553000" cy="3302400"/>
          </a:xfrm>
          <a:prstGeom prst="roundRect">
            <a:avLst>
              <a:gd fmla="val 18765" name="adj"/>
            </a:avLst>
          </a:prstGeom>
          <a:solidFill>
            <a:schemeClr val="lt1"/>
          </a:solidFill>
          <a:ln cap="flat" cmpd="sng" w="19050">
            <a:solidFill>
              <a:srgbClr val="B9C7FB"/>
            </a:solidFill>
            <a:prstDash val="solid"/>
            <a:miter lim="800000"/>
            <a:headEnd len="sm" w="sm" type="none"/>
            <a:tailEnd len="sm" w="sm" type="none"/>
          </a:ln>
          <a:effectLst>
            <a:outerShdw blurRad="50800" rotWithShape="0" algn="t" dir="5400000" dist="38100">
              <a:srgbClr val="09279B">
                <a:alpha val="298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Montserrat SemiBold"/>
              <a:ea typeface="Montserrat SemiBold"/>
              <a:cs typeface="Montserrat SemiBold"/>
              <a:sym typeface="Montserrat SemiBold"/>
            </a:endParaRPr>
          </a:p>
        </p:txBody>
      </p:sp>
      <p:sp>
        <p:nvSpPr>
          <p:cNvPr id="512" name="Google Shape;512;p20"/>
          <p:cNvSpPr txBox="1"/>
          <p:nvPr/>
        </p:nvSpPr>
        <p:spPr>
          <a:xfrm>
            <a:off x="4058725" y="2477025"/>
            <a:ext cx="3500700" cy="261600"/>
          </a:xfrm>
          <a:prstGeom prst="rect">
            <a:avLst/>
          </a:prstGeom>
          <a:noFill/>
          <a:ln>
            <a:noFill/>
          </a:ln>
        </p:spPr>
        <p:txBody>
          <a:bodyPr anchorCtr="0" anchor="t" bIns="45700" lIns="91425" spcFirstLastPara="1" rIns="91425" wrap="square" tIns="45700">
            <a:spAutoFit/>
          </a:bodyPr>
          <a:lstStyle/>
          <a:p>
            <a:pPr indent="0" lvl="0" marL="0" rtl="0" algn="l">
              <a:lnSpc>
                <a:spcPct val="145000"/>
              </a:lnSpc>
              <a:spcBef>
                <a:spcPts val="0"/>
              </a:spcBef>
              <a:spcAft>
                <a:spcPts val="0"/>
              </a:spcAft>
              <a:buNone/>
            </a:pPr>
            <a:r>
              <a:t/>
            </a:r>
            <a:endParaRPr sz="1100">
              <a:solidFill>
                <a:schemeClr val="dk1"/>
              </a:solidFill>
              <a:highlight>
                <a:srgbClr val="FFFFFF"/>
              </a:highlight>
              <a:latin typeface="Calibri"/>
              <a:ea typeface="Calibri"/>
              <a:cs typeface="Calibri"/>
              <a:sym typeface="Calibri"/>
            </a:endParaRPr>
          </a:p>
        </p:txBody>
      </p:sp>
      <p:sp>
        <p:nvSpPr>
          <p:cNvPr id="513" name="Google Shape;513;p20"/>
          <p:cNvSpPr txBox="1"/>
          <p:nvPr/>
        </p:nvSpPr>
        <p:spPr>
          <a:xfrm>
            <a:off x="7871625" y="2477025"/>
            <a:ext cx="4182900" cy="261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t/>
            </a:r>
            <a:endParaRPr sz="1100">
              <a:solidFill>
                <a:schemeClr val="dk1"/>
              </a:solidFill>
              <a:latin typeface="Calibri"/>
              <a:ea typeface="Calibri"/>
              <a:cs typeface="Calibri"/>
              <a:sym typeface="Calibri"/>
            </a:endParaRPr>
          </a:p>
        </p:txBody>
      </p:sp>
      <p:sp>
        <p:nvSpPr>
          <p:cNvPr id="514" name="Google Shape;514;p20"/>
          <p:cNvSpPr txBox="1"/>
          <p:nvPr/>
        </p:nvSpPr>
        <p:spPr>
          <a:xfrm>
            <a:off x="435300" y="741038"/>
            <a:ext cx="11176800" cy="66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US" sz="1300">
                <a:solidFill>
                  <a:schemeClr val="dk2"/>
                </a:solidFill>
                <a:latin typeface="Montserrat"/>
                <a:ea typeface="Montserrat"/>
                <a:cs typeface="Montserrat"/>
                <a:sym typeface="Montserrat"/>
              </a:rPr>
              <a:t>Model Overview: Implementing LSTM (Long Short-Term Memory) / GRU (Gated Recurrent Unit) layers to capture complex temporal dependencies in time-series data of terrorist activities.</a:t>
            </a:r>
            <a:endParaRPr sz="1300">
              <a:solidFill>
                <a:schemeClr val="dk2"/>
              </a:solidFill>
              <a:latin typeface="Montserrat"/>
              <a:ea typeface="Montserrat"/>
              <a:cs typeface="Montserrat"/>
              <a:sym typeface="Montserrat"/>
            </a:endParaRPr>
          </a:p>
        </p:txBody>
      </p:sp>
      <p:sp>
        <p:nvSpPr>
          <p:cNvPr id="515" name="Google Shape;515;p20"/>
          <p:cNvSpPr txBox="1"/>
          <p:nvPr/>
        </p:nvSpPr>
        <p:spPr>
          <a:xfrm>
            <a:off x="343575" y="2738625"/>
            <a:ext cx="5359500" cy="2013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Roboto"/>
              <a:buChar char="●"/>
            </a:pPr>
            <a:r>
              <a:rPr lang="en-US" sz="1200">
                <a:solidFill>
                  <a:schemeClr val="dk2"/>
                </a:solidFill>
                <a:latin typeface="Montserrat"/>
                <a:ea typeface="Montserrat"/>
                <a:cs typeface="Montserrat"/>
                <a:sym typeface="Montserrat"/>
              </a:rPr>
              <a:t>First LSTM/GRU Layer: 100 units, </a:t>
            </a:r>
            <a:r>
              <a:rPr lang="en-US" sz="1050">
                <a:solidFill>
                  <a:schemeClr val="dk2"/>
                </a:solidFill>
                <a:latin typeface="Montserrat"/>
                <a:ea typeface="Montserrat"/>
                <a:cs typeface="Montserrat"/>
                <a:sym typeface="Montserrat"/>
              </a:rPr>
              <a:t>return_sequences=True</a:t>
            </a:r>
            <a:r>
              <a:rPr lang="en-US" sz="1200">
                <a:solidFill>
                  <a:schemeClr val="dk2"/>
                </a:solidFill>
                <a:latin typeface="Montserrat"/>
                <a:ea typeface="Montserrat"/>
                <a:cs typeface="Montserrat"/>
                <a:sym typeface="Montserrat"/>
              </a:rPr>
              <a:t> to pass sequences to the next layer.</a:t>
            </a:r>
            <a:endParaRPr sz="1200">
              <a:solidFill>
                <a:schemeClr val="dk2"/>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dk2"/>
              </a:buClr>
              <a:buSzPts val="1200"/>
              <a:buFont typeface="Montserrat"/>
              <a:buChar char="●"/>
            </a:pPr>
            <a:r>
              <a:rPr lang="en-US" sz="1200">
                <a:solidFill>
                  <a:schemeClr val="dk2"/>
                </a:solidFill>
                <a:latin typeface="Montserrat"/>
                <a:ea typeface="Montserrat"/>
                <a:cs typeface="Montserrat"/>
                <a:sym typeface="Montserrat"/>
              </a:rPr>
              <a:t>Second LSTM/GRU Layer: 100 units, also returning sequences for deep temporal feature extraction.</a:t>
            </a:r>
            <a:endParaRPr sz="1200">
              <a:solidFill>
                <a:schemeClr val="dk2"/>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dk2"/>
              </a:buClr>
              <a:buSzPts val="1200"/>
              <a:buFont typeface="Montserrat"/>
              <a:buChar char="●"/>
            </a:pPr>
            <a:r>
              <a:rPr lang="en-US" sz="1200">
                <a:solidFill>
                  <a:schemeClr val="dk2"/>
                </a:solidFill>
                <a:latin typeface="Montserrat"/>
                <a:ea typeface="Montserrat"/>
                <a:cs typeface="Montserrat"/>
                <a:sym typeface="Montserrat"/>
              </a:rPr>
              <a:t>Final LSTM/GRU Layer: 100 units, returning the last output to predict the next time step.</a:t>
            </a:r>
            <a:endParaRPr sz="2800">
              <a:solidFill>
                <a:schemeClr val="dk1"/>
              </a:solidFill>
              <a:latin typeface="Calibri"/>
              <a:ea typeface="Calibri"/>
              <a:cs typeface="Calibri"/>
              <a:sym typeface="Calibri"/>
            </a:endParaRPr>
          </a:p>
        </p:txBody>
      </p:sp>
      <p:sp>
        <p:nvSpPr>
          <p:cNvPr id="516" name="Google Shape;516;p20"/>
          <p:cNvSpPr txBox="1"/>
          <p:nvPr/>
        </p:nvSpPr>
        <p:spPr>
          <a:xfrm>
            <a:off x="741925" y="2189125"/>
            <a:ext cx="4683600" cy="3078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1200"/>
              </a:spcBef>
              <a:spcAft>
                <a:spcPts val="1200"/>
              </a:spcAft>
              <a:buNone/>
            </a:pPr>
            <a:r>
              <a:rPr b="1" lang="en-US">
                <a:solidFill>
                  <a:schemeClr val="dk2"/>
                </a:solidFill>
                <a:latin typeface="Montserrat"/>
                <a:ea typeface="Montserrat"/>
                <a:cs typeface="Montserrat"/>
                <a:sym typeface="Montserrat"/>
              </a:rPr>
              <a:t>LSTM / GRU Layers:</a:t>
            </a:r>
            <a:endParaRPr b="1">
              <a:solidFill>
                <a:schemeClr val="dk2"/>
              </a:solidFill>
              <a:latin typeface="Montserrat"/>
              <a:ea typeface="Montserrat"/>
              <a:cs typeface="Montserrat"/>
              <a:sym typeface="Montserrat"/>
            </a:endParaRPr>
          </a:p>
        </p:txBody>
      </p:sp>
      <p:sp>
        <p:nvSpPr>
          <p:cNvPr id="517" name="Google Shape;517;p20"/>
          <p:cNvSpPr txBox="1"/>
          <p:nvPr/>
        </p:nvSpPr>
        <p:spPr>
          <a:xfrm>
            <a:off x="6766075" y="2189125"/>
            <a:ext cx="4683600" cy="3078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1500"/>
              </a:spcBef>
              <a:spcAft>
                <a:spcPts val="1500"/>
              </a:spcAft>
              <a:buNone/>
            </a:pPr>
            <a:r>
              <a:rPr b="1" lang="en-US">
                <a:solidFill>
                  <a:schemeClr val="dk2"/>
                </a:solidFill>
                <a:latin typeface="Montserrat"/>
                <a:ea typeface="Montserrat"/>
                <a:cs typeface="Montserrat"/>
                <a:sym typeface="Montserrat"/>
              </a:rPr>
              <a:t>Training Configuration</a:t>
            </a:r>
            <a:endParaRPr b="1">
              <a:solidFill>
                <a:schemeClr val="dk2"/>
              </a:solidFill>
              <a:latin typeface="Montserrat"/>
              <a:ea typeface="Montserrat"/>
              <a:cs typeface="Montserrat"/>
              <a:sym typeface="Montserrat"/>
            </a:endParaRPr>
          </a:p>
        </p:txBody>
      </p:sp>
      <p:sp>
        <p:nvSpPr>
          <p:cNvPr id="518" name="Google Shape;518;p20"/>
          <p:cNvSpPr txBox="1"/>
          <p:nvPr/>
        </p:nvSpPr>
        <p:spPr>
          <a:xfrm>
            <a:off x="6174775" y="2652763"/>
            <a:ext cx="5359500" cy="2013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Montserrat"/>
              <a:buChar char="●"/>
            </a:pPr>
            <a:r>
              <a:rPr lang="en-US" sz="1200">
                <a:solidFill>
                  <a:schemeClr val="dk2"/>
                </a:solidFill>
                <a:latin typeface="Montserrat"/>
                <a:ea typeface="Montserrat"/>
                <a:cs typeface="Montserrat"/>
                <a:sym typeface="Montserrat"/>
              </a:rPr>
              <a:t>Loss Function: Mean Squared Error (MSE) for regression or Categorical Crossentropy for classification.</a:t>
            </a:r>
            <a:endParaRPr sz="1200">
              <a:solidFill>
                <a:schemeClr val="dk2"/>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dk2"/>
              </a:buClr>
              <a:buSzPts val="1200"/>
              <a:buFont typeface="Montserrat"/>
              <a:buChar char="●"/>
            </a:pPr>
            <a:r>
              <a:rPr lang="en-US" sz="1200">
                <a:solidFill>
                  <a:schemeClr val="dk2"/>
                </a:solidFill>
                <a:latin typeface="Montserrat"/>
                <a:ea typeface="Montserrat"/>
                <a:cs typeface="Montserrat"/>
                <a:sym typeface="Montserrat"/>
              </a:rPr>
              <a:t>Optimizer: Adam with a learning rate of 0.001, balancing the speed and stability of convergence.</a:t>
            </a:r>
            <a:endParaRPr sz="1200">
              <a:solidFill>
                <a:schemeClr val="dk2"/>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dk2"/>
              </a:buClr>
              <a:buSzPts val="1200"/>
              <a:buFont typeface="Montserrat"/>
              <a:buChar char="●"/>
            </a:pPr>
            <a:r>
              <a:rPr lang="en-US" sz="1200">
                <a:solidFill>
                  <a:schemeClr val="dk2"/>
                </a:solidFill>
                <a:latin typeface="Montserrat"/>
                <a:ea typeface="Montserrat"/>
                <a:cs typeface="Montserrat"/>
                <a:sym typeface="Montserrat"/>
              </a:rPr>
              <a:t>Callbacks: </a:t>
            </a:r>
            <a:r>
              <a:rPr lang="en-US" sz="1200">
                <a:solidFill>
                  <a:schemeClr val="dk2"/>
                </a:solidFill>
                <a:latin typeface="Montserrat"/>
                <a:ea typeface="Montserrat"/>
                <a:cs typeface="Montserrat"/>
                <a:sym typeface="Montserrat"/>
              </a:rPr>
              <a:t>Early Stopping</a:t>
            </a:r>
            <a:r>
              <a:rPr lang="en-US" sz="1200">
                <a:solidFill>
                  <a:schemeClr val="dk2"/>
                </a:solidFill>
                <a:latin typeface="Montserrat"/>
                <a:ea typeface="Montserrat"/>
                <a:cs typeface="Montserrat"/>
                <a:sym typeface="Montserrat"/>
              </a:rPr>
              <a:t> to halt training when validation loss stops improving, and ReduceLROnPlateau to reduce the learning rate when a plateau in the loss function is reached.</a:t>
            </a:r>
            <a:endParaRPr sz="1200">
              <a:solidFill>
                <a:schemeClr val="dk2"/>
              </a:solidFill>
              <a:latin typeface="Montserrat"/>
              <a:ea typeface="Montserrat"/>
              <a:cs typeface="Montserrat"/>
              <a:sym typeface="Montserrat"/>
            </a:endParaRPr>
          </a:p>
        </p:txBody>
      </p:sp>
      <p:cxnSp>
        <p:nvCxnSpPr>
          <p:cNvPr id="519" name="Google Shape;519;p20"/>
          <p:cNvCxnSpPr/>
          <p:nvPr/>
        </p:nvCxnSpPr>
        <p:spPr>
          <a:xfrm flipH="1">
            <a:off x="6174771" y="2091130"/>
            <a:ext cx="24000" cy="2895900"/>
          </a:xfrm>
          <a:prstGeom prst="straightConnector1">
            <a:avLst/>
          </a:prstGeom>
          <a:noFill/>
          <a:ln cap="flat" cmpd="sng" w="9525">
            <a:solidFill>
              <a:schemeClr val="accent1"/>
            </a:solidFill>
            <a:prstDash val="solid"/>
            <a:miter lim="800000"/>
            <a:headEnd len="sm" w="sm" type="none"/>
            <a:tailEnd len="sm" w="sm" type="none"/>
          </a:ln>
        </p:spPr>
      </p:cxnSp>
      <p:sp>
        <p:nvSpPr>
          <p:cNvPr id="520" name="Google Shape;520;p20"/>
          <p:cNvSpPr txBox="1"/>
          <p:nvPr/>
        </p:nvSpPr>
        <p:spPr>
          <a:xfrm>
            <a:off x="229075" y="5367975"/>
            <a:ext cx="11719500" cy="1290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lt1"/>
              </a:buClr>
              <a:buSzPts val="1400"/>
              <a:buFont typeface="Montserrat"/>
              <a:buChar char="●"/>
            </a:pPr>
            <a:r>
              <a:rPr lang="en-US">
                <a:solidFill>
                  <a:schemeClr val="lt1"/>
                </a:solidFill>
                <a:latin typeface="Montserrat"/>
                <a:ea typeface="Montserrat"/>
                <a:cs typeface="Montserrat"/>
                <a:sym typeface="Montserrat"/>
              </a:rPr>
              <a:t>Each input sequence contains features such as attack frequency, type, location coordinates, and casualties.</a:t>
            </a:r>
            <a:endParaRPr>
              <a:solidFill>
                <a:schemeClr val="lt1"/>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lt1"/>
              </a:buClr>
              <a:buSzPts val="1400"/>
              <a:buFont typeface="Montserrat"/>
              <a:buChar char="●"/>
            </a:pPr>
            <a:r>
              <a:rPr lang="en-US">
                <a:solidFill>
                  <a:schemeClr val="lt1"/>
                </a:solidFill>
                <a:latin typeface="Montserrat"/>
                <a:ea typeface="Montserrat"/>
                <a:cs typeface="Montserrat"/>
                <a:sym typeface="Montserrat"/>
              </a:rPr>
              <a:t>A dropout rate of 0.3 after each LSTM/GRU layer to prevent overfitting by reducing the model's complexity.</a:t>
            </a:r>
            <a:endParaRPr>
              <a:solidFill>
                <a:schemeClr val="lt1"/>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lt1"/>
              </a:buClr>
              <a:buSzPts val="1400"/>
              <a:buFont typeface="Montserrat"/>
              <a:buChar char="●"/>
            </a:pPr>
            <a:r>
              <a:rPr lang="en-US">
                <a:solidFill>
                  <a:schemeClr val="lt1"/>
                </a:solidFill>
                <a:latin typeface="Montserrat"/>
                <a:ea typeface="Montserrat"/>
                <a:cs typeface="Montserrat"/>
                <a:sym typeface="Montserrat"/>
              </a:rPr>
              <a:t>Dense layer with a single neuron for regression tasks (e.g., predicting the count of attacks) </a:t>
            </a:r>
            <a:endParaRPr>
              <a:solidFill>
                <a:schemeClr val="lt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1"/>
          <p:cNvSpPr/>
          <p:nvPr/>
        </p:nvSpPr>
        <p:spPr>
          <a:xfrm>
            <a:off x="0" y="5804400"/>
            <a:ext cx="12192000" cy="1053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p21"/>
          <p:cNvSpPr txBox="1"/>
          <p:nvPr/>
        </p:nvSpPr>
        <p:spPr>
          <a:xfrm>
            <a:off x="555624" y="254225"/>
            <a:ext cx="5949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Model </a:t>
            </a:r>
            <a:r>
              <a:rPr lang="en-US" sz="3600">
                <a:solidFill>
                  <a:schemeClr val="dk2"/>
                </a:solidFill>
                <a:latin typeface="Montserrat SemiBold"/>
                <a:ea typeface="Montserrat SemiBold"/>
                <a:cs typeface="Montserrat SemiBold"/>
                <a:sym typeface="Montserrat SemiBold"/>
              </a:rPr>
              <a:t>Performance</a:t>
            </a:r>
            <a:endParaRPr sz="3600">
              <a:solidFill>
                <a:schemeClr val="dk2"/>
              </a:solidFill>
              <a:latin typeface="Montserrat SemiBold"/>
              <a:ea typeface="Montserrat SemiBold"/>
              <a:cs typeface="Montserrat SemiBold"/>
              <a:sym typeface="Montserrat SemiBold"/>
            </a:endParaRPr>
          </a:p>
        </p:txBody>
      </p:sp>
      <p:pic>
        <p:nvPicPr>
          <p:cNvPr id="528" name="Google Shape;528;p21"/>
          <p:cNvPicPr preferRelativeResize="0"/>
          <p:nvPr/>
        </p:nvPicPr>
        <p:blipFill>
          <a:blip r:embed="rId3">
            <a:alphaModFix/>
          </a:blip>
          <a:stretch>
            <a:fillRect/>
          </a:stretch>
        </p:blipFill>
        <p:spPr>
          <a:xfrm>
            <a:off x="6149325" y="1562075"/>
            <a:ext cx="5620925" cy="3762724"/>
          </a:xfrm>
          <a:prstGeom prst="rect">
            <a:avLst/>
          </a:prstGeom>
          <a:noFill/>
          <a:ln>
            <a:noFill/>
          </a:ln>
        </p:spPr>
      </p:pic>
      <p:sp>
        <p:nvSpPr>
          <p:cNvPr id="529" name="Google Shape;529;p21"/>
          <p:cNvSpPr txBox="1"/>
          <p:nvPr/>
        </p:nvSpPr>
        <p:spPr>
          <a:xfrm>
            <a:off x="421750" y="910775"/>
            <a:ext cx="4943400" cy="49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2"/>
                </a:solidFill>
                <a:latin typeface="Calibri"/>
                <a:ea typeface="Calibri"/>
                <a:cs typeface="Calibri"/>
                <a:sym typeface="Calibri"/>
              </a:rPr>
              <a:t>Weekly Sequence</a:t>
            </a:r>
            <a:endParaRPr sz="2800">
              <a:solidFill>
                <a:schemeClr val="dk2"/>
              </a:solidFill>
              <a:latin typeface="Calibri"/>
              <a:ea typeface="Calibri"/>
              <a:cs typeface="Calibri"/>
              <a:sym typeface="Calibri"/>
            </a:endParaRPr>
          </a:p>
        </p:txBody>
      </p:sp>
      <p:sp>
        <p:nvSpPr>
          <p:cNvPr id="530" name="Google Shape;530;p21"/>
          <p:cNvSpPr txBox="1"/>
          <p:nvPr/>
        </p:nvSpPr>
        <p:spPr>
          <a:xfrm>
            <a:off x="6671150" y="900725"/>
            <a:ext cx="4943400" cy="49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2"/>
                </a:solidFill>
                <a:latin typeface="Calibri"/>
                <a:ea typeface="Calibri"/>
                <a:cs typeface="Calibri"/>
                <a:sym typeface="Calibri"/>
              </a:rPr>
              <a:t>Monthly Sequence</a:t>
            </a:r>
            <a:endParaRPr sz="2800">
              <a:solidFill>
                <a:schemeClr val="dk2"/>
              </a:solidFill>
              <a:latin typeface="Calibri"/>
              <a:ea typeface="Calibri"/>
              <a:cs typeface="Calibri"/>
              <a:sym typeface="Calibri"/>
            </a:endParaRPr>
          </a:p>
        </p:txBody>
      </p:sp>
      <p:pic>
        <p:nvPicPr>
          <p:cNvPr id="531" name="Google Shape;531;p21"/>
          <p:cNvPicPr preferRelativeResize="0"/>
          <p:nvPr/>
        </p:nvPicPr>
        <p:blipFill>
          <a:blip r:embed="rId4">
            <a:alphaModFix/>
          </a:blip>
          <a:stretch>
            <a:fillRect/>
          </a:stretch>
        </p:blipFill>
        <p:spPr>
          <a:xfrm>
            <a:off x="473825" y="1562075"/>
            <a:ext cx="5056226" cy="3837100"/>
          </a:xfrm>
          <a:prstGeom prst="rect">
            <a:avLst/>
          </a:prstGeom>
          <a:noFill/>
          <a:ln>
            <a:noFill/>
          </a:ln>
        </p:spPr>
      </p:pic>
      <p:sp>
        <p:nvSpPr>
          <p:cNvPr id="532" name="Google Shape;532;p21"/>
          <p:cNvSpPr txBox="1"/>
          <p:nvPr/>
        </p:nvSpPr>
        <p:spPr>
          <a:xfrm>
            <a:off x="108525" y="5868625"/>
            <a:ext cx="11176800" cy="989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1250">
                <a:solidFill>
                  <a:schemeClr val="lt1"/>
                </a:solidFill>
                <a:latin typeface="Montserrat"/>
                <a:ea typeface="Montserrat"/>
                <a:cs typeface="Montserrat"/>
                <a:sym typeface="Montserrat"/>
              </a:rPr>
              <a:t>MAE Weeks: 121.34397</a:t>
            </a:r>
            <a:endParaRPr sz="1250">
              <a:solidFill>
                <a:schemeClr val="lt1"/>
              </a:solidFill>
              <a:latin typeface="Montserrat"/>
              <a:ea typeface="Montserrat"/>
              <a:cs typeface="Montserrat"/>
              <a:sym typeface="Montserrat"/>
            </a:endParaRPr>
          </a:p>
          <a:p>
            <a:pPr indent="0" lvl="0" marL="0" rtl="0" algn="ctr">
              <a:lnSpc>
                <a:spcPct val="115000"/>
              </a:lnSpc>
              <a:spcBef>
                <a:spcPts val="0"/>
              </a:spcBef>
              <a:spcAft>
                <a:spcPts val="0"/>
              </a:spcAft>
              <a:buClr>
                <a:schemeClr val="dk1"/>
              </a:buClr>
              <a:buSzPts val="1100"/>
              <a:buFont typeface="Arial"/>
              <a:buNone/>
            </a:pPr>
            <a:r>
              <a:rPr lang="en-US" sz="1250">
                <a:solidFill>
                  <a:schemeClr val="lt1"/>
                </a:solidFill>
                <a:latin typeface="Montserrat"/>
                <a:ea typeface="Montserrat"/>
                <a:cs typeface="Montserrat"/>
                <a:sym typeface="Montserrat"/>
              </a:rPr>
              <a:t>Test Loss Weeks:14724.5019</a:t>
            </a:r>
            <a:endParaRPr sz="1250">
              <a:solidFill>
                <a:schemeClr val="lt1"/>
              </a:solidFill>
              <a:latin typeface="Montserrat"/>
              <a:ea typeface="Montserrat"/>
              <a:cs typeface="Montserrat"/>
              <a:sym typeface="Montserrat"/>
            </a:endParaRPr>
          </a:p>
          <a:p>
            <a:pPr indent="0" lvl="0" marL="0" rtl="0" algn="ctr">
              <a:lnSpc>
                <a:spcPct val="115000"/>
              </a:lnSpc>
              <a:spcBef>
                <a:spcPts val="0"/>
              </a:spcBef>
              <a:spcAft>
                <a:spcPts val="0"/>
              </a:spcAft>
              <a:buClr>
                <a:schemeClr val="dk1"/>
              </a:buClr>
              <a:buSzPts val="1100"/>
              <a:buFont typeface="Arial"/>
              <a:buNone/>
            </a:pPr>
            <a:r>
              <a:rPr lang="en-US" sz="1250">
                <a:solidFill>
                  <a:schemeClr val="lt1"/>
                </a:solidFill>
                <a:latin typeface="Montserrat"/>
                <a:ea typeface="Montserrat"/>
                <a:cs typeface="Montserrat"/>
                <a:sym typeface="Montserrat"/>
              </a:rPr>
              <a:t>MAE Months: 63.2876</a:t>
            </a:r>
            <a:endParaRPr sz="1250">
              <a:solidFill>
                <a:schemeClr val="lt1"/>
              </a:solidFill>
              <a:latin typeface="Montserrat"/>
              <a:ea typeface="Montserrat"/>
              <a:cs typeface="Montserrat"/>
              <a:sym typeface="Montserrat"/>
            </a:endParaRPr>
          </a:p>
          <a:p>
            <a:pPr indent="0" lvl="0" marL="0" rtl="0" algn="ctr">
              <a:lnSpc>
                <a:spcPct val="115000"/>
              </a:lnSpc>
              <a:spcBef>
                <a:spcPts val="0"/>
              </a:spcBef>
              <a:spcAft>
                <a:spcPts val="0"/>
              </a:spcAft>
              <a:buClr>
                <a:schemeClr val="dk1"/>
              </a:buClr>
              <a:buSzPts val="1100"/>
              <a:buFont typeface="Arial"/>
              <a:buNone/>
            </a:pPr>
            <a:r>
              <a:rPr lang="en-US" sz="1250">
                <a:solidFill>
                  <a:schemeClr val="lt1"/>
                </a:solidFill>
                <a:latin typeface="Montserrat"/>
                <a:ea typeface="Montserrat"/>
                <a:cs typeface="Montserrat"/>
                <a:sym typeface="Montserrat"/>
              </a:rPr>
              <a:t>Test Loss Months:4005.47924</a:t>
            </a:r>
            <a:endParaRPr sz="125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pic>
        <p:nvPicPr>
          <p:cNvPr id="538" name="Google Shape;538;p22"/>
          <p:cNvPicPr preferRelativeResize="0"/>
          <p:nvPr/>
        </p:nvPicPr>
        <p:blipFill>
          <a:blip r:embed="rId3">
            <a:alphaModFix/>
          </a:blip>
          <a:stretch>
            <a:fillRect/>
          </a:stretch>
        </p:blipFill>
        <p:spPr>
          <a:xfrm>
            <a:off x="602825" y="970950"/>
            <a:ext cx="10875374" cy="57435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p23"/>
          <p:cNvPicPr preferRelativeResize="0"/>
          <p:nvPr/>
        </p:nvPicPr>
        <p:blipFill>
          <a:blip r:embed="rId3">
            <a:alphaModFix/>
          </a:blip>
          <a:stretch>
            <a:fillRect/>
          </a:stretch>
        </p:blipFill>
        <p:spPr>
          <a:xfrm>
            <a:off x="277325" y="857075"/>
            <a:ext cx="11504750" cy="60009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24"/>
          <p:cNvSpPr txBox="1"/>
          <p:nvPr/>
        </p:nvSpPr>
        <p:spPr>
          <a:xfrm>
            <a:off x="608831" y="597875"/>
            <a:ext cx="10314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2"/>
                </a:solidFill>
                <a:latin typeface="Montserrat SemiBold"/>
                <a:ea typeface="Montserrat SemiBold"/>
                <a:cs typeface="Montserrat SemiBold"/>
                <a:sym typeface="Montserrat SemiBold"/>
              </a:rPr>
              <a:t>GCN</a:t>
            </a:r>
            <a:r>
              <a:rPr lang="en-US" sz="3600">
                <a:solidFill>
                  <a:schemeClr val="dk2"/>
                </a:solidFill>
                <a:latin typeface="Montserrat SemiBold"/>
                <a:ea typeface="Montserrat SemiBold"/>
                <a:cs typeface="Montserrat SemiBold"/>
                <a:sym typeface="Montserrat SemiBold"/>
              </a:rPr>
              <a:t> Model</a:t>
            </a:r>
            <a:endParaRPr sz="3600">
              <a:solidFill>
                <a:schemeClr val="dk2"/>
              </a:solidFill>
              <a:latin typeface="Montserrat SemiBold"/>
              <a:ea typeface="Montserrat SemiBold"/>
              <a:cs typeface="Montserrat SemiBold"/>
              <a:sym typeface="Montserrat SemiBold"/>
            </a:endParaRPr>
          </a:p>
        </p:txBody>
      </p:sp>
      <p:sp>
        <p:nvSpPr>
          <p:cNvPr id="551" name="Google Shape;551;p24"/>
          <p:cNvSpPr txBox="1"/>
          <p:nvPr/>
        </p:nvSpPr>
        <p:spPr>
          <a:xfrm>
            <a:off x="345300" y="1588225"/>
            <a:ext cx="11501400" cy="4375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t/>
            </a:r>
            <a:endParaRPr b="1" sz="1100">
              <a:solidFill>
                <a:schemeClr val="dk2"/>
              </a:solidFill>
            </a:endParaRPr>
          </a:p>
          <a:p>
            <a:pPr indent="-336550" lvl="0" marL="457200" rtl="0" algn="l">
              <a:lnSpc>
                <a:spcPct val="115000"/>
              </a:lnSpc>
              <a:spcBef>
                <a:spcPts val="1200"/>
              </a:spcBef>
              <a:spcAft>
                <a:spcPts val="0"/>
              </a:spcAft>
              <a:buClr>
                <a:schemeClr val="dk2"/>
              </a:buClr>
              <a:buSzPts val="1700"/>
              <a:buFont typeface="Roboto"/>
              <a:buChar char="●"/>
            </a:pPr>
            <a:r>
              <a:rPr b="1" lang="en-US" sz="1700">
                <a:solidFill>
                  <a:schemeClr val="dk2"/>
                </a:solidFill>
                <a:latin typeface="Roboto"/>
                <a:ea typeface="Roboto"/>
                <a:cs typeface="Roboto"/>
                <a:sym typeface="Roboto"/>
              </a:rPr>
              <a:t>GNNs in Counterterrorism:</a:t>
            </a:r>
            <a:endParaRPr b="1" sz="1700">
              <a:solidFill>
                <a:schemeClr val="dk2"/>
              </a:solidFill>
              <a:latin typeface="Roboto"/>
              <a:ea typeface="Roboto"/>
              <a:cs typeface="Roboto"/>
              <a:sym typeface="Roboto"/>
            </a:endParaRPr>
          </a:p>
          <a:p>
            <a:pPr indent="-336550" lvl="1" marL="914400" rtl="0" algn="l">
              <a:lnSpc>
                <a:spcPct val="115000"/>
              </a:lnSpc>
              <a:spcBef>
                <a:spcPts val="0"/>
              </a:spcBef>
              <a:spcAft>
                <a:spcPts val="0"/>
              </a:spcAft>
              <a:buClr>
                <a:schemeClr val="dk2"/>
              </a:buClr>
              <a:buSzPts val="1700"/>
              <a:buFont typeface="Roboto"/>
              <a:buAutoNum type="alphaLcPeriod"/>
            </a:pPr>
            <a:r>
              <a:rPr lang="en-US" sz="1700">
                <a:solidFill>
                  <a:schemeClr val="dk2"/>
                </a:solidFill>
                <a:latin typeface="Roboto"/>
                <a:ea typeface="Roboto"/>
                <a:cs typeface="Roboto"/>
                <a:sym typeface="Roboto"/>
              </a:rPr>
              <a:t>Graph Neural Networks (GNNs) offer advanced tools to understand the web of connections within terrorism-related activities.</a:t>
            </a:r>
            <a:endParaRPr sz="1700">
              <a:solidFill>
                <a:schemeClr val="dk2"/>
              </a:solidFill>
              <a:latin typeface="Roboto"/>
              <a:ea typeface="Roboto"/>
              <a:cs typeface="Roboto"/>
              <a:sym typeface="Roboto"/>
            </a:endParaRPr>
          </a:p>
          <a:p>
            <a:pPr indent="-336550" lvl="1" marL="914400" rtl="0" algn="l">
              <a:lnSpc>
                <a:spcPct val="115000"/>
              </a:lnSpc>
              <a:spcBef>
                <a:spcPts val="0"/>
              </a:spcBef>
              <a:spcAft>
                <a:spcPts val="0"/>
              </a:spcAft>
              <a:buClr>
                <a:schemeClr val="dk2"/>
              </a:buClr>
              <a:buSzPts val="1700"/>
              <a:buFont typeface="Roboto"/>
              <a:buAutoNum type="alphaLcPeriod"/>
            </a:pPr>
            <a:r>
              <a:rPr lang="en-US" sz="1700">
                <a:solidFill>
                  <a:schemeClr val="dk2"/>
                </a:solidFill>
                <a:latin typeface="Roboto"/>
                <a:ea typeface="Roboto"/>
                <a:cs typeface="Roboto"/>
                <a:sym typeface="Roboto"/>
              </a:rPr>
              <a:t>By creating nodes and edges representing various entities and their relationships, GNNs help in uncovering underlying patterns and structures.</a:t>
            </a:r>
            <a:endParaRPr sz="1700">
              <a:solidFill>
                <a:schemeClr val="dk2"/>
              </a:solidFill>
              <a:latin typeface="Roboto"/>
              <a:ea typeface="Roboto"/>
              <a:cs typeface="Roboto"/>
              <a:sym typeface="Roboto"/>
            </a:endParaRPr>
          </a:p>
          <a:p>
            <a:pPr indent="-336550" lvl="0" marL="457200" rtl="0" algn="l">
              <a:lnSpc>
                <a:spcPct val="115000"/>
              </a:lnSpc>
              <a:spcBef>
                <a:spcPts val="0"/>
              </a:spcBef>
              <a:spcAft>
                <a:spcPts val="0"/>
              </a:spcAft>
              <a:buClr>
                <a:schemeClr val="dk2"/>
              </a:buClr>
              <a:buSzPts val="1700"/>
              <a:buFont typeface="Roboto"/>
              <a:buChar char="●"/>
            </a:pPr>
            <a:r>
              <a:rPr b="1" lang="en-US" sz="1700">
                <a:solidFill>
                  <a:schemeClr val="dk2"/>
                </a:solidFill>
                <a:latin typeface="Roboto"/>
                <a:ea typeface="Roboto"/>
                <a:cs typeface="Roboto"/>
                <a:sym typeface="Roboto"/>
              </a:rPr>
              <a:t>Advantages of GNNs:</a:t>
            </a:r>
            <a:endParaRPr b="1" sz="1700">
              <a:solidFill>
                <a:schemeClr val="dk2"/>
              </a:solidFill>
              <a:latin typeface="Roboto"/>
              <a:ea typeface="Roboto"/>
              <a:cs typeface="Roboto"/>
              <a:sym typeface="Roboto"/>
            </a:endParaRPr>
          </a:p>
          <a:p>
            <a:pPr indent="-336550" lvl="1" marL="914400" rtl="0" algn="l">
              <a:lnSpc>
                <a:spcPct val="115000"/>
              </a:lnSpc>
              <a:spcBef>
                <a:spcPts val="0"/>
              </a:spcBef>
              <a:spcAft>
                <a:spcPts val="0"/>
              </a:spcAft>
              <a:buClr>
                <a:schemeClr val="dk2"/>
              </a:buClr>
              <a:buSzPts val="1700"/>
              <a:buFont typeface="Roboto"/>
              <a:buAutoNum type="alphaLcPeriod"/>
            </a:pPr>
            <a:r>
              <a:rPr lang="en-US" sz="1700">
                <a:solidFill>
                  <a:schemeClr val="dk2"/>
                </a:solidFill>
                <a:latin typeface="Roboto"/>
                <a:ea typeface="Roboto"/>
                <a:cs typeface="Roboto"/>
                <a:sym typeface="Roboto"/>
              </a:rPr>
              <a:t>Able to capture the relational information between different entities.</a:t>
            </a:r>
            <a:endParaRPr sz="1700">
              <a:solidFill>
                <a:schemeClr val="dk2"/>
              </a:solidFill>
              <a:latin typeface="Roboto"/>
              <a:ea typeface="Roboto"/>
              <a:cs typeface="Roboto"/>
              <a:sym typeface="Roboto"/>
            </a:endParaRPr>
          </a:p>
          <a:p>
            <a:pPr indent="-336550" lvl="1" marL="914400" rtl="0" algn="l">
              <a:lnSpc>
                <a:spcPct val="115000"/>
              </a:lnSpc>
              <a:spcBef>
                <a:spcPts val="0"/>
              </a:spcBef>
              <a:spcAft>
                <a:spcPts val="0"/>
              </a:spcAft>
              <a:buClr>
                <a:schemeClr val="dk2"/>
              </a:buClr>
              <a:buSzPts val="1700"/>
              <a:buFont typeface="Roboto"/>
              <a:buAutoNum type="alphaLcPeriod"/>
            </a:pPr>
            <a:r>
              <a:rPr lang="en-US" sz="1700">
                <a:solidFill>
                  <a:schemeClr val="dk2"/>
                </a:solidFill>
                <a:latin typeface="Roboto"/>
                <a:ea typeface="Roboto"/>
                <a:cs typeface="Roboto"/>
                <a:sym typeface="Roboto"/>
              </a:rPr>
              <a:t>Identify not just visible patterns but also infer hidden structures in the network.</a:t>
            </a:r>
            <a:endParaRPr sz="1700">
              <a:solidFill>
                <a:schemeClr val="dk2"/>
              </a:solidFill>
              <a:latin typeface="Roboto"/>
              <a:ea typeface="Roboto"/>
              <a:cs typeface="Roboto"/>
              <a:sym typeface="Roboto"/>
            </a:endParaRPr>
          </a:p>
          <a:p>
            <a:pPr indent="-336550" lvl="1" marL="914400" rtl="0" algn="l">
              <a:lnSpc>
                <a:spcPct val="115000"/>
              </a:lnSpc>
              <a:spcBef>
                <a:spcPts val="0"/>
              </a:spcBef>
              <a:spcAft>
                <a:spcPts val="0"/>
              </a:spcAft>
              <a:buClr>
                <a:schemeClr val="dk2"/>
              </a:buClr>
              <a:buSzPts val="1700"/>
              <a:buFont typeface="Roboto"/>
              <a:buAutoNum type="alphaLcPeriod"/>
            </a:pPr>
            <a:r>
              <a:rPr lang="en-US" sz="1700">
                <a:solidFill>
                  <a:schemeClr val="dk2"/>
                </a:solidFill>
                <a:latin typeface="Roboto"/>
                <a:ea typeface="Roboto"/>
                <a:cs typeface="Roboto"/>
                <a:sym typeface="Roboto"/>
              </a:rPr>
              <a:t>Provide insights into operational modes and potential hierarchies in terrorist organizations.</a:t>
            </a:r>
            <a:endParaRPr sz="1700">
              <a:solidFill>
                <a:schemeClr val="dk2"/>
              </a:solidFill>
              <a:latin typeface="Roboto"/>
              <a:ea typeface="Roboto"/>
              <a:cs typeface="Roboto"/>
              <a:sym typeface="Roboto"/>
            </a:endParaRPr>
          </a:p>
          <a:p>
            <a:pPr indent="-336550" lvl="0" marL="457200" rtl="0" algn="l">
              <a:lnSpc>
                <a:spcPct val="115000"/>
              </a:lnSpc>
              <a:spcBef>
                <a:spcPts val="0"/>
              </a:spcBef>
              <a:spcAft>
                <a:spcPts val="0"/>
              </a:spcAft>
              <a:buClr>
                <a:schemeClr val="dk2"/>
              </a:buClr>
              <a:buSzPts val="1700"/>
              <a:buFont typeface="Roboto"/>
              <a:buChar char="●"/>
            </a:pPr>
            <a:r>
              <a:rPr b="1" lang="en-US" sz="1700">
                <a:solidFill>
                  <a:schemeClr val="dk2"/>
                </a:solidFill>
                <a:latin typeface="Roboto"/>
                <a:ea typeface="Roboto"/>
                <a:cs typeface="Roboto"/>
                <a:sym typeface="Roboto"/>
              </a:rPr>
              <a:t>Application in this Project:</a:t>
            </a:r>
            <a:endParaRPr b="1" sz="1700">
              <a:solidFill>
                <a:schemeClr val="dk2"/>
              </a:solidFill>
              <a:latin typeface="Roboto"/>
              <a:ea typeface="Roboto"/>
              <a:cs typeface="Roboto"/>
              <a:sym typeface="Roboto"/>
            </a:endParaRPr>
          </a:p>
          <a:p>
            <a:pPr indent="-336550" lvl="1" marL="914400" rtl="0" algn="l">
              <a:lnSpc>
                <a:spcPct val="115000"/>
              </a:lnSpc>
              <a:spcBef>
                <a:spcPts val="0"/>
              </a:spcBef>
              <a:spcAft>
                <a:spcPts val="0"/>
              </a:spcAft>
              <a:buClr>
                <a:schemeClr val="dk2"/>
              </a:buClr>
              <a:buSzPts val="1700"/>
              <a:buFont typeface="Roboto"/>
              <a:buAutoNum type="alphaLcPeriod"/>
            </a:pPr>
            <a:r>
              <a:rPr lang="en-US" sz="1700">
                <a:solidFill>
                  <a:schemeClr val="dk2"/>
                </a:solidFill>
                <a:latin typeface="Roboto"/>
                <a:ea typeface="Roboto"/>
                <a:cs typeface="Roboto"/>
                <a:sym typeface="Roboto"/>
              </a:rPr>
              <a:t>My project leverages GNNs to predict attack patterns and pinpoint key influencers in terrorist networks.</a:t>
            </a:r>
            <a:endParaRPr sz="1700">
              <a:solidFill>
                <a:schemeClr val="dk2"/>
              </a:solidFill>
              <a:latin typeface="Roboto"/>
              <a:ea typeface="Roboto"/>
              <a:cs typeface="Roboto"/>
              <a:sym typeface="Roboto"/>
            </a:endParaRPr>
          </a:p>
          <a:p>
            <a:pPr indent="-336550" lvl="1" marL="914400" rtl="0" algn="l">
              <a:lnSpc>
                <a:spcPct val="115000"/>
              </a:lnSpc>
              <a:spcBef>
                <a:spcPts val="0"/>
              </a:spcBef>
              <a:spcAft>
                <a:spcPts val="0"/>
              </a:spcAft>
              <a:buClr>
                <a:schemeClr val="dk2"/>
              </a:buClr>
              <a:buSzPts val="1700"/>
              <a:buFont typeface="Roboto"/>
              <a:buAutoNum type="alphaLcPeriod"/>
            </a:pPr>
            <a:r>
              <a:rPr lang="en-US" sz="1700">
                <a:solidFill>
                  <a:schemeClr val="dk2"/>
                </a:solidFill>
                <a:latin typeface="Roboto"/>
                <a:ea typeface="Roboto"/>
                <a:cs typeface="Roboto"/>
                <a:sym typeface="Roboto"/>
              </a:rPr>
              <a:t>By analyzing these connections, we aim to provide actionable intelligence for counterterrorism efforts.</a:t>
            </a:r>
            <a:endParaRPr sz="1700">
              <a:solidFill>
                <a:schemeClr val="dk2"/>
              </a:solidFill>
              <a:latin typeface="Roboto"/>
              <a:ea typeface="Roboto"/>
              <a:cs typeface="Roboto"/>
              <a:sym typeface="Roboto"/>
            </a:endParaRPr>
          </a:p>
          <a:p>
            <a:pPr indent="0" lvl="0" marL="457200" rtl="0" algn="l">
              <a:lnSpc>
                <a:spcPct val="115000"/>
              </a:lnSpc>
              <a:spcBef>
                <a:spcPts val="1200"/>
              </a:spcBef>
              <a:spcAft>
                <a:spcPts val="1200"/>
              </a:spcAft>
              <a:buNone/>
            </a:pPr>
            <a:r>
              <a:t/>
            </a:r>
            <a:endParaRPr b="1"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25"/>
          <p:cNvSpPr txBox="1"/>
          <p:nvPr/>
        </p:nvSpPr>
        <p:spPr>
          <a:xfrm>
            <a:off x="608831" y="597875"/>
            <a:ext cx="103149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000">
                <a:solidFill>
                  <a:schemeClr val="dk2"/>
                </a:solidFill>
                <a:latin typeface="Montserrat"/>
                <a:ea typeface="Montserrat"/>
                <a:cs typeface="Montserrat"/>
                <a:sym typeface="Montserrat"/>
              </a:rPr>
              <a:t>Node Representation and Influence in GNN</a:t>
            </a:r>
            <a:endParaRPr b="1" sz="3000">
              <a:solidFill>
                <a:schemeClr val="dk2"/>
              </a:solidFill>
              <a:latin typeface="Montserrat"/>
              <a:ea typeface="Montserrat"/>
              <a:cs typeface="Montserrat"/>
              <a:sym typeface="Montserrat"/>
            </a:endParaRPr>
          </a:p>
        </p:txBody>
      </p:sp>
      <p:sp>
        <p:nvSpPr>
          <p:cNvPr id="558" name="Google Shape;558;p25"/>
          <p:cNvSpPr txBox="1"/>
          <p:nvPr/>
        </p:nvSpPr>
        <p:spPr>
          <a:xfrm>
            <a:off x="345300" y="1588225"/>
            <a:ext cx="11501400" cy="4836900"/>
          </a:xfrm>
          <a:prstGeom prst="rect">
            <a:avLst/>
          </a:prstGeom>
          <a:noFill/>
          <a:ln>
            <a:noFill/>
          </a:ln>
        </p:spPr>
        <p:txBody>
          <a:bodyPr anchorCtr="0" anchor="t" bIns="45700" lIns="91425" spcFirstLastPara="1" rIns="91425" wrap="square" tIns="45700">
            <a:spAutoFit/>
          </a:bodyPr>
          <a:lstStyle/>
          <a:p>
            <a:pPr indent="-323850" lvl="1" marL="914400" rtl="0" algn="l">
              <a:lnSpc>
                <a:spcPct val="115000"/>
              </a:lnSpc>
              <a:spcBef>
                <a:spcPts val="0"/>
              </a:spcBef>
              <a:spcAft>
                <a:spcPts val="0"/>
              </a:spcAft>
              <a:buClr>
                <a:schemeClr val="dk2"/>
              </a:buClr>
              <a:buSzPts val="1500"/>
              <a:buFont typeface="Roboto"/>
              <a:buAutoNum type="alphaLcPeriod"/>
            </a:pPr>
            <a:r>
              <a:rPr b="1" lang="en-US" sz="1500">
                <a:solidFill>
                  <a:schemeClr val="dk2"/>
                </a:solidFill>
                <a:latin typeface="Roboto"/>
                <a:ea typeface="Roboto"/>
                <a:cs typeface="Roboto"/>
                <a:sym typeface="Roboto"/>
              </a:rPr>
              <a:t>Nodes and Edges Overview:</a:t>
            </a:r>
            <a:endParaRPr b="1"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lang="en-US" sz="1500">
                <a:solidFill>
                  <a:schemeClr val="dk2"/>
                </a:solidFill>
                <a:latin typeface="Roboto"/>
                <a:ea typeface="Roboto"/>
                <a:cs typeface="Roboto"/>
                <a:sym typeface="Roboto"/>
              </a:rPr>
              <a:t>Nodes represent distinct entities such as specific dates of attack, locations, and types of attacks.</a:t>
            </a:r>
            <a:endParaRPr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lang="en-US" sz="1500">
                <a:solidFill>
                  <a:schemeClr val="dk2"/>
                </a:solidFill>
                <a:latin typeface="Roboto"/>
                <a:ea typeface="Roboto"/>
                <a:cs typeface="Roboto"/>
                <a:sym typeface="Roboto"/>
              </a:rPr>
              <a:t>Edges create connections between these entities, like linking dates to locations and locations to attack types, establishing a comprehensive network of interrelated data.</a:t>
            </a:r>
            <a:endParaRPr sz="1500">
              <a:solidFill>
                <a:schemeClr val="dk2"/>
              </a:solidFill>
              <a:latin typeface="Roboto"/>
              <a:ea typeface="Roboto"/>
              <a:cs typeface="Roboto"/>
              <a:sym typeface="Roboto"/>
            </a:endParaRPr>
          </a:p>
          <a:p>
            <a:pPr indent="-323850" lvl="1" marL="914400" rtl="0" algn="l">
              <a:lnSpc>
                <a:spcPct val="115000"/>
              </a:lnSpc>
              <a:spcBef>
                <a:spcPts val="0"/>
              </a:spcBef>
              <a:spcAft>
                <a:spcPts val="0"/>
              </a:spcAft>
              <a:buClr>
                <a:schemeClr val="dk2"/>
              </a:buClr>
              <a:buSzPts val="1500"/>
              <a:buFont typeface="Roboto"/>
              <a:buAutoNum type="alphaLcPeriod"/>
            </a:pPr>
            <a:r>
              <a:rPr b="1" lang="en-US" sz="1500">
                <a:solidFill>
                  <a:schemeClr val="dk2"/>
                </a:solidFill>
                <a:latin typeface="Roboto"/>
                <a:ea typeface="Roboto"/>
                <a:cs typeface="Roboto"/>
                <a:sym typeface="Roboto"/>
              </a:rPr>
              <a:t>Node Types:</a:t>
            </a:r>
            <a:endParaRPr b="1"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b="1" lang="en-US" sz="1500">
                <a:solidFill>
                  <a:schemeClr val="dk2"/>
                </a:solidFill>
                <a:latin typeface="Roboto"/>
                <a:ea typeface="Roboto"/>
                <a:cs typeface="Roboto"/>
                <a:sym typeface="Roboto"/>
              </a:rPr>
              <a:t>Date Node:</a:t>
            </a:r>
            <a:r>
              <a:rPr lang="en-US" sz="1500">
                <a:solidFill>
                  <a:schemeClr val="dk2"/>
                </a:solidFill>
                <a:latin typeface="Roboto"/>
                <a:ea typeface="Roboto"/>
                <a:cs typeface="Roboto"/>
                <a:sym typeface="Roboto"/>
              </a:rPr>
              <a:t> Signifies the occurrence of an event on a particular date.</a:t>
            </a:r>
            <a:endParaRPr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b="1" lang="en-US" sz="1500">
                <a:solidFill>
                  <a:schemeClr val="dk2"/>
                </a:solidFill>
                <a:latin typeface="Roboto"/>
                <a:ea typeface="Roboto"/>
                <a:cs typeface="Roboto"/>
                <a:sym typeface="Roboto"/>
              </a:rPr>
              <a:t>Location Node:</a:t>
            </a:r>
            <a:r>
              <a:rPr lang="en-US" sz="1500">
                <a:solidFill>
                  <a:schemeClr val="dk2"/>
                </a:solidFill>
                <a:latin typeface="Roboto"/>
                <a:ea typeface="Roboto"/>
                <a:cs typeface="Roboto"/>
                <a:sym typeface="Roboto"/>
              </a:rPr>
              <a:t> Encompasses a detailed geographical area of an event.</a:t>
            </a:r>
            <a:endParaRPr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b="1" lang="en-US" sz="1500">
                <a:solidFill>
                  <a:schemeClr val="dk2"/>
                </a:solidFill>
                <a:latin typeface="Roboto"/>
                <a:ea typeface="Roboto"/>
                <a:cs typeface="Roboto"/>
                <a:sym typeface="Roboto"/>
              </a:rPr>
              <a:t>Attack Type Node:</a:t>
            </a:r>
            <a:r>
              <a:rPr lang="en-US" sz="1500">
                <a:solidFill>
                  <a:schemeClr val="dk2"/>
                </a:solidFill>
                <a:latin typeface="Roboto"/>
                <a:ea typeface="Roboto"/>
                <a:cs typeface="Roboto"/>
                <a:sym typeface="Roboto"/>
              </a:rPr>
              <a:t> Classifies the nature of the terrorist act.</a:t>
            </a:r>
            <a:endParaRPr sz="1500">
              <a:solidFill>
                <a:schemeClr val="dk2"/>
              </a:solidFill>
              <a:latin typeface="Roboto"/>
              <a:ea typeface="Roboto"/>
              <a:cs typeface="Roboto"/>
              <a:sym typeface="Roboto"/>
            </a:endParaRPr>
          </a:p>
          <a:p>
            <a:pPr indent="-323850" lvl="1" marL="914400" rtl="0" algn="l">
              <a:lnSpc>
                <a:spcPct val="115000"/>
              </a:lnSpc>
              <a:spcBef>
                <a:spcPts val="0"/>
              </a:spcBef>
              <a:spcAft>
                <a:spcPts val="0"/>
              </a:spcAft>
              <a:buClr>
                <a:schemeClr val="dk2"/>
              </a:buClr>
              <a:buSzPts val="1500"/>
              <a:buFont typeface="Roboto"/>
              <a:buAutoNum type="alphaLcPeriod"/>
            </a:pPr>
            <a:r>
              <a:rPr b="1" lang="en-US" sz="1500">
                <a:solidFill>
                  <a:schemeClr val="dk2"/>
                </a:solidFill>
                <a:latin typeface="Roboto"/>
                <a:ea typeface="Roboto"/>
                <a:cs typeface="Roboto"/>
                <a:sym typeface="Roboto"/>
              </a:rPr>
              <a:t>Edge Types:</a:t>
            </a:r>
            <a:endParaRPr b="1"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b="1" lang="en-US" sz="1500">
                <a:solidFill>
                  <a:schemeClr val="dk2"/>
                </a:solidFill>
                <a:latin typeface="Roboto"/>
                <a:ea typeface="Roboto"/>
                <a:cs typeface="Roboto"/>
                <a:sym typeface="Roboto"/>
              </a:rPr>
              <a:t>Date to Location Edge:</a:t>
            </a:r>
            <a:r>
              <a:rPr lang="en-US" sz="1500">
                <a:solidFill>
                  <a:schemeClr val="dk2"/>
                </a:solidFill>
                <a:latin typeface="Roboto"/>
                <a:ea typeface="Roboto"/>
                <a:cs typeface="Roboto"/>
                <a:sym typeface="Roboto"/>
              </a:rPr>
              <a:t> Denotes that an attack took place at a certain location on a specified date.</a:t>
            </a:r>
            <a:endParaRPr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b="1" lang="en-US" sz="1500">
                <a:solidFill>
                  <a:schemeClr val="dk2"/>
                </a:solidFill>
                <a:latin typeface="Roboto"/>
                <a:ea typeface="Roboto"/>
                <a:cs typeface="Roboto"/>
                <a:sym typeface="Roboto"/>
              </a:rPr>
              <a:t>Location to Attack Type Edge:</a:t>
            </a:r>
            <a:r>
              <a:rPr lang="en-US" sz="1500">
                <a:solidFill>
                  <a:schemeClr val="dk2"/>
                </a:solidFill>
                <a:latin typeface="Roboto"/>
                <a:ea typeface="Roboto"/>
                <a:cs typeface="Roboto"/>
                <a:sym typeface="Roboto"/>
              </a:rPr>
              <a:t> Reveals the nature of the attack at a given location.</a:t>
            </a:r>
            <a:endParaRPr sz="1500">
              <a:solidFill>
                <a:schemeClr val="dk2"/>
              </a:solidFill>
              <a:latin typeface="Roboto"/>
              <a:ea typeface="Roboto"/>
              <a:cs typeface="Roboto"/>
              <a:sym typeface="Roboto"/>
            </a:endParaRPr>
          </a:p>
          <a:p>
            <a:pPr indent="-323850" lvl="1" marL="914400" rtl="0" algn="l">
              <a:lnSpc>
                <a:spcPct val="115000"/>
              </a:lnSpc>
              <a:spcBef>
                <a:spcPts val="0"/>
              </a:spcBef>
              <a:spcAft>
                <a:spcPts val="0"/>
              </a:spcAft>
              <a:buClr>
                <a:schemeClr val="dk2"/>
              </a:buClr>
              <a:buSzPts val="1500"/>
              <a:buFont typeface="Roboto"/>
              <a:buAutoNum type="alphaLcPeriod"/>
            </a:pPr>
            <a:r>
              <a:rPr b="1" lang="en-US" sz="1500">
                <a:solidFill>
                  <a:schemeClr val="dk2"/>
                </a:solidFill>
                <a:latin typeface="Roboto"/>
                <a:ea typeface="Roboto"/>
                <a:cs typeface="Roboto"/>
                <a:sym typeface="Roboto"/>
              </a:rPr>
              <a:t>Influential Nodes Analysis:</a:t>
            </a:r>
            <a:endParaRPr b="1"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b="1" lang="en-US" sz="1500">
                <a:solidFill>
                  <a:schemeClr val="dk2"/>
                </a:solidFill>
                <a:latin typeface="Roboto"/>
                <a:ea typeface="Roboto"/>
                <a:cs typeface="Roboto"/>
                <a:sym typeface="Roboto"/>
              </a:rPr>
              <a:t>Most Influential Attack Types:</a:t>
            </a:r>
            <a:endParaRPr b="1" sz="1500">
              <a:solidFill>
                <a:schemeClr val="dk2"/>
              </a:solidFill>
              <a:latin typeface="Roboto"/>
              <a:ea typeface="Roboto"/>
              <a:cs typeface="Roboto"/>
              <a:sym typeface="Roboto"/>
            </a:endParaRPr>
          </a:p>
          <a:p>
            <a:pPr indent="-323850" lvl="3" marL="1828800" rtl="0" algn="l">
              <a:lnSpc>
                <a:spcPct val="115000"/>
              </a:lnSpc>
              <a:spcBef>
                <a:spcPts val="0"/>
              </a:spcBef>
              <a:spcAft>
                <a:spcPts val="0"/>
              </a:spcAft>
              <a:buClr>
                <a:schemeClr val="dk2"/>
              </a:buClr>
              <a:buSzPts val="1500"/>
              <a:buFont typeface="Roboto"/>
              <a:buAutoNum type="arabicPeriod"/>
            </a:pPr>
            <a:r>
              <a:rPr lang="en-US" sz="1500">
                <a:solidFill>
                  <a:schemeClr val="dk2"/>
                </a:solidFill>
                <a:latin typeface="Roboto"/>
                <a:ea typeface="Roboto"/>
                <a:cs typeface="Roboto"/>
                <a:sym typeface="Roboto"/>
              </a:rPr>
              <a:t>Bombing/Explosion: Significant due to its high frequency and impact.</a:t>
            </a:r>
            <a:endParaRPr sz="1500">
              <a:solidFill>
                <a:schemeClr val="dk2"/>
              </a:solidFill>
              <a:latin typeface="Roboto"/>
              <a:ea typeface="Roboto"/>
              <a:cs typeface="Roboto"/>
              <a:sym typeface="Roboto"/>
            </a:endParaRPr>
          </a:p>
          <a:p>
            <a:pPr indent="-323850" lvl="3" marL="1828800" rtl="0" algn="l">
              <a:lnSpc>
                <a:spcPct val="115000"/>
              </a:lnSpc>
              <a:spcBef>
                <a:spcPts val="0"/>
              </a:spcBef>
              <a:spcAft>
                <a:spcPts val="0"/>
              </a:spcAft>
              <a:buClr>
                <a:schemeClr val="dk2"/>
              </a:buClr>
              <a:buSzPts val="1500"/>
              <a:buFont typeface="Roboto"/>
              <a:buAutoNum type="arabicPeriod"/>
            </a:pPr>
            <a:r>
              <a:rPr lang="en-US" sz="1500">
                <a:solidFill>
                  <a:schemeClr val="dk2"/>
                </a:solidFill>
                <a:latin typeface="Roboto"/>
                <a:ea typeface="Roboto"/>
                <a:cs typeface="Roboto"/>
                <a:sym typeface="Roboto"/>
              </a:rPr>
              <a:t>Armed Assault and Assassination: Indicative of operational tactics.</a:t>
            </a:r>
            <a:endParaRPr sz="1500">
              <a:solidFill>
                <a:schemeClr val="dk2"/>
              </a:solidFill>
              <a:latin typeface="Roboto"/>
              <a:ea typeface="Roboto"/>
              <a:cs typeface="Roboto"/>
              <a:sym typeface="Roboto"/>
            </a:endParaRPr>
          </a:p>
          <a:p>
            <a:pPr indent="-323850" lvl="2" marL="1371600" rtl="0" algn="l">
              <a:lnSpc>
                <a:spcPct val="115000"/>
              </a:lnSpc>
              <a:spcBef>
                <a:spcPts val="0"/>
              </a:spcBef>
              <a:spcAft>
                <a:spcPts val="0"/>
              </a:spcAft>
              <a:buClr>
                <a:schemeClr val="dk2"/>
              </a:buClr>
              <a:buSzPts val="1500"/>
              <a:buFont typeface="Roboto"/>
              <a:buAutoNum type="romanLcPeriod"/>
            </a:pPr>
            <a:r>
              <a:rPr b="1" lang="en-US" sz="1500">
                <a:solidFill>
                  <a:schemeClr val="dk2"/>
                </a:solidFill>
                <a:latin typeface="Roboto"/>
                <a:ea typeface="Roboto"/>
                <a:cs typeface="Roboto"/>
                <a:sym typeface="Roboto"/>
              </a:rPr>
              <a:t>Key Locations:</a:t>
            </a:r>
            <a:endParaRPr b="1" sz="1500">
              <a:solidFill>
                <a:schemeClr val="dk2"/>
              </a:solidFill>
              <a:latin typeface="Roboto"/>
              <a:ea typeface="Roboto"/>
              <a:cs typeface="Roboto"/>
              <a:sym typeface="Roboto"/>
            </a:endParaRPr>
          </a:p>
          <a:p>
            <a:pPr indent="-323850" lvl="3" marL="1828800" rtl="0" algn="l">
              <a:lnSpc>
                <a:spcPct val="115000"/>
              </a:lnSpc>
              <a:spcBef>
                <a:spcPts val="0"/>
              </a:spcBef>
              <a:spcAft>
                <a:spcPts val="0"/>
              </a:spcAft>
              <a:buClr>
                <a:schemeClr val="dk2"/>
              </a:buClr>
              <a:buSzPts val="1500"/>
              <a:buFont typeface="Roboto"/>
              <a:buAutoNum type="arabicPeriod"/>
            </a:pPr>
            <a:r>
              <a:rPr lang="en-US" sz="1500">
                <a:solidFill>
                  <a:schemeClr val="dk2"/>
                </a:solidFill>
                <a:latin typeface="Roboto"/>
                <a:ea typeface="Roboto"/>
                <a:cs typeface="Roboto"/>
                <a:sym typeface="Roboto"/>
              </a:rPr>
              <a:t>'Iraq, Middle East &amp; North Africa, Baghdad': A hotbed for terrorist activities.</a:t>
            </a:r>
            <a:endParaRPr sz="1500">
              <a:solidFill>
                <a:schemeClr val="dk2"/>
              </a:solidFill>
              <a:latin typeface="Roboto"/>
              <a:ea typeface="Roboto"/>
              <a:cs typeface="Roboto"/>
              <a:sym typeface="Roboto"/>
            </a:endParaRPr>
          </a:p>
          <a:p>
            <a:pPr indent="-323850" lvl="3" marL="1828800" rtl="0" algn="l">
              <a:lnSpc>
                <a:spcPct val="115000"/>
              </a:lnSpc>
              <a:spcBef>
                <a:spcPts val="0"/>
              </a:spcBef>
              <a:spcAft>
                <a:spcPts val="0"/>
              </a:spcAft>
              <a:buClr>
                <a:schemeClr val="dk2"/>
              </a:buClr>
              <a:buSzPts val="1500"/>
              <a:buFont typeface="Roboto"/>
              <a:buAutoNum type="arabicPeriod"/>
            </a:pPr>
            <a:r>
              <a:rPr lang="en-US" sz="1500">
                <a:solidFill>
                  <a:schemeClr val="dk2"/>
                </a:solidFill>
                <a:latin typeface="Roboto"/>
                <a:ea typeface="Roboto"/>
                <a:cs typeface="Roboto"/>
                <a:sym typeface="Roboto"/>
              </a:rPr>
              <a:t>'United Kingdom, Western Europe, Belfast': Historical significance and recurring events.</a:t>
            </a:r>
            <a:endParaRPr b="1"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pic>
        <p:nvPicPr>
          <p:cNvPr id="564" name="Google Shape;564;p26"/>
          <p:cNvPicPr preferRelativeResize="0"/>
          <p:nvPr/>
        </p:nvPicPr>
        <p:blipFill>
          <a:blip r:embed="rId3">
            <a:alphaModFix/>
          </a:blip>
          <a:stretch>
            <a:fillRect/>
          </a:stretch>
        </p:blipFill>
        <p:spPr>
          <a:xfrm>
            <a:off x="1273700" y="104150"/>
            <a:ext cx="9541459" cy="655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7"/>
          <p:cNvSpPr/>
          <p:nvPr/>
        </p:nvSpPr>
        <p:spPr>
          <a:xfrm>
            <a:off x="0" y="5412775"/>
            <a:ext cx="12192000" cy="1447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1" name="Google Shape;571;p27"/>
          <p:cNvSpPr txBox="1"/>
          <p:nvPr/>
        </p:nvSpPr>
        <p:spPr>
          <a:xfrm>
            <a:off x="608814" y="218078"/>
            <a:ext cx="67338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400">
                <a:solidFill>
                  <a:schemeClr val="dk2"/>
                </a:solidFill>
                <a:latin typeface="Calibri"/>
                <a:ea typeface="Calibri"/>
                <a:cs typeface="Calibri"/>
                <a:sym typeface="Calibri"/>
              </a:rPr>
              <a:t>Graph CNN</a:t>
            </a:r>
            <a:r>
              <a:rPr lang="en-US" sz="2400">
                <a:solidFill>
                  <a:schemeClr val="dk2"/>
                </a:solidFill>
                <a:latin typeface="Calibri"/>
                <a:ea typeface="Calibri"/>
                <a:cs typeface="Calibri"/>
                <a:sym typeface="Calibri"/>
              </a:rPr>
              <a:t> Architecture</a:t>
            </a:r>
            <a:endParaRPr sz="2400">
              <a:solidFill>
                <a:schemeClr val="dk2"/>
              </a:solidFill>
              <a:latin typeface="Calibri"/>
              <a:ea typeface="Calibri"/>
              <a:cs typeface="Calibri"/>
              <a:sym typeface="Calibri"/>
            </a:endParaRPr>
          </a:p>
        </p:txBody>
      </p:sp>
      <p:sp>
        <p:nvSpPr>
          <p:cNvPr id="572" name="Google Shape;572;p27"/>
          <p:cNvSpPr txBox="1"/>
          <p:nvPr/>
        </p:nvSpPr>
        <p:spPr>
          <a:xfrm>
            <a:off x="223150" y="4832300"/>
            <a:ext cx="115095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sz="1000">
              <a:solidFill>
                <a:schemeClr val="lt1"/>
              </a:solidFill>
              <a:latin typeface="Calibri"/>
              <a:ea typeface="Calibri"/>
              <a:cs typeface="Calibri"/>
              <a:sym typeface="Calibri"/>
            </a:endParaRPr>
          </a:p>
        </p:txBody>
      </p:sp>
      <p:sp>
        <p:nvSpPr>
          <p:cNvPr id="573" name="Google Shape;573;p27"/>
          <p:cNvSpPr/>
          <p:nvPr/>
        </p:nvSpPr>
        <p:spPr>
          <a:xfrm>
            <a:off x="168800" y="928375"/>
            <a:ext cx="11607300" cy="4360800"/>
          </a:xfrm>
          <a:prstGeom prst="roundRect">
            <a:avLst>
              <a:gd fmla="val 18765" name="adj"/>
            </a:avLst>
          </a:prstGeom>
          <a:solidFill>
            <a:schemeClr val="lt1"/>
          </a:solidFill>
          <a:ln cap="flat" cmpd="sng" w="19050">
            <a:solidFill>
              <a:srgbClr val="B9C7FB"/>
            </a:solidFill>
            <a:prstDash val="solid"/>
            <a:miter lim="800000"/>
            <a:headEnd len="sm" w="sm" type="none"/>
            <a:tailEnd len="sm" w="sm" type="none"/>
          </a:ln>
          <a:effectLst>
            <a:outerShdw blurRad="50800" rotWithShape="0" algn="t" dir="5400000" dist="38100">
              <a:srgbClr val="09279B">
                <a:alpha val="298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Montserrat SemiBold"/>
              <a:ea typeface="Montserrat SemiBold"/>
              <a:cs typeface="Montserrat SemiBold"/>
              <a:sym typeface="Montserrat SemiBold"/>
            </a:endParaRPr>
          </a:p>
        </p:txBody>
      </p:sp>
      <p:sp>
        <p:nvSpPr>
          <p:cNvPr id="574" name="Google Shape;574;p27"/>
          <p:cNvSpPr txBox="1"/>
          <p:nvPr/>
        </p:nvSpPr>
        <p:spPr>
          <a:xfrm>
            <a:off x="4012925" y="2187650"/>
            <a:ext cx="3500700" cy="261600"/>
          </a:xfrm>
          <a:prstGeom prst="rect">
            <a:avLst/>
          </a:prstGeom>
          <a:noFill/>
          <a:ln>
            <a:noFill/>
          </a:ln>
        </p:spPr>
        <p:txBody>
          <a:bodyPr anchorCtr="0" anchor="t" bIns="45700" lIns="91425" spcFirstLastPara="1" rIns="91425" wrap="square" tIns="45700">
            <a:spAutoFit/>
          </a:bodyPr>
          <a:lstStyle/>
          <a:p>
            <a:pPr indent="0" lvl="0" marL="0" rtl="0" algn="l">
              <a:lnSpc>
                <a:spcPct val="145000"/>
              </a:lnSpc>
              <a:spcBef>
                <a:spcPts val="0"/>
              </a:spcBef>
              <a:spcAft>
                <a:spcPts val="0"/>
              </a:spcAft>
              <a:buNone/>
            </a:pPr>
            <a:r>
              <a:t/>
            </a:r>
            <a:endParaRPr sz="1100">
              <a:solidFill>
                <a:schemeClr val="dk1"/>
              </a:solidFill>
              <a:highlight>
                <a:srgbClr val="FFFFFF"/>
              </a:highlight>
              <a:latin typeface="Calibri"/>
              <a:ea typeface="Calibri"/>
              <a:cs typeface="Calibri"/>
              <a:sym typeface="Calibri"/>
            </a:endParaRPr>
          </a:p>
        </p:txBody>
      </p:sp>
      <p:sp>
        <p:nvSpPr>
          <p:cNvPr id="575" name="Google Shape;575;p27"/>
          <p:cNvSpPr txBox="1"/>
          <p:nvPr/>
        </p:nvSpPr>
        <p:spPr>
          <a:xfrm>
            <a:off x="7825825" y="2187650"/>
            <a:ext cx="4182900" cy="261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t/>
            </a:r>
            <a:endParaRPr sz="1100">
              <a:solidFill>
                <a:schemeClr val="dk1"/>
              </a:solidFill>
              <a:latin typeface="Calibri"/>
              <a:ea typeface="Calibri"/>
              <a:cs typeface="Calibri"/>
              <a:sym typeface="Calibri"/>
            </a:endParaRPr>
          </a:p>
        </p:txBody>
      </p:sp>
      <p:sp>
        <p:nvSpPr>
          <p:cNvPr id="576" name="Google Shape;576;p27"/>
          <p:cNvSpPr txBox="1"/>
          <p:nvPr/>
        </p:nvSpPr>
        <p:spPr>
          <a:xfrm>
            <a:off x="563025" y="1507100"/>
            <a:ext cx="5238900" cy="385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1300">
                <a:solidFill>
                  <a:schemeClr val="dk2"/>
                </a:solidFill>
                <a:latin typeface="Montserrat"/>
                <a:ea typeface="Montserrat"/>
                <a:cs typeface="Montserrat"/>
                <a:sym typeface="Montserrat"/>
              </a:rPr>
              <a:t>Categorical Features:</a:t>
            </a:r>
            <a:endParaRPr b="1" sz="1300">
              <a:solidFill>
                <a:schemeClr val="dk2"/>
              </a:solidFill>
              <a:latin typeface="Montserrat"/>
              <a:ea typeface="Montserrat"/>
              <a:cs typeface="Montserrat"/>
              <a:sym typeface="Montserrat"/>
            </a:endParaRPr>
          </a:p>
          <a:p>
            <a:pPr indent="0" lvl="0" marL="342900" rtl="0" algn="l">
              <a:lnSpc>
                <a:spcPct val="115000"/>
              </a:lnSpc>
              <a:spcBef>
                <a:spcPts val="0"/>
              </a:spcBef>
              <a:spcAft>
                <a:spcPts val="0"/>
              </a:spcAft>
              <a:buClr>
                <a:schemeClr val="dk1"/>
              </a:buClr>
              <a:buSzPts val="1100"/>
              <a:buFont typeface="Arial"/>
              <a:buNone/>
            </a:pPr>
            <a:r>
              <a:rPr lang="en-US" sz="1300">
                <a:solidFill>
                  <a:schemeClr val="dk2"/>
                </a:solidFill>
                <a:latin typeface="Montserrat"/>
                <a:ea typeface="Montserrat"/>
                <a:cs typeface="Montserrat"/>
                <a:sym typeface="Montserrat"/>
              </a:rPr>
              <a:t>·      Utilized OneHotEncoder for one-hot encoding categorical variables.</a:t>
            </a:r>
            <a:endParaRPr sz="1300">
              <a:solidFill>
                <a:schemeClr val="dk2"/>
              </a:solidFill>
              <a:latin typeface="Montserrat"/>
              <a:ea typeface="Montserrat"/>
              <a:cs typeface="Montserrat"/>
              <a:sym typeface="Montserrat"/>
            </a:endParaRPr>
          </a:p>
          <a:p>
            <a:pPr indent="0" lvl="0" marL="342900" rtl="0" algn="l">
              <a:lnSpc>
                <a:spcPct val="115000"/>
              </a:lnSpc>
              <a:spcBef>
                <a:spcPts val="0"/>
              </a:spcBef>
              <a:spcAft>
                <a:spcPts val="0"/>
              </a:spcAft>
              <a:buClr>
                <a:schemeClr val="dk1"/>
              </a:buClr>
              <a:buSzPts val="1100"/>
              <a:buFont typeface="Arial"/>
              <a:buNone/>
            </a:pPr>
            <a:r>
              <a:rPr lang="en-US" sz="1300">
                <a:solidFill>
                  <a:schemeClr val="dk2"/>
                </a:solidFill>
                <a:latin typeface="Montserrat"/>
                <a:ea typeface="Montserrat"/>
                <a:cs typeface="Montserrat"/>
                <a:sym typeface="Montserrat"/>
              </a:rPr>
              <a:t>·      Key features include AttackType, Target_type, Weapon_type, and Country.</a:t>
            </a:r>
            <a:endParaRPr sz="1300">
              <a:solidFill>
                <a:schemeClr val="dk2"/>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US" sz="1300">
                <a:solidFill>
                  <a:schemeClr val="dk2"/>
                </a:solidFill>
                <a:latin typeface="Montserrat"/>
                <a:ea typeface="Montserrat"/>
                <a:cs typeface="Montserrat"/>
                <a:sym typeface="Montserrat"/>
              </a:rPr>
              <a:t>Numerical Features:</a:t>
            </a:r>
            <a:endParaRPr b="1" sz="1300">
              <a:solidFill>
                <a:schemeClr val="dk2"/>
              </a:solidFill>
              <a:latin typeface="Montserrat"/>
              <a:ea typeface="Montserrat"/>
              <a:cs typeface="Montserrat"/>
              <a:sym typeface="Montserrat"/>
            </a:endParaRPr>
          </a:p>
          <a:p>
            <a:pPr indent="0" lvl="0" marL="457200" rtl="0" algn="l">
              <a:lnSpc>
                <a:spcPct val="115000"/>
              </a:lnSpc>
              <a:spcBef>
                <a:spcPts val="0"/>
              </a:spcBef>
              <a:spcAft>
                <a:spcPts val="0"/>
              </a:spcAft>
              <a:buClr>
                <a:schemeClr val="dk1"/>
              </a:buClr>
              <a:buSzPts val="1100"/>
              <a:buFont typeface="Arial"/>
              <a:buNone/>
            </a:pPr>
            <a:r>
              <a:rPr lang="en-US" sz="1300">
                <a:solidFill>
                  <a:schemeClr val="dk2"/>
                </a:solidFill>
                <a:latin typeface="Montserrat"/>
                <a:ea typeface="Montserrat"/>
                <a:cs typeface="Montserrat"/>
                <a:sym typeface="Montserrat"/>
              </a:rPr>
              <a:t>·      Normalized numerical data using StandardScaler.</a:t>
            </a:r>
            <a:endParaRPr sz="1300">
              <a:solidFill>
                <a:schemeClr val="dk2"/>
              </a:solidFill>
              <a:latin typeface="Montserrat"/>
              <a:ea typeface="Montserrat"/>
              <a:cs typeface="Montserrat"/>
              <a:sym typeface="Montserrat"/>
            </a:endParaRPr>
          </a:p>
          <a:p>
            <a:pPr indent="0" lvl="0" marL="457200" rtl="0" algn="l">
              <a:lnSpc>
                <a:spcPct val="115000"/>
              </a:lnSpc>
              <a:spcBef>
                <a:spcPts val="0"/>
              </a:spcBef>
              <a:spcAft>
                <a:spcPts val="0"/>
              </a:spcAft>
              <a:buClr>
                <a:schemeClr val="dk1"/>
              </a:buClr>
              <a:buSzPts val="1100"/>
              <a:buFont typeface="Arial"/>
              <a:buNone/>
            </a:pPr>
            <a:r>
              <a:rPr lang="en-US" sz="1300">
                <a:solidFill>
                  <a:schemeClr val="dk2"/>
                </a:solidFill>
                <a:latin typeface="Montserrat"/>
                <a:ea typeface="Montserrat"/>
                <a:cs typeface="Montserrat"/>
                <a:sym typeface="Montserrat"/>
              </a:rPr>
              <a:t>·      This includes features such as latitude, longitude, Killed, and Wounded.</a:t>
            </a:r>
            <a:endParaRPr sz="1300">
              <a:solidFill>
                <a:schemeClr val="dk2"/>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US" sz="1300">
                <a:solidFill>
                  <a:schemeClr val="dk2"/>
                </a:solidFill>
                <a:latin typeface="Montserrat"/>
                <a:ea typeface="Montserrat"/>
                <a:cs typeface="Montserrat"/>
                <a:sym typeface="Montserrat"/>
              </a:rPr>
              <a:t>Binary Features:</a:t>
            </a:r>
            <a:endParaRPr b="1" sz="1300">
              <a:solidFill>
                <a:schemeClr val="dk2"/>
              </a:solidFill>
              <a:latin typeface="Montserrat"/>
              <a:ea typeface="Montserrat"/>
              <a:cs typeface="Montserrat"/>
              <a:sym typeface="Montserrat"/>
            </a:endParaRPr>
          </a:p>
          <a:p>
            <a:pPr indent="0" lvl="0" marL="457200" rtl="0" algn="l">
              <a:lnSpc>
                <a:spcPct val="115000"/>
              </a:lnSpc>
              <a:spcBef>
                <a:spcPts val="0"/>
              </a:spcBef>
              <a:spcAft>
                <a:spcPts val="0"/>
              </a:spcAft>
              <a:buClr>
                <a:schemeClr val="dk1"/>
              </a:buClr>
              <a:buSzPts val="1100"/>
              <a:buFont typeface="Arial"/>
              <a:buNone/>
            </a:pPr>
            <a:r>
              <a:rPr lang="en-US" sz="1300">
                <a:solidFill>
                  <a:schemeClr val="dk2"/>
                </a:solidFill>
                <a:latin typeface="Montserrat"/>
                <a:ea typeface="Montserrat"/>
                <a:cs typeface="Montserrat"/>
                <a:sym typeface="Montserrat"/>
              </a:rPr>
              <a:t>·      Binary attributes like IsHoliday, claimed, suicide, and success were kept in their original form. </a:t>
            </a:r>
            <a:endParaRPr sz="1300">
              <a:solidFill>
                <a:schemeClr val="dk2"/>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US" sz="1300">
                <a:solidFill>
                  <a:schemeClr val="dk2"/>
                </a:solidFill>
                <a:latin typeface="Montserrat"/>
                <a:ea typeface="Montserrat"/>
                <a:cs typeface="Montserrat"/>
                <a:sym typeface="Montserrat"/>
              </a:rPr>
              <a:t>City Feature Vectors:</a:t>
            </a:r>
            <a:endParaRPr b="1" sz="1300">
              <a:solidFill>
                <a:schemeClr val="dk2"/>
              </a:solidFill>
              <a:latin typeface="Montserrat"/>
              <a:ea typeface="Montserrat"/>
              <a:cs typeface="Montserrat"/>
              <a:sym typeface="Montserrat"/>
            </a:endParaRPr>
          </a:p>
          <a:p>
            <a:pPr indent="0" lvl="0" marL="457200" rtl="0" algn="l">
              <a:lnSpc>
                <a:spcPct val="115000"/>
              </a:lnSpc>
              <a:spcBef>
                <a:spcPts val="0"/>
              </a:spcBef>
              <a:spcAft>
                <a:spcPts val="0"/>
              </a:spcAft>
              <a:buClr>
                <a:schemeClr val="dk1"/>
              </a:buClr>
              <a:buSzPts val="1100"/>
              <a:buFont typeface="Arial"/>
              <a:buNone/>
            </a:pPr>
            <a:r>
              <a:rPr lang="en-US" sz="1300">
                <a:solidFill>
                  <a:schemeClr val="dk2"/>
                </a:solidFill>
                <a:latin typeface="Montserrat"/>
                <a:ea typeface="Montserrat"/>
                <a:cs typeface="Montserrat"/>
                <a:sym typeface="Montserrat"/>
              </a:rPr>
              <a:t>·      Applied Word2Vec to generate city feature vectors, each represented by a 100-dimensional vector.</a:t>
            </a:r>
            <a:endParaRPr sz="1300">
              <a:solidFill>
                <a:schemeClr val="dk2"/>
              </a:solidFill>
              <a:latin typeface="Montserrat"/>
              <a:ea typeface="Montserrat"/>
              <a:cs typeface="Montserrat"/>
              <a:sym typeface="Montserrat"/>
            </a:endParaRPr>
          </a:p>
          <a:p>
            <a:pPr indent="0" lvl="0" marL="0" rtl="0" algn="l">
              <a:lnSpc>
                <a:spcPct val="115000"/>
              </a:lnSpc>
              <a:spcBef>
                <a:spcPts val="0"/>
              </a:spcBef>
              <a:spcAft>
                <a:spcPts val="1200"/>
              </a:spcAft>
              <a:buNone/>
            </a:pPr>
            <a:r>
              <a:t/>
            </a:r>
            <a:endParaRPr b="1">
              <a:solidFill>
                <a:schemeClr val="dk2"/>
              </a:solidFill>
              <a:latin typeface="Montserrat"/>
              <a:ea typeface="Montserrat"/>
              <a:cs typeface="Montserrat"/>
              <a:sym typeface="Montserrat"/>
            </a:endParaRPr>
          </a:p>
        </p:txBody>
      </p:sp>
      <p:sp>
        <p:nvSpPr>
          <p:cNvPr id="577" name="Google Shape;577;p27"/>
          <p:cNvSpPr txBox="1"/>
          <p:nvPr/>
        </p:nvSpPr>
        <p:spPr>
          <a:xfrm>
            <a:off x="6659975" y="1112025"/>
            <a:ext cx="4683600" cy="354000"/>
          </a:xfrm>
          <a:prstGeom prst="rect">
            <a:avLst/>
          </a:prstGeom>
          <a:noFill/>
          <a:ln>
            <a:noFill/>
          </a:ln>
        </p:spPr>
        <p:txBody>
          <a:bodyPr anchorCtr="0" anchor="t" bIns="45700" lIns="91425" spcFirstLastPara="1" rIns="91425" wrap="square" tIns="45700">
            <a:spAutoFit/>
          </a:bodyPr>
          <a:lstStyle/>
          <a:p>
            <a:pPr indent="0" lvl="0" marL="0" rtl="0" algn="ctr">
              <a:lnSpc>
                <a:spcPct val="133333"/>
              </a:lnSpc>
              <a:spcBef>
                <a:spcPts val="0"/>
              </a:spcBef>
              <a:spcAft>
                <a:spcPts val="0"/>
              </a:spcAft>
              <a:buNone/>
            </a:pPr>
            <a:r>
              <a:rPr b="1" lang="en-US" sz="1700">
                <a:solidFill>
                  <a:schemeClr val="dk2"/>
                </a:solidFill>
                <a:latin typeface="Montserrat"/>
                <a:ea typeface="Montserrat"/>
                <a:cs typeface="Montserrat"/>
                <a:sym typeface="Montserrat"/>
              </a:rPr>
              <a:t>Model Architecture</a:t>
            </a:r>
            <a:endParaRPr b="1" sz="1700">
              <a:solidFill>
                <a:schemeClr val="dk2"/>
              </a:solidFill>
              <a:latin typeface="Montserrat"/>
              <a:ea typeface="Montserrat"/>
              <a:cs typeface="Montserrat"/>
              <a:sym typeface="Montserrat"/>
            </a:endParaRPr>
          </a:p>
        </p:txBody>
      </p:sp>
      <p:sp>
        <p:nvSpPr>
          <p:cNvPr id="578" name="Google Shape;578;p27"/>
          <p:cNvSpPr txBox="1"/>
          <p:nvPr/>
        </p:nvSpPr>
        <p:spPr>
          <a:xfrm>
            <a:off x="6322025" y="1807838"/>
            <a:ext cx="5359500" cy="2878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Font typeface="Roboto"/>
              <a:buChar char="●"/>
            </a:pPr>
            <a:r>
              <a:rPr b="1" lang="en-US">
                <a:solidFill>
                  <a:schemeClr val="dk2"/>
                </a:solidFill>
                <a:latin typeface="Montserrat"/>
                <a:ea typeface="Montserrat"/>
                <a:cs typeface="Montserrat"/>
                <a:sym typeface="Montserrat"/>
              </a:rPr>
              <a:t>Input Layer:</a:t>
            </a:r>
            <a:r>
              <a:rPr lang="en-US">
                <a:solidFill>
                  <a:schemeClr val="dk2"/>
                </a:solidFill>
                <a:latin typeface="Montserrat"/>
                <a:ea typeface="Montserrat"/>
                <a:cs typeface="Montserrat"/>
                <a:sym typeface="Montserrat"/>
              </a:rPr>
              <a:t> Node features with associated edge list.</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Roboto"/>
              <a:buChar char="●"/>
            </a:pPr>
            <a:r>
              <a:rPr b="1" lang="en-US">
                <a:solidFill>
                  <a:schemeClr val="dk2"/>
                </a:solidFill>
                <a:latin typeface="Montserrat"/>
                <a:ea typeface="Montserrat"/>
                <a:cs typeface="Montserrat"/>
                <a:sym typeface="Montserrat"/>
              </a:rPr>
              <a:t>Hidden Layers:</a:t>
            </a:r>
            <a:r>
              <a:rPr lang="en-US">
                <a:solidFill>
                  <a:schemeClr val="dk2"/>
                </a:solidFill>
                <a:latin typeface="Montserrat"/>
                <a:ea typeface="Montserrat"/>
                <a:cs typeface="Montserrat"/>
                <a:sym typeface="Montserrat"/>
              </a:rPr>
              <a:t> Two layers to enable feature propagation through the graph.</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Roboto"/>
              <a:buChar char="●"/>
            </a:pPr>
            <a:r>
              <a:rPr b="1" lang="en-US">
                <a:solidFill>
                  <a:schemeClr val="dk2"/>
                </a:solidFill>
                <a:latin typeface="Montserrat"/>
                <a:ea typeface="Montserrat"/>
                <a:cs typeface="Montserrat"/>
                <a:sym typeface="Montserrat"/>
              </a:rPr>
              <a:t>Output Layer:</a:t>
            </a:r>
            <a:r>
              <a:rPr lang="en-US">
                <a:solidFill>
                  <a:schemeClr val="dk2"/>
                </a:solidFill>
                <a:latin typeface="Montserrat"/>
                <a:ea typeface="Montserrat"/>
                <a:cs typeface="Montserrat"/>
                <a:sym typeface="Montserrat"/>
              </a:rPr>
              <a:t> Designed for multi-class classification, with one output per attack type.</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Roboto"/>
              <a:buChar char="●"/>
            </a:pPr>
            <a:r>
              <a:rPr b="1" lang="en-US">
                <a:solidFill>
                  <a:schemeClr val="dk2"/>
                </a:solidFill>
                <a:latin typeface="Montserrat"/>
                <a:ea typeface="Montserrat"/>
                <a:cs typeface="Montserrat"/>
                <a:sym typeface="Montserrat"/>
              </a:rPr>
              <a:t>Activation Function:</a:t>
            </a:r>
            <a:r>
              <a:rPr lang="en-US">
                <a:solidFill>
                  <a:schemeClr val="dk2"/>
                </a:solidFill>
                <a:latin typeface="Montserrat"/>
                <a:ea typeface="Montserrat"/>
                <a:cs typeface="Montserrat"/>
                <a:sym typeface="Montserrat"/>
              </a:rPr>
              <a:t> ReLU for non-linearity.</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Roboto"/>
              <a:buChar char="●"/>
            </a:pPr>
            <a:r>
              <a:rPr b="1" lang="en-US">
                <a:solidFill>
                  <a:schemeClr val="dk2"/>
                </a:solidFill>
                <a:latin typeface="Montserrat"/>
                <a:ea typeface="Montserrat"/>
                <a:cs typeface="Montserrat"/>
                <a:sym typeface="Montserrat"/>
              </a:rPr>
              <a:t>Dropout Rate:</a:t>
            </a:r>
            <a:r>
              <a:rPr lang="en-US">
                <a:solidFill>
                  <a:schemeClr val="dk2"/>
                </a:solidFill>
                <a:latin typeface="Montserrat"/>
                <a:ea typeface="Montserrat"/>
                <a:cs typeface="Montserrat"/>
                <a:sym typeface="Montserrat"/>
              </a:rPr>
              <a:t> Set at 0.5 to prevent overfitting.</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Roboto"/>
              <a:buChar char="●"/>
            </a:pPr>
            <a:r>
              <a:rPr b="1" lang="en-US">
                <a:solidFill>
                  <a:schemeClr val="dk2"/>
                </a:solidFill>
                <a:latin typeface="Montserrat"/>
                <a:ea typeface="Montserrat"/>
                <a:cs typeface="Montserrat"/>
                <a:sym typeface="Montserrat"/>
              </a:rPr>
              <a:t>Loss Function:</a:t>
            </a:r>
            <a:r>
              <a:rPr lang="en-US">
                <a:solidFill>
                  <a:schemeClr val="dk2"/>
                </a:solidFill>
                <a:latin typeface="Montserrat"/>
                <a:ea typeface="Montserrat"/>
                <a:cs typeface="Montserrat"/>
                <a:sym typeface="Montserrat"/>
              </a:rPr>
              <a:t> Cross-Entropy Loss to handle multi-classification tasks.</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Roboto"/>
              <a:buChar char="●"/>
            </a:pPr>
            <a:r>
              <a:rPr b="1" lang="en-US">
                <a:solidFill>
                  <a:schemeClr val="dk2"/>
                </a:solidFill>
                <a:latin typeface="Montserrat"/>
                <a:ea typeface="Montserrat"/>
                <a:cs typeface="Montserrat"/>
                <a:sym typeface="Montserrat"/>
              </a:rPr>
              <a:t>Optimizer:</a:t>
            </a:r>
            <a:r>
              <a:rPr lang="en-US">
                <a:solidFill>
                  <a:schemeClr val="dk2"/>
                </a:solidFill>
                <a:latin typeface="Montserrat"/>
                <a:ea typeface="Montserrat"/>
                <a:cs typeface="Montserrat"/>
                <a:sym typeface="Montserrat"/>
              </a:rPr>
              <a:t> Adam algorithm for efficient stochastic optimization.</a:t>
            </a:r>
            <a:endParaRPr>
              <a:solidFill>
                <a:schemeClr val="dk2"/>
              </a:solidFill>
              <a:latin typeface="Montserrat"/>
              <a:ea typeface="Montserrat"/>
              <a:cs typeface="Montserrat"/>
              <a:sym typeface="Montserrat"/>
            </a:endParaRPr>
          </a:p>
        </p:txBody>
      </p:sp>
      <p:cxnSp>
        <p:nvCxnSpPr>
          <p:cNvPr id="579" name="Google Shape;579;p27"/>
          <p:cNvCxnSpPr/>
          <p:nvPr/>
        </p:nvCxnSpPr>
        <p:spPr>
          <a:xfrm flipH="1">
            <a:off x="6139525" y="1157450"/>
            <a:ext cx="24000" cy="4015200"/>
          </a:xfrm>
          <a:prstGeom prst="straightConnector1">
            <a:avLst/>
          </a:prstGeom>
          <a:noFill/>
          <a:ln cap="flat" cmpd="sng" w="9525">
            <a:solidFill>
              <a:schemeClr val="accent1"/>
            </a:solidFill>
            <a:prstDash val="solid"/>
            <a:miter lim="800000"/>
            <a:headEnd len="sm" w="sm" type="none"/>
            <a:tailEnd len="sm" w="sm" type="none"/>
          </a:ln>
        </p:spPr>
      </p:cxnSp>
      <p:sp>
        <p:nvSpPr>
          <p:cNvPr id="580" name="Google Shape;580;p27"/>
          <p:cNvSpPr txBox="1"/>
          <p:nvPr/>
        </p:nvSpPr>
        <p:spPr>
          <a:xfrm>
            <a:off x="1027275" y="1065825"/>
            <a:ext cx="4581600" cy="354000"/>
          </a:xfrm>
          <a:prstGeom prst="rect">
            <a:avLst/>
          </a:prstGeom>
          <a:noFill/>
          <a:ln>
            <a:noFill/>
          </a:ln>
        </p:spPr>
        <p:txBody>
          <a:bodyPr anchorCtr="0" anchor="t" bIns="45700" lIns="91425" spcFirstLastPara="1" rIns="91425" wrap="square" tIns="45700">
            <a:spAutoFit/>
          </a:bodyPr>
          <a:lstStyle/>
          <a:p>
            <a:pPr indent="0" lvl="0" marL="0" rtl="0" algn="ctr">
              <a:lnSpc>
                <a:spcPct val="133333"/>
              </a:lnSpc>
              <a:spcBef>
                <a:spcPts val="0"/>
              </a:spcBef>
              <a:spcAft>
                <a:spcPts val="0"/>
              </a:spcAft>
              <a:buNone/>
            </a:pPr>
            <a:r>
              <a:rPr b="1" lang="en-US" sz="1700">
                <a:solidFill>
                  <a:schemeClr val="dk2"/>
                </a:solidFill>
                <a:latin typeface="Montserrat"/>
                <a:ea typeface="Montserrat"/>
                <a:cs typeface="Montserrat"/>
                <a:sym typeface="Montserrat"/>
              </a:rPr>
              <a:t>Feature Preparation</a:t>
            </a:r>
            <a:endParaRPr b="1">
              <a:solidFill>
                <a:schemeClr val="dk2"/>
              </a:solidFill>
              <a:latin typeface="Montserrat"/>
              <a:ea typeface="Montserrat"/>
              <a:cs typeface="Montserrat"/>
              <a:sym typeface="Montserrat"/>
            </a:endParaRPr>
          </a:p>
        </p:txBody>
      </p:sp>
      <p:sp>
        <p:nvSpPr>
          <p:cNvPr id="581" name="Google Shape;581;p27"/>
          <p:cNvSpPr txBox="1"/>
          <p:nvPr/>
        </p:nvSpPr>
        <p:spPr>
          <a:xfrm>
            <a:off x="223150" y="5521825"/>
            <a:ext cx="11381700" cy="1229700"/>
          </a:xfrm>
          <a:prstGeom prst="rect">
            <a:avLst/>
          </a:prstGeom>
          <a:noFill/>
          <a:ln>
            <a:noFill/>
          </a:ln>
        </p:spPr>
        <p:txBody>
          <a:bodyPr anchorCtr="0" anchor="t" bIns="91425" lIns="91425" spcFirstLastPara="1" rIns="91425" wrap="square" tIns="91425">
            <a:noAutofit/>
          </a:bodyPr>
          <a:lstStyle/>
          <a:p>
            <a:pPr indent="0" lvl="0" marL="0" rtl="0" algn="l">
              <a:lnSpc>
                <a:spcPct val="133333"/>
              </a:lnSpc>
              <a:spcBef>
                <a:spcPts val="0"/>
              </a:spcBef>
              <a:spcAft>
                <a:spcPts val="0"/>
              </a:spcAft>
              <a:buClr>
                <a:schemeClr val="dk1"/>
              </a:buClr>
              <a:buSzPts val="1100"/>
              <a:buFont typeface="Arial"/>
              <a:buNone/>
            </a:pPr>
            <a:r>
              <a:rPr b="1" lang="en-US" sz="1700">
                <a:solidFill>
                  <a:srgbClr val="ECECEC"/>
                </a:solidFill>
                <a:latin typeface="Roboto"/>
                <a:ea typeface="Roboto"/>
                <a:cs typeface="Roboto"/>
                <a:sym typeface="Roboto"/>
              </a:rPr>
              <a:t>Training Process:</a:t>
            </a:r>
            <a:endParaRPr b="1" sz="1700">
              <a:solidFill>
                <a:srgbClr val="ECECEC"/>
              </a:solidFill>
              <a:latin typeface="Roboto"/>
              <a:ea typeface="Roboto"/>
              <a:cs typeface="Roboto"/>
              <a:sym typeface="Roboto"/>
            </a:endParaRPr>
          </a:p>
          <a:p>
            <a:pPr indent="-304800" lvl="0" marL="457200" rtl="0" algn="l">
              <a:lnSpc>
                <a:spcPct val="115000"/>
              </a:lnSpc>
              <a:spcBef>
                <a:spcPts val="0"/>
              </a:spcBef>
              <a:spcAft>
                <a:spcPts val="0"/>
              </a:spcAft>
              <a:buClr>
                <a:srgbClr val="ECECEC"/>
              </a:buClr>
              <a:buSzPts val="1200"/>
              <a:buFont typeface="Roboto"/>
              <a:buChar char="●"/>
            </a:pPr>
            <a:r>
              <a:rPr lang="en-US" sz="1200">
                <a:solidFill>
                  <a:srgbClr val="ECECEC"/>
                </a:solidFill>
                <a:latin typeface="Roboto"/>
                <a:ea typeface="Roboto"/>
                <a:cs typeface="Roboto"/>
                <a:sym typeface="Roboto"/>
              </a:rPr>
              <a:t>The model underwent a rigorous training regime over 200 epochs, with progress guided by the training mask.</a:t>
            </a:r>
            <a:endParaRPr sz="1200">
              <a:solidFill>
                <a:srgbClr val="ECECEC"/>
              </a:solidFill>
              <a:latin typeface="Roboto"/>
              <a:ea typeface="Roboto"/>
              <a:cs typeface="Roboto"/>
              <a:sym typeface="Roboto"/>
            </a:endParaRPr>
          </a:p>
          <a:p>
            <a:pPr indent="-304800" lvl="0" marL="457200" rtl="0" algn="l">
              <a:lnSpc>
                <a:spcPct val="115000"/>
              </a:lnSpc>
              <a:spcBef>
                <a:spcPts val="0"/>
              </a:spcBef>
              <a:spcAft>
                <a:spcPts val="0"/>
              </a:spcAft>
              <a:buClr>
                <a:srgbClr val="ECECEC"/>
              </a:buClr>
              <a:buSzPts val="1200"/>
              <a:buFont typeface="Roboto"/>
              <a:buChar char="●"/>
            </a:pPr>
            <a:r>
              <a:rPr lang="en-US" sz="1200">
                <a:solidFill>
                  <a:srgbClr val="ECECEC"/>
                </a:solidFill>
                <a:latin typeface="Roboto"/>
                <a:ea typeface="Roboto"/>
                <a:cs typeface="Roboto"/>
                <a:sym typeface="Roboto"/>
              </a:rPr>
              <a:t>Model's performance was meticulously evaluated using a test mask to ensure robust validation.</a:t>
            </a:r>
            <a:endParaRPr sz="1200">
              <a:solidFill>
                <a:srgbClr val="ECECEC"/>
              </a:solidFill>
              <a:latin typeface="Roboto"/>
              <a:ea typeface="Roboto"/>
              <a:cs typeface="Roboto"/>
              <a:sym typeface="Roboto"/>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28"/>
          <p:cNvPicPr preferRelativeResize="0"/>
          <p:nvPr/>
        </p:nvPicPr>
        <p:blipFill>
          <a:blip r:embed="rId3">
            <a:alphaModFix/>
          </a:blip>
          <a:stretch>
            <a:fillRect/>
          </a:stretch>
        </p:blipFill>
        <p:spPr>
          <a:xfrm>
            <a:off x="631966" y="152400"/>
            <a:ext cx="10928067" cy="655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pic>
        <p:nvPicPr>
          <p:cNvPr id="593" name="Google Shape;593;p29"/>
          <p:cNvPicPr preferRelativeResize="0"/>
          <p:nvPr/>
        </p:nvPicPr>
        <p:blipFill>
          <a:blip r:embed="rId3">
            <a:alphaModFix/>
          </a:blip>
          <a:stretch>
            <a:fillRect/>
          </a:stretch>
        </p:blipFill>
        <p:spPr>
          <a:xfrm>
            <a:off x="152400" y="381333"/>
            <a:ext cx="11887201" cy="609533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0"/>
          <p:cNvSpPr txBox="1"/>
          <p:nvPr/>
        </p:nvSpPr>
        <p:spPr>
          <a:xfrm>
            <a:off x="448250" y="327125"/>
            <a:ext cx="8841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Limitations </a:t>
            </a:r>
            <a:endParaRPr sz="3600">
              <a:solidFill>
                <a:schemeClr val="dk2"/>
              </a:solidFill>
              <a:latin typeface="Montserrat SemiBold"/>
              <a:ea typeface="Montserrat SemiBold"/>
              <a:cs typeface="Montserrat SemiBold"/>
              <a:sym typeface="Montserrat SemiBold"/>
            </a:endParaRPr>
          </a:p>
        </p:txBody>
      </p:sp>
      <p:sp>
        <p:nvSpPr>
          <p:cNvPr id="599" name="Google Shape;599;p30"/>
          <p:cNvSpPr txBox="1"/>
          <p:nvPr/>
        </p:nvSpPr>
        <p:spPr>
          <a:xfrm>
            <a:off x="341525" y="1121000"/>
            <a:ext cx="7592400" cy="22425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Managing and preprocessing a large, unbalanced dataset presented initial hurdles, including dealing with missing data and ensuring the integrity of temporal sequences.</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The complexity of terrorism data required sophisticated modeling to capture the nuances and unpredictability of the patterns within.</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Training deep learning models was tricky. I had to carefully adjust settings and consider the model's design to balance how well it worked and how well it would handle new data.</a:t>
            </a:r>
            <a:endParaRPr>
              <a:solidFill>
                <a:schemeClr val="dk2"/>
              </a:solidFill>
              <a:latin typeface="Montserrat"/>
              <a:ea typeface="Montserrat"/>
              <a:cs typeface="Montserrat"/>
              <a:sym typeface="Montserrat"/>
            </a:endParaRPr>
          </a:p>
          <a:p>
            <a:pPr indent="0" lvl="0" marL="0" rtl="0" algn="just">
              <a:lnSpc>
                <a:spcPct val="115000"/>
              </a:lnSpc>
              <a:spcBef>
                <a:spcPts val="1200"/>
              </a:spcBef>
              <a:spcAft>
                <a:spcPts val="0"/>
              </a:spcAft>
              <a:buNone/>
            </a:pPr>
            <a:r>
              <a:t/>
            </a:r>
            <a:endParaRPr sz="1600">
              <a:solidFill>
                <a:schemeClr val="dk2"/>
              </a:solidFill>
              <a:latin typeface="Calibri"/>
              <a:ea typeface="Calibri"/>
              <a:cs typeface="Calibri"/>
              <a:sym typeface="Calibri"/>
            </a:endParaRPr>
          </a:p>
          <a:p>
            <a:pPr indent="0" lvl="0" marL="0" rtl="0" algn="l">
              <a:lnSpc>
                <a:spcPct val="115000"/>
              </a:lnSpc>
              <a:spcBef>
                <a:spcPts val="1200"/>
              </a:spcBef>
              <a:spcAft>
                <a:spcPts val="0"/>
              </a:spcAft>
              <a:buNone/>
            </a:pPr>
            <a:r>
              <a:t/>
            </a:r>
            <a:endParaRPr sz="1000">
              <a:solidFill>
                <a:schemeClr val="dk2"/>
              </a:solidFill>
              <a:latin typeface="Calibri"/>
              <a:ea typeface="Calibri"/>
              <a:cs typeface="Calibri"/>
              <a:sym typeface="Calibri"/>
            </a:endParaRPr>
          </a:p>
          <a:p>
            <a:pPr indent="0" lvl="0" marL="0" marR="0" rtl="0" algn="l">
              <a:lnSpc>
                <a:spcPct val="150000"/>
              </a:lnSpc>
              <a:spcBef>
                <a:spcPts val="1200"/>
              </a:spcBef>
              <a:spcAft>
                <a:spcPts val="0"/>
              </a:spcAft>
              <a:buNone/>
            </a:pPr>
            <a:r>
              <a:t/>
            </a:r>
            <a:endParaRPr sz="1000">
              <a:solidFill>
                <a:schemeClr val="dk2"/>
              </a:solidFill>
              <a:latin typeface="Calibri"/>
              <a:ea typeface="Calibri"/>
              <a:cs typeface="Calibri"/>
              <a:sym typeface="Calibri"/>
            </a:endParaRPr>
          </a:p>
        </p:txBody>
      </p:sp>
      <p:sp>
        <p:nvSpPr>
          <p:cNvPr id="600" name="Google Shape;600;p30"/>
          <p:cNvSpPr txBox="1"/>
          <p:nvPr/>
        </p:nvSpPr>
        <p:spPr>
          <a:xfrm>
            <a:off x="4280650" y="4157375"/>
            <a:ext cx="7721100" cy="25998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2"/>
              </a:buClr>
              <a:buSzPts val="1600"/>
              <a:buFont typeface="Montserrat"/>
              <a:buChar char="●"/>
            </a:pPr>
            <a:r>
              <a:rPr lang="en-US" sz="1600">
                <a:solidFill>
                  <a:schemeClr val="dk2"/>
                </a:solidFill>
                <a:latin typeface="Montserrat"/>
                <a:ea typeface="Montserrat"/>
                <a:cs typeface="Montserrat"/>
                <a:sym typeface="Montserrat"/>
              </a:rPr>
              <a:t>Integrating real-time data streams could further enhance the model's predictive accuracy and timeliness.</a:t>
            </a:r>
            <a:endParaRPr sz="1600">
              <a:solidFill>
                <a:schemeClr val="dk2"/>
              </a:solidFill>
              <a:latin typeface="Montserrat"/>
              <a:ea typeface="Montserrat"/>
              <a:cs typeface="Montserrat"/>
              <a:sym typeface="Montserrat"/>
            </a:endParaRPr>
          </a:p>
          <a:p>
            <a:pPr indent="-330200" lvl="0" marL="457200" rtl="0" algn="l">
              <a:lnSpc>
                <a:spcPct val="115000"/>
              </a:lnSpc>
              <a:spcBef>
                <a:spcPts val="0"/>
              </a:spcBef>
              <a:spcAft>
                <a:spcPts val="0"/>
              </a:spcAft>
              <a:buClr>
                <a:schemeClr val="dk2"/>
              </a:buClr>
              <a:buSzPts val="1600"/>
              <a:buFont typeface="Montserrat"/>
              <a:buChar char="●"/>
            </a:pPr>
            <a:r>
              <a:rPr lang="en-US" sz="1600">
                <a:solidFill>
                  <a:schemeClr val="dk2"/>
                </a:solidFill>
                <a:latin typeface="Montserrat"/>
                <a:ea typeface="Montserrat"/>
                <a:cs typeface="Montserrat"/>
                <a:sym typeface="Montserrat"/>
              </a:rPr>
              <a:t>Exploring the incorporation of additional context-specific features, such as political events or regional conflicts, may provide deeper insights.</a:t>
            </a:r>
            <a:endParaRPr sz="1600">
              <a:solidFill>
                <a:schemeClr val="dk2"/>
              </a:solidFill>
              <a:latin typeface="Montserrat"/>
              <a:ea typeface="Montserrat"/>
              <a:cs typeface="Montserrat"/>
              <a:sym typeface="Montserrat"/>
            </a:endParaRPr>
          </a:p>
          <a:p>
            <a:pPr indent="-330200" lvl="0" marL="457200" rtl="0" algn="l">
              <a:lnSpc>
                <a:spcPct val="115000"/>
              </a:lnSpc>
              <a:spcBef>
                <a:spcPts val="0"/>
              </a:spcBef>
              <a:spcAft>
                <a:spcPts val="0"/>
              </a:spcAft>
              <a:buClr>
                <a:schemeClr val="dk2"/>
              </a:buClr>
              <a:buSzPts val="1600"/>
              <a:buFont typeface="Montserrat"/>
              <a:buChar char="●"/>
            </a:pPr>
            <a:r>
              <a:rPr lang="en-US" sz="1600">
                <a:solidFill>
                  <a:schemeClr val="dk2"/>
                </a:solidFill>
                <a:latin typeface="Montserrat"/>
                <a:ea typeface="Montserrat"/>
                <a:cs typeface="Montserrat"/>
                <a:sym typeface="Montserrat"/>
              </a:rPr>
              <a:t>Further experimentation with hybrid models that combine LSTM and GNN could yield a more holistic view of terrorist activities.</a:t>
            </a:r>
            <a:endParaRPr sz="3000">
              <a:solidFill>
                <a:schemeClr val="dk1"/>
              </a:solidFill>
              <a:latin typeface="Calibri"/>
              <a:ea typeface="Calibri"/>
              <a:cs typeface="Calibri"/>
              <a:sym typeface="Calibri"/>
            </a:endParaRPr>
          </a:p>
        </p:txBody>
      </p:sp>
      <p:sp>
        <p:nvSpPr>
          <p:cNvPr id="601" name="Google Shape;601;p30"/>
          <p:cNvSpPr txBox="1"/>
          <p:nvPr/>
        </p:nvSpPr>
        <p:spPr>
          <a:xfrm>
            <a:off x="4392700" y="3363500"/>
            <a:ext cx="70104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Future Research</a:t>
            </a:r>
            <a:endParaRPr sz="3600">
              <a:solidFill>
                <a:schemeClr val="dk2"/>
              </a:solidFill>
              <a:latin typeface="Montserrat SemiBold"/>
              <a:ea typeface="Montserrat SemiBold"/>
              <a:cs typeface="Montserrat SemiBold"/>
              <a:sym typeface="Montserrat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1"/>
          <p:cNvSpPr txBox="1"/>
          <p:nvPr/>
        </p:nvSpPr>
        <p:spPr>
          <a:xfrm>
            <a:off x="638625" y="606255"/>
            <a:ext cx="4453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2"/>
                </a:solidFill>
                <a:latin typeface="Montserrat SemiBold"/>
                <a:ea typeface="Montserrat SemiBold"/>
                <a:cs typeface="Montserrat SemiBold"/>
                <a:sym typeface="Montserrat SemiBold"/>
              </a:rPr>
              <a:t>Conclusion</a:t>
            </a:r>
            <a:endParaRPr sz="3600">
              <a:solidFill>
                <a:schemeClr val="dk2"/>
              </a:solidFill>
              <a:latin typeface="Montserrat SemiBold"/>
              <a:ea typeface="Montserrat SemiBold"/>
              <a:cs typeface="Montserrat SemiBold"/>
              <a:sym typeface="Montserrat SemiBold"/>
            </a:endParaRPr>
          </a:p>
        </p:txBody>
      </p:sp>
      <p:sp>
        <p:nvSpPr>
          <p:cNvPr id="607" name="Google Shape;607;p31"/>
          <p:cNvSpPr txBox="1"/>
          <p:nvPr/>
        </p:nvSpPr>
        <p:spPr>
          <a:xfrm>
            <a:off x="4440875" y="4182625"/>
            <a:ext cx="7592400" cy="2022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US" sz="1600">
                <a:solidFill>
                  <a:schemeClr val="dk2"/>
                </a:solidFill>
                <a:latin typeface="Montserrat"/>
                <a:ea typeface="Montserrat"/>
                <a:cs typeface="Montserrat"/>
                <a:sym typeface="Montserrat"/>
              </a:rPr>
              <a:t>Project Impact:</a:t>
            </a:r>
            <a:endParaRPr b="1" sz="1600">
              <a:solidFill>
                <a:schemeClr val="dk2"/>
              </a:solidFill>
              <a:latin typeface="Montserrat"/>
              <a:ea typeface="Montserrat"/>
              <a:cs typeface="Montserrat"/>
              <a:sym typeface="Montserrat"/>
            </a:endParaRPr>
          </a:p>
          <a:p>
            <a:pPr indent="-317500" lvl="0" marL="457200" rtl="0" algn="l">
              <a:lnSpc>
                <a:spcPct val="115000"/>
              </a:lnSpc>
              <a:spcBef>
                <a:spcPts val="150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The project's deep learning framework offers a cutting-edge tool for security agencies to anticipate and mitigate the risks of terrorist attacks.</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By forecasting trends and identifying critical nodes within terrorist networks, the model supports strategic decision-making and policy development.</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The insights gained from the analysis have the potential to guide resource allocation, enhance surveillance, and inform public awareness efforts.</a:t>
            </a:r>
            <a:endParaRPr sz="1000">
              <a:solidFill>
                <a:schemeClr val="dk2"/>
              </a:solidFill>
              <a:latin typeface="Calibri"/>
              <a:ea typeface="Calibri"/>
              <a:cs typeface="Calibri"/>
              <a:sym typeface="Calibri"/>
            </a:endParaRPr>
          </a:p>
        </p:txBody>
      </p:sp>
      <p:sp>
        <p:nvSpPr>
          <p:cNvPr id="608" name="Google Shape;608;p31"/>
          <p:cNvSpPr txBox="1"/>
          <p:nvPr/>
        </p:nvSpPr>
        <p:spPr>
          <a:xfrm>
            <a:off x="300975" y="1632600"/>
            <a:ext cx="7592400" cy="2362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500"/>
              </a:spcBef>
              <a:spcAft>
                <a:spcPts val="0"/>
              </a:spcAft>
              <a:buNone/>
            </a:pPr>
            <a:r>
              <a:rPr b="1" lang="en-US" sz="1600">
                <a:solidFill>
                  <a:schemeClr val="dk2"/>
                </a:solidFill>
                <a:latin typeface="Montserrat"/>
                <a:ea typeface="Montserrat"/>
                <a:cs typeface="Montserrat"/>
                <a:sym typeface="Montserrat"/>
              </a:rPr>
              <a:t>Achievements:</a:t>
            </a:r>
            <a:endParaRPr b="1" sz="1600">
              <a:solidFill>
                <a:schemeClr val="dk2"/>
              </a:solidFill>
              <a:latin typeface="Montserrat"/>
              <a:ea typeface="Montserrat"/>
              <a:cs typeface="Montserrat"/>
              <a:sym typeface="Montserrat"/>
            </a:endParaRPr>
          </a:p>
          <a:p>
            <a:pPr indent="-317500" lvl="0" marL="457200" rtl="0" algn="l">
              <a:lnSpc>
                <a:spcPct val="115000"/>
              </a:lnSpc>
              <a:spcBef>
                <a:spcPts val="150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Successfully addressed the high-dimensionality challenge inherent in terrorism data, reducing it to actionable intelligence.</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Demonstrated the feasibility and efficacy of using LSTM and GNN to forecast and analyze terrorism trends.</a:t>
            </a:r>
            <a:endParaRPr>
              <a:solidFill>
                <a:schemeClr val="dk2"/>
              </a:solidFill>
              <a:latin typeface="Montserrat"/>
              <a:ea typeface="Montserrat"/>
              <a:cs typeface="Montserrat"/>
              <a:sym typeface="Montserrat"/>
            </a:endParaRPr>
          </a:p>
          <a:p>
            <a:pPr indent="-317500" lvl="0" marL="457200" rtl="0" algn="l">
              <a:lnSpc>
                <a:spcPct val="115000"/>
              </a:lnSpc>
              <a:spcBef>
                <a:spcPts val="0"/>
              </a:spcBef>
              <a:spcAft>
                <a:spcPts val="0"/>
              </a:spcAft>
              <a:buClr>
                <a:schemeClr val="dk2"/>
              </a:buClr>
              <a:buSzPts val="1400"/>
              <a:buFont typeface="Montserrat"/>
              <a:buChar char="●"/>
            </a:pPr>
            <a:r>
              <a:rPr lang="en-US">
                <a:solidFill>
                  <a:schemeClr val="dk2"/>
                </a:solidFill>
                <a:latin typeface="Montserrat"/>
                <a:ea typeface="Montserrat"/>
                <a:cs typeface="Montserrat"/>
                <a:sym typeface="Montserrat"/>
              </a:rPr>
              <a:t>Showcased the adaptability and robustness of the models through rigorous validation, achieving commendable accuracy and insight.</a:t>
            </a:r>
            <a:endParaRPr>
              <a:solidFill>
                <a:schemeClr val="dk2"/>
              </a:solidFill>
              <a:latin typeface="Montserrat"/>
              <a:ea typeface="Montserrat"/>
              <a:cs typeface="Montserrat"/>
              <a:sym typeface="Montserrat"/>
            </a:endParaRPr>
          </a:p>
          <a:p>
            <a:pPr indent="0" lvl="0" marL="0" marR="0" rtl="0" algn="l">
              <a:lnSpc>
                <a:spcPct val="150000"/>
              </a:lnSpc>
              <a:spcBef>
                <a:spcPts val="1200"/>
              </a:spcBef>
              <a:spcAft>
                <a:spcPts val="0"/>
              </a:spcAft>
              <a:buNone/>
            </a:pPr>
            <a:r>
              <a:t/>
            </a:r>
            <a:endParaRPr sz="10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테마 2013 - 2022">
  <a:themeElements>
    <a:clrScheme name="사용자 지정 139">
      <a:dk1>
        <a:srgbClr val="000000"/>
      </a:dk1>
      <a:lt1>
        <a:srgbClr val="FFFFFF"/>
      </a:lt1>
      <a:dk2>
        <a:srgbClr val="202276"/>
      </a:dk2>
      <a:lt2>
        <a:srgbClr val="FF8D69"/>
      </a:lt2>
      <a:accent1>
        <a:srgbClr val="4427AB"/>
      </a:accent1>
      <a:accent2>
        <a:srgbClr val="5476F5"/>
      </a:accent2>
      <a:accent3>
        <a:srgbClr val="6E83F5"/>
      </a:accent3>
      <a:accent4>
        <a:srgbClr val="FFC000"/>
      </a:accent4>
      <a:accent5>
        <a:srgbClr val="FF8D69"/>
      </a:accent5>
      <a:accent6>
        <a:srgbClr val="2646A8"/>
      </a:accent6>
      <a:hlink>
        <a:srgbClr val="273081"/>
      </a:hlink>
      <a:folHlink>
        <a:srgbClr val="3F1F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2013 - 2022">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